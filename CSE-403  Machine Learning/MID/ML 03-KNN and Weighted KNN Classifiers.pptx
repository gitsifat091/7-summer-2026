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6858000" cy="9144000"/>
  <p:embeddedFontLst>
    <p:embeddedFont>
      <p:font typeface="Raleway"/>
      <p:regular r:id="rId27"/>
      <p:bold r:id="rId28"/>
      <p:italic r:id="rId29"/>
      <p:boldItalic r:id="rId30"/>
    </p:embeddedFont>
    <p:embeddedFont>
      <p:font typeface="Roboto"/>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9" roundtripDataSignature="AMtx7mhz+GhRVXua/IU3bnfHxeKgmBR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05D541-C006-4174-8449-1FF40C8FC65A}">
  <a:tblStyle styleId="{8B05D541-C006-4174-8449-1FF40C8FC65A}"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F9FA"/>
          </a:solidFill>
        </a:fill>
      </a:tcStyle>
    </a:wholeTbl>
    <a:band1H>
      <a:tcTxStyle/>
      <a:tcStyle>
        <a:fill>
          <a:solidFill>
            <a:srgbClr val="E7F3F4"/>
          </a:solidFill>
        </a:fill>
      </a:tcStyle>
    </a:band1H>
    <a:band2H>
      <a:tcTxStyle/>
    </a:band2H>
    <a:band1V>
      <a:tcTxStyle/>
      <a:tcStyle>
        <a:fill>
          <a:solidFill>
            <a:srgbClr val="E7F3F4"/>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aleway-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regular.fntdata"/><Relationship Id="rId30" Type="http://schemas.openxmlformats.org/officeDocument/2006/relationships/font" Target="fonts/Raleway-boldItalic.fntdata"/><Relationship Id="rId11" Type="http://schemas.openxmlformats.org/officeDocument/2006/relationships/slide" Target="slides/slide5.xml"/><Relationship Id="rId33" Type="http://schemas.openxmlformats.org/officeDocument/2006/relationships/font" Target="fonts/Roboto-italic.fntdata"/><Relationship Id="rId10" Type="http://schemas.openxmlformats.org/officeDocument/2006/relationships/slide" Target="slides/slide4.xml"/><Relationship Id="rId32" Type="http://schemas.openxmlformats.org/officeDocument/2006/relationships/font" Target="fonts/Roboto-bold.fntdata"/><Relationship Id="rId13" Type="http://schemas.openxmlformats.org/officeDocument/2006/relationships/slide" Target="slides/slide7.xml"/><Relationship Id="rId35" Type="http://schemas.openxmlformats.org/officeDocument/2006/relationships/font" Target="fonts/Lato-regular.fntdata"/><Relationship Id="rId12" Type="http://schemas.openxmlformats.org/officeDocument/2006/relationships/slide" Target="slides/slide6.xml"/><Relationship Id="rId34" Type="http://schemas.openxmlformats.org/officeDocument/2006/relationships/font" Target="fonts/Roboto-boldItalic.fntdata"/><Relationship Id="rId15" Type="http://schemas.openxmlformats.org/officeDocument/2006/relationships/slide" Target="slides/slide9.xml"/><Relationship Id="rId37" Type="http://schemas.openxmlformats.org/officeDocument/2006/relationships/font" Target="fonts/Lato-italic.fntdata"/><Relationship Id="rId14" Type="http://schemas.openxmlformats.org/officeDocument/2006/relationships/slide" Target="slides/slide8.xml"/><Relationship Id="rId36" Type="http://schemas.openxmlformats.org/officeDocument/2006/relationships/font" Target="fonts/Lato-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La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52" name="Google Shape;15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1394cac4b8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21394cac4b8_0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21394cac4b8_0_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24" name="Google Shape;22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38" name="Google Shape;23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53" name="Google Shape;253;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89" name="Google Shape;28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326" name="Google Shape;326;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363" name="Google Shape;36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400" name="Google Shape;400;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1394cac4b8_0_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21394cac4b8_0_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g21394cac4b8_0_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472" name="Google Shape;47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508" name="Google Shape;50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g3eaacdb0340_0_4"/>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g3eaacdb0340_0_4"/>
          <p:cNvGrpSpPr/>
          <p:nvPr/>
        </p:nvGrpSpPr>
        <p:grpSpPr>
          <a:xfrm>
            <a:off x="830392" y="1588427"/>
            <a:ext cx="745763" cy="61102"/>
            <a:chOff x="4580561" y="2589004"/>
            <a:chExt cx="1064464" cy="25200"/>
          </a:xfrm>
        </p:grpSpPr>
        <p:sp>
          <p:nvSpPr>
            <p:cNvPr id="16" name="Google Shape;16;g3eaacdb0340_0_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3eaacdb0340_0_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g3eaacdb0340_0_4"/>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9" name="Google Shape;19;g3eaacdb0340_0_4"/>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20" name="Google Shape;20;g3eaacdb0340_0_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g3eaacdb0340_0_12"/>
          <p:cNvGrpSpPr/>
          <p:nvPr/>
        </p:nvGrpSpPr>
        <p:grpSpPr>
          <a:xfrm>
            <a:off x="830392" y="1588427"/>
            <a:ext cx="745763" cy="61102"/>
            <a:chOff x="4580561" y="2589004"/>
            <a:chExt cx="1064464" cy="25200"/>
          </a:xfrm>
        </p:grpSpPr>
        <p:sp>
          <p:nvSpPr>
            <p:cNvPr id="23" name="Google Shape;23;g3eaacdb0340_0_1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g3eaacdb0340_0_1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g3eaacdb0340_0_12"/>
          <p:cNvSpPr txBox="1"/>
          <p:nvPr>
            <p:ph type="title"/>
          </p:nvPr>
        </p:nvSpPr>
        <p:spPr>
          <a:xfrm>
            <a:off x="729450" y="1763267"/>
            <a:ext cx="7688400" cy="202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6" name="Google Shape;26;g3eaacdb0340_0_1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g3eaacdb0340_0_18"/>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g3eaacdb0340_0_18"/>
          <p:cNvGrpSpPr/>
          <p:nvPr/>
        </p:nvGrpSpPr>
        <p:grpSpPr>
          <a:xfrm>
            <a:off x="830392" y="1588427"/>
            <a:ext cx="745763" cy="61102"/>
            <a:chOff x="4580561" y="2589004"/>
            <a:chExt cx="1064464" cy="25200"/>
          </a:xfrm>
        </p:grpSpPr>
        <p:sp>
          <p:nvSpPr>
            <p:cNvPr id="30" name="Google Shape;30;g3eaacdb0340_0_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g3eaacdb0340_0_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g3eaacdb0340_0_18"/>
          <p:cNvSpPr txBox="1"/>
          <p:nvPr>
            <p:ph type="title"/>
          </p:nvPr>
        </p:nvSpPr>
        <p:spPr>
          <a:xfrm>
            <a:off x="729450" y="1758200"/>
            <a:ext cx="76887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3" name="Google Shape;33;g3eaacdb0340_0_18"/>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 name="Google Shape;34;g3eaacdb0340_0_1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g3eaacdb0340_0_26"/>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g3eaacdb0340_0_26"/>
          <p:cNvGrpSpPr/>
          <p:nvPr/>
        </p:nvGrpSpPr>
        <p:grpSpPr>
          <a:xfrm>
            <a:off x="830392" y="1588427"/>
            <a:ext cx="745763" cy="61102"/>
            <a:chOff x="4580561" y="2589004"/>
            <a:chExt cx="1064464" cy="25200"/>
          </a:xfrm>
        </p:grpSpPr>
        <p:sp>
          <p:nvSpPr>
            <p:cNvPr id="38" name="Google Shape;38;g3eaacdb0340_0_2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eaacdb0340_0_2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g3eaacdb0340_0_26"/>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1" name="Google Shape;41;g3eaacdb0340_0_26"/>
          <p:cNvSpPr txBox="1"/>
          <p:nvPr>
            <p:ph idx="1" type="body"/>
          </p:nvPr>
        </p:nvSpPr>
        <p:spPr>
          <a:xfrm>
            <a:off x="729325"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 name="Google Shape;42;g3eaacdb0340_0_26"/>
          <p:cNvSpPr txBox="1"/>
          <p:nvPr>
            <p:ph idx="2" type="body"/>
          </p:nvPr>
        </p:nvSpPr>
        <p:spPr>
          <a:xfrm>
            <a:off x="4643604"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3" name="Google Shape;43;g3eaacdb0340_0_2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g3eaacdb0340_0_35"/>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g3eaacdb0340_0_35"/>
          <p:cNvGrpSpPr/>
          <p:nvPr/>
        </p:nvGrpSpPr>
        <p:grpSpPr>
          <a:xfrm>
            <a:off x="830392" y="1588427"/>
            <a:ext cx="745763" cy="61102"/>
            <a:chOff x="4580561" y="2589004"/>
            <a:chExt cx="1064464" cy="25200"/>
          </a:xfrm>
        </p:grpSpPr>
        <p:sp>
          <p:nvSpPr>
            <p:cNvPr id="47" name="Google Shape;47;g3eaacdb0340_0_3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3eaacdb0340_0_3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g3eaacdb0340_0_35"/>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0" name="Google Shape;50;g3eaacdb0340_0_3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g3eaacdb0340_0_42"/>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 name="Google Shape;53;g3eaacdb0340_0_42"/>
          <p:cNvGrpSpPr/>
          <p:nvPr/>
        </p:nvGrpSpPr>
        <p:grpSpPr>
          <a:xfrm>
            <a:off x="830392" y="1588427"/>
            <a:ext cx="745763" cy="61102"/>
            <a:chOff x="4580561" y="2589004"/>
            <a:chExt cx="1064464" cy="25200"/>
          </a:xfrm>
        </p:grpSpPr>
        <p:sp>
          <p:nvSpPr>
            <p:cNvPr id="54" name="Google Shape;54;g3eaacdb0340_0_4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eaacdb0340_0_4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g3eaacdb0340_0_42"/>
          <p:cNvSpPr txBox="1"/>
          <p:nvPr>
            <p:ph type="title"/>
          </p:nvPr>
        </p:nvSpPr>
        <p:spPr>
          <a:xfrm>
            <a:off x="730000" y="1758200"/>
            <a:ext cx="3300900" cy="18420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7" name="Google Shape;57;g3eaacdb0340_0_42"/>
          <p:cNvSpPr txBox="1"/>
          <p:nvPr>
            <p:ph idx="1" type="body"/>
          </p:nvPr>
        </p:nvSpPr>
        <p:spPr>
          <a:xfrm>
            <a:off x="721225" y="3708967"/>
            <a:ext cx="3300900" cy="2130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g3eaacdb0340_0_4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9" name="Shape 59"/>
        <p:cNvGrpSpPr/>
        <p:nvPr/>
      </p:nvGrpSpPr>
      <p:grpSpPr>
        <a:xfrm>
          <a:off x="0" y="0"/>
          <a:ext cx="0" cy="0"/>
          <a:chOff x="0" y="0"/>
          <a:chExt cx="0" cy="0"/>
        </a:xfrm>
      </p:grpSpPr>
      <p:grpSp>
        <p:nvGrpSpPr>
          <p:cNvPr id="60" name="Google Shape;60;g3eaacdb0340_0_50"/>
          <p:cNvGrpSpPr/>
          <p:nvPr/>
        </p:nvGrpSpPr>
        <p:grpSpPr>
          <a:xfrm>
            <a:off x="830392" y="5558926"/>
            <a:ext cx="745763" cy="61102"/>
            <a:chOff x="4580561" y="2589004"/>
            <a:chExt cx="1064464" cy="25200"/>
          </a:xfrm>
        </p:grpSpPr>
        <p:sp>
          <p:nvSpPr>
            <p:cNvPr id="61" name="Google Shape;61;g3eaacdb0340_0_5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eaacdb0340_0_5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g3eaacdb0340_0_50"/>
          <p:cNvSpPr txBox="1"/>
          <p:nvPr>
            <p:ph type="title"/>
          </p:nvPr>
        </p:nvSpPr>
        <p:spPr>
          <a:xfrm>
            <a:off x="729450" y="1152400"/>
            <a:ext cx="7021200" cy="3980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4" name="Google Shape;64;g3eaacdb0340_0_5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g3eaacdb0340_0_56"/>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g3eaacdb0340_0_56"/>
          <p:cNvGrpSpPr/>
          <p:nvPr/>
        </p:nvGrpSpPr>
        <p:grpSpPr>
          <a:xfrm>
            <a:off x="830392" y="1588427"/>
            <a:ext cx="745763" cy="61102"/>
            <a:chOff x="4580561" y="2589004"/>
            <a:chExt cx="1064464" cy="25200"/>
          </a:xfrm>
        </p:grpSpPr>
        <p:sp>
          <p:nvSpPr>
            <p:cNvPr id="68" name="Google Shape;68;g3eaacdb0340_0_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eaacdb0340_0_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g3eaacdb0340_0_56"/>
          <p:cNvSpPr txBox="1"/>
          <p:nvPr>
            <p:ph type="title"/>
          </p:nvPr>
        </p:nvSpPr>
        <p:spPr>
          <a:xfrm>
            <a:off x="730000" y="1758200"/>
            <a:ext cx="3300900" cy="2249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1" name="Google Shape;71;g3eaacdb0340_0_56"/>
          <p:cNvSpPr txBox="1"/>
          <p:nvPr>
            <p:ph idx="1" type="subTitle"/>
          </p:nvPr>
        </p:nvSpPr>
        <p:spPr>
          <a:xfrm>
            <a:off x="724950" y="4215367"/>
            <a:ext cx="3300900" cy="101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72" name="Google Shape;72;g3eaacdb0340_0_56"/>
          <p:cNvSpPr txBox="1"/>
          <p:nvPr>
            <p:ph idx="2" type="body"/>
          </p:nvPr>
        </p:nvSpPr>
        <p:spPr>
          <a:xfrm>
            <a:off x="5174225" y="1803500"/>
            <a:ext cx="3374400" cy="4034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3" name="Google Shape;73;g3eaacdb0340_0_5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g3eaacdb0340_0_65"/>
          <p:cNvSpPr txBox="1"/>
          <p:nvPr>
            <p:ph idx="1" type="body"/>
          </p:nvPr>
        </p:nvSpPr>
        <p:spPr>
          <a:xfrm>
            <a:off x="724950" y="5830068"/>
            <a:ext cx="7697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6" name="Google Shape;76;g3eaacdb0340_0_6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g3eaacdb0340_0_68"/>
          <p:cNvGrpSpPr/>
          <p:nvPr/>
        </p:nvGrpSpPr>
        <p:grpSpPr>
          <a:xfrm>
            <a:off x="830392" y="5558926"/>
            <a:ext cx="745763" cy="61102"/>
            <a:chOff x="4580561" y="2589004"/>
            <a:chExt cx="1064464" cy="25200"/>
          </a:xfrm>
        </p:grpSpPr>
        <p:sp>
          <p:nvSpPr>
            <p:cNvPr id="79" name="Google Shape;79;g3eaacdb0340_0_6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eaacdb0340_0_6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g3eaacdb0340_0_68"/>
          <p:cNvSpPr txBox="1"/>
          <p:nvPr>
            <p:ph hasCustomPrompt="1" type="title"/>
          </p:nvPr>
        </p:nvSpPr>
        <p:spPr>
          <a:xfrm>
            <a:off x="729450" y="978600"/>
            <a:ext cx="7688400" cy="165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82" name="Google Shape;82;g3eaacdb0340_0_68"/>
          <p:cNvSpPr txBox="1"/>
          <p:nvPr>
            <p:ph idx="1" type="body"/>
          </p:nvPr>
        </p:nvSpPr>
        <p:spPr>
          <a:xfrm>
            <a:off x="729450" y="3030517"/>
            <a:ext cx="7688400" cy="2107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3" name="Google Shape;83;g3eaacdb0340_0_6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g3eaacdb0340_0_7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6" name="Shape 86"/>
        <p:cNvGrpSpPr/>
        <p:nvPr/>
      </p:nvGrpSpPr>
      <p:grpSpPr>
        <a:xfrm>
          <a:off x="0" y="0"/>
          <a:ext cx="0" cy="0"/>
          <a:chOff x="0" y="0"/>
          <a:chExt cx="0" cy="0"/>
        </a:xfrm>
      </p:grpSpPr>
      <p:sp>
        <p:nvSpPr>
          <p:cNvPr id="87" name="Google Shape;87;g3eaacdb0340_0_77"/>
          <p:cNvSpPr txBox="1"/>
          <p:nvPr>
            <p:ph type="title"/>
          </p:nvPr>
        </p:nvSpPr>
        <p:spPr>
          <a:xfrm>
            <a:off x="457200" y="188913"/>
            <a:ext cx="8218500" cy="565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3eaacdb0340_0_77"/>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 name="Google Shape;89;g3eaacdb0340_0_77"/>
          <p:cNvSpPr txBox="1"/>
          <p:nvPr>
            <p:ph idx="10" type="dt"/>
          </p:nvPr>
        </p:nvSpPr>
        <p:spPr>
          <a:xfrm>
            <a:off x="6553200" y="6248400"/>
            <a:ext cx="21336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3eaacdb0340_0_77"/>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3eaacdb0340_0_77"/>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g3eaacdb0340_0_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11" name="Google Shape;11;g3eaacdb0340_0_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2" name="Google Shape;12;g3eaacdb0340_0_0"/>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685800" y="1894975"/>
            <a:ext cx="7772400" cy="2454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br>
              <a:rPr lang="en-US" sz="4600">
                <a:latin typeface="Times New Roman"/>
                <a:ea typeface="Times New Roman"/>
                <a:cs typeface="Times New Roman"/>
                <a:sym typeface="Times New Roman"/>
              </a:rPr>
            </a:br>
            <a:r>
              <a:rPr lang="en-US" sz="4600">
                <a:latin typeface="Times New Roman"/>
                <a:ea typeface="Times New Roman"/>
                <a:cs typeface="Times New Roman"/>
                <a:sym typeface="Times New Roman"/>
              </a:rPr>
              <a:t>Machine Learning</a:t>
            </a:r>
            <a:br>
              <a:rPr lang="en-US" sz="4600">
                <a:latin typeface="Times New Roman"/>
                <a:ea typeface="Times New Roman"/>
                <a:cs typeface="Times New Roman"/>
                <a:sym typeface="Times New Roman"/>
              </a:rPr>
            </a:br>
            <a:r>
              <a:rPr lang="en-US" sz="4600">
                <a:latin typeface="Times New Roman"/>
                <a:ea typeface="Times New Roman"/>
                <a:cs typeface="Times New Roman"/>
                <a:sym typeface="Times New Roman"/>
              </a:rPr>
              <a:t>CSE - 403</a:t>
            </a:r>
            <a:endParaRPr sz="4600">
              <a:latin typeface="Times New Roman"/>
              <a:ea typeface="Times New Roman"/>
              <a:cs typeface="Times New Roman"/>
              <a:sym typeface="Times New Roman"/>
            </a:endParaRPr>
          </a:p>
          <a:p>
            <a:pPr indent="0" lvl="0" marL="0" rtl="0" algn="ctr">
              <a:lnSpc>
                <a:spcPct val="100000"/>
              </a:lnSpc>
              <a:spcBef>
                <a:spcPts val="0"/>
              </a:spcBef>
              <a:spcAft>
                <a:spcPts val="0"/>
              </a:spcAft>
              <a:buSzPts val="1400"/>
              <a:buNone/>
            </a:pPr>
            <a:br>
              <a:rPr lang="en-US" sz="4600">
                <a:latin typeface="Times New Roman"/>
                <a:ea typeface="Times New Roman"/>
                <a:cs typeface="Times New Roman"/>
                <a:sym typeface="Times New Roman"/>
              </a:rPr>
            </a:br>
            <a:r>
              <a:rPr lang="en-US" sz="3000">
                <a:latin typeface="Times New Roman"/>
                <a:ea typeface="Times New Roman"/>
                <a:cs typeface="Times New Roman"/>
                <a:sym typeface="Times New Roman"/>
              </a:rPr>
              <a:t>Lecture - 03</a:t>
            </a:r>
            <a:br>
              <a:rPr lang="en-US" sz="3400">
                <a:latin typeface="Times New Roman"/>
                <a:ea typeface="Times New Roman"/>
                <a:cs typeface="Times New Roman"/>
                <a:sym typeface="Times New Roman"/>
              </a:rPr>
            </a:br>
            <a:endParaRPr sz="3400">
              <a:latin typeface="Times New Roman"/>
              <a:ea typeface="Times New Roman"/>
              <a:cs typeface="Times New Roman"/>
              <a:sym typeface="Times New Roman"/>
            </a:endParaRPr>
          </a:p>
        </p:txBody>
      </p:sp>
      <p:sp>
        <p:nvSpPr>
          <p:cNvPr id="97" name="Google Shape;97;p1"/>
          <p:cNvSpPr txBox="1"/>
          <p:nvPr>
            <p:ph idx="1" type="subTitle"/>
          </p:nvPr>
        </p:nvSpPr>
        <p:spPr>
          <a:xfrm>
            <a:off x="762000" y="4667563"/>
            <a:ext cx="8077200" cy="13521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000000"/>
              </a:buClr>
              <a:buSzPts val="3600"/>
              <a:buFont typeface="Arial"/>
              <a:buNone/>
            </a:pPr>
            <a:r>
              <a:rPr b="1" lang="en-US" sz="2500">
                <a:solidFill>
                  <a:schemeClr val="dk2"/>
                </a:solidFill>
                <a:latin typeface="Times New Roman"/>
                <a:ea typeface="Times New Roman"/>
                <a:cs typeface="Times New Roman"/>
                <a:sym typeface="Times New Roman"/>
              </a:rPr>
              <a:t>K-Nearest Neighbor Classifier</a:t>
            </a:r>
            <a:endParaRPr b="1" sz="2500">
              <a:solidFill>
                <a:schemeClr val="dk2"/>
              </a:solidFill>
              <a:latin typeface="Times New Roman"/>
              <a:ea typeface="Times New Roman"/>
              <a:cs typeface="Times New Roman"/>
              <a:sym typeface="Times New Roman"/>
            </a:endParaRPr>
          </a:p>
          <a:p>
            <a:pPr indent="0" lvl="0" marL="0" rtl="0" algn="ctr">
              <a:lnSpc>
                <a:spcPct val="100000"/>
              </a:lnSpc>
              <a:spcBef>
                <a:spcPts val="640"/>
              </a:spcBef>
              <a:spcAft>
                <a:spcPts val="0"/>
              </a:spcAft>
              <a:buClr>
                <a:schemeClr val="dk1"/>
              </a:buClr>
              <a:buSzPts val="3200"/>
              <a:buFont typeface="Arial"/>
              <a:buNone/>
            </a:pPr>
            <a:r>
              <a:t/>
            </a:r>
            <a:endParaRPr/>
          </a:p>
          <a:p>
            <a:pPr indent="0" lvl="0" marL="0" rtl="0" algn="ctr">
              <a:lnSpc>
                <a:spcPct val="100000"/>
              </a:lnSpc>
              <a:spcBef>
                <a:spcPts val="640"/>
              </a:spcBef>
              <a:spcAft>
                <a:spcPts val="0"/>
              </a:spcAft>
              <a:buClr>
                <a:schemeClr val="dk1"/>
              </a:buClr>
              <a:buSzPts val="3200"/>
              <a:buFont typeface="Arial"/>
              <a:buNone/>
            </a:pPr>
            <a:r>
              <a:t/>
            </a:r>
            <a:endParaRPr/>
          </a:p>
        </p:txBody>
      </p:sp>
      <p:sp>
        <p:nvSpPr>
          <p:cNvPr id="98" name="Google Shape;98;p1"/>
          <p:cNvSpPr/>
          <p:nvPr/>
        </p:nvSpPr>
        <p:spPr>
          <a:xfrm>
            <a:off x="468313" y="6367463"/>
            <a:ext cx="958850" cy="981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9" name="Google Shape;99;p1"/>
          <p:cNvGrpSpPr/>
          <p:nvPr/>
        </p:nvGrpSpPr>
        <p:grpSpPr>
          <a:xfrm>
            <a:off x="228600" y="1371600"/>
            <a:ext cx="431800" cy="430213"/>
            <a:chOff x="5129" y="3937"/>
            <a:chExt cx="349" cy="348"/>
          </a:xfrm>
        </p:grpSpPr>
        <p:sp>
          <p:nvSpPr>
            <p:cNvPr id="100" name="Google Shape;100;p1"/>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1"/>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 name="Google Shape;102;p1"/>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3" name="Google Shape;103;p1"/>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p1"/>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 name="Google Shape;105;p1"/>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6" name="Google Shape;106;p1"/>
          <p:cNvGrpSpPr/>
          <p:nvPr/>
        </p:nvGrpSpPr>
        <p:grpSpPr>
          <a:xfrm>
            <a:off x="457200" y="1143000"/>
            <a:ext cx="219075" cy="219075"/>
            <a:chOff x="5114" y="3685"/>
            <a:chExt cx="246" cy="246"/>
          </a:xfrm>
        </p:grpSpPr>
        <p:sp>
          <p:nvSpPr>
            <p:cNvPr id="107" name="Google Shape;107;p1"/>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 name="Google Shape;108;p1"/>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1"/>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 name="Google Shape;110;p1"/>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 name="Google Shape;111;p1"/>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 name="Google Shape;112;p1"/>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par>
                                <p:cTn fill="hold" nodeType="withEffect" presetClass="emph" presetID="8" presetSubtype="0">
                                  <p:stCondLst>
                                    <p:cond delay="0"/>
                                  </p:stCondLst>
                                  <p:childTnLst>
                                    <p:animRot by="-21600000">
                                      <p:cBhvr>
                                        <p:cTn dur="1000" fill="hold"/>
                                        <p:tgtEl>
                                          <p:spTgt spid="99"/>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0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Outline</a:t>
            </a:r>
            <a:endParaRPr sz="4400">
              <a:solidFill>
                <a:schemeClr val="accent6"/>
              </a:solidFill>
            </a:endParaRPr>
          </a:p>
        </p:txBody>
      </p:sp>
      <p:sp>
        <p:nvSpPr>
          <p:cNvPr id="119" name="Google Shape;119;p3"/>
          <p:cNvSpPr txBox="1"/>
          <p:nvPr>
            <p:ph idx="1" type="body"/>
          </p:nvPr>
        </p:nvSpPr>
        <p:spPr>
          <a:xfrm>
            <a:off x="428625" y="1570125"/>
            <a:ext cx="8229600" cy="4222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Char char="•"/>
            </a:pPr>
            <a:r>
              <a:rPr lang="en-US" sz="2400"/>
              <a:t>Introduction to K- Nearest Neighbor Classifier</a:t>
            </a:r>
            <a:endParaRPr/>
          </a:p>
          <a:p>
            <a:pPr indent="-342900" lvl="0" marL="342900" rtl="0" algn="l">
              <a:lnSpc>
                <a:spcPct val="100000"/>
              </a:lnSpc>
              <a:spcBef>
                <a:spcPts val="480"/>
              </a:spcBef>
              <a:spcAft>
                <a:spcPts val="0"/>
              </a:spcAft>
              <a:buClr>
                <a:schemeClr val="dk1"/>
              </a:buClr>
              <a:buSzPts val="2400"/>
              <a:buChar char="•"/>
            </a:pPr>
            <a:r>
              <a:rPr lang="en-US" sz="2400"/>
              <a:t>KNN Example</a:t>
            </a:r>
            <a:endParaRPr sz="2400"/>
          </a:p>
          <a:p>
            <a:pPr indent="-342900" lvl="0" marL="342900" rtl="0" algn="l">
              <a:lnSpc>
                <a:spcPct val="100000"/>
              </a:lnSpc>
              <a:spcBef>
                <a:spcPts val="480"/>
              </a:spcBef>
              <a:spcAft>
                <a:spcPts val="0"/>
              </a:spcAft>
              <a:buSzPts val="2400"/>
              <a:buChar char="•"/>
            </a:pPr>
            <a:r>
              <a:rPr lang="en-US" sz="2400"/>
              <a:t>How to determine a good value for k?</a:t>
            </a:r>
            <a:endParaRPr sz="2400"/>
          </a:p>
          <a:p>
            <a:pPr indent="-342900" lvl="0" marL="342900" rtl="0" algn="l">
              <a:lnSpc>
                <a:spcPct val="100000"/>
              </a:lnSpc>
              <a:spcBef>
                <a:spcPts val="480"/>
              </a:spcBef>
              <a:spcAft>
                <a:spcPts val="0"/>
              </a:spcAft>
              <a:buClr>
                <a:schemeClr val="dk1"/>
              </a:buClr>
              <a:buSzPts val="2400"/>
              <a:buChar char="•"/>
            </a:pPr>
            <a:r>
              <a:rPr lang="en-US" sz="2400"/>
              <a:t>Advantages and disadvantages of KNN</a:t>
            </a:r>
            <a:endParaRPr sz="2400"/>
          </a:p>
          <a:p>
            <a:pPr indent="-342900" lvl="0" marL="342900" rtl="0" algn="l">
              <a:lnSpc>
                <a:spcPct val="100000"/>
              </a:lnSpc>
              <a:spcBef>
                <a:spcPts val="480"/>
              </a:spcBef>
              <a:spcAft>
                <a:spcPts val="0"/>
              </a:spcAft>
              <a:buSzPts val="2400"/>
              <a:buChar char="•"/>
            </a:pPr>
            <a:r>
              <a:rPr lang="en-US" sz="2400"/>
              <a:t>Weighted KNN</a:t>
            </a:r>
            <a:endParaRPr sz="2400"/>
          </a:p>
        </p:txBody>
      </p:sp>
      <p:grpSp>
        <p:nvGrpSpPr>
          <p:cNvPr id="120" name="Google Shape;120;p3"/>
          <p:cNvGrpSpPr/>
          <p:nvPr/>
        </p:nvGrpSpPr>
        <p:grpSpPr>
          <a:xfrm>
            <a:off x="609600" y="533400"/>
            <a:ext cx="303213" cy="303213"/>
            <a:chOff x="703" y="300"/>
            <a:chExt cx="181" cy="181"/>
          </a:xfrm>
        </p:grpSpPr>
        <p:sp>
          <p:nvSpPr>
            <p:cNvPr id="121" name="Google Shape;121;p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 name="Google Shape;122;p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 name="Google Shape;123;p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 name="Google Shape;124;p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 name="Google Shape;125;p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7" name="Google Shape;127;p3"/>
          <p:cNvGrpSpPr/>
          <p:nvPr/>
        </p:nvGrpSpPr>
        <p:grpSpPr>
          <a:xfrm>
            <a:off x="8494713" y="5792788"/>
            <a:ext cx="554037" cy="552450"/>
            <a:chOff x="5369" y="3667"/>
            <a:chExt cx="349" cy="348"/>
          </a:xfrm>
        </p:grpSpPr>
        <p:sp>
          <p:nvSpPr>
            <p:cNvPr id="128" name="Google Shape;128;p3"/>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 name="Google Shape;129;p3"/>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3"/>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1" name="Google Shape;131;p3"/>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2" name="Google Shape;132;p3"/>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3" name="Google Shape;133;p3"/>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34" name="Google Shape;134;p3"/>
          <p:cNvGrpSpPr/>
          <p:nvPr/>
        </p:nvGrpSpPr>
        <p:grpSpPr>
          <a:xfrm>
            <a:off x="8113713" y="6221413"/>
            <a:ext cx="554037" cy="552450"/>
            <a:chOff x="5129" y="3937"/>
            <a:chExt cx="349" cy="348"/>
          </a:xfrm>
        </p:grpSpPr>
        <p:sp>
          <p:nvSpPr>
            <p:cNvPr id="135" name="Google Shape;135;p3"/>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6" name="Google Shape;136;p3"/>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7" name="Google Shape;137;p3"/>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8" name="Google Shape;138;p3"/>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9" name="Google Shape;139;p3"/>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3"/>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41" name="Google Shape;141;p3"/>
          <p:cNvGrpSpPr/>
          <p:nvPr/>
        </p:nvGrpSpPr>
        <p:grpSpPr>
          <a:xfrm>
            <a:off x="8089900" y="5821363"/>
            <a:ext cx="390525" cy="390525"/>
            <a:chOff x="5114" y="3685"/>
            <a:chExt cx="246" cy="246"/>
          </a:xfrm>
        </p:grpSpPr>
        <p:sp>
          <p:nvSpPr>
            <p:cNvPr id="142" name="Google Shape;142;p3"/>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 name="Google Shape;143;p3"/>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4" name="Google Shape;144;p3"/>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 name="Google Shape;145;p3"/>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6" name="Google Shape;146;p3"/>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7" name="Google Shape;147;p3"/>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48" name="Google Shape;148;p3"/>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par>
                                <p:cTn fill="hold" nodeType="withEffect" presetClass="emph" presetID="8" presetSubtype="0">
                                  <p:stCondLst>
                                    <p:cond delay="0"/>
                                  </p:stCondLst>
                                  <p:childTnLst>
                                    <p:animRot by="-21600000">
                                      <p:cBhvr>
                                        <p:cTn dur="500" fill="hold"/>
                                        <p:tgtEl>
                                          <p:spTgt spid="127"/>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134"/>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41"/>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12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4"/>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Introduction to KNN</a:t>
            </a:r>
            <a:endParaRPr sz="4000">
              <a:solidFill>
                <a:schemeClr val="accent6"/>
              </a:solidFill>
            </a:endParaRPr>
          </a:p>
        </p:txBody>
      </p:sp>
      <p:sp>
        <p:nvSpPr>
          <p:cNvPr id="155" name="Google Shape;155;p4"/>
          <p:cNvSpPr txBox="1"/>
          <p:nvPr>
            <p:ph idx="1" type="body"/>
          </p:nvPr>
        </p:nvSpPr>
        <p:spPr>
          <a:xfrm>
            <a:off x="457200" y="1440825"/>
            <a:ext cx="8229600" cy="4350300"/>
          </a:xfrm>
          <a:prstGeom prst="rect">
            <a:avLst/>
          </a:prstGeom>
          <a:noFill/>
          <a:ln>
            <a:noFill/>
          </a:ln>
        </p:spPr>
        <p:txBody>
          <a:bodyPr anchorCtr="0" anchor="t" bIns="45700" lIns="91425" spcFirstLastPara="1" rIns="91425" wrap="square" tIns="45700">
            <a:noAutofit/>
          </a:bodyPr>
          <a:lstStyle/>
          <a:p>
            <a:pPr indent="-330200" lvl="0" marL="342900" rtl="0" algn="l">
              <a:lnSpc>
                <a:spcPct val="115000"/>
              </a:lnSpc>
              <a:spcBef>
                <a:spcPts val="360"/>
              </a:spcBef>
              <a:spcAft>
                <a:spcPts val="0"/>
              </a:spcAft>
              <a:buSzPts val="2200"/>
              <a:buChar char="•"/>
            </a:pPr>
            <a:r>
              <a:rPr lang="en-US" sz="2200"/>
              <a:t>K-Nearest Neighbour is one of the simplest Machine Learning algorithms based on Supervised Learning technique.</a:t>
            </a:r>
            <a:endParaRPr sz="2200"/>
          </a:p>
          <a:p>
            <a:pPr indent="-330200" lvl="0" marL="342900" rtl="0" algn="l">
              <a:lnSpc>
                <a:spcPct val="115000"/>
              </a:lnSpc>
              <a:spcBef>
                <a:spcPts val="360"/>
              </a:spcBef>
              <a:spcAft>
                <a:spcPts val="0"/>
              </a:spcAft>
              <a:buSzPts val="2200"/>
              <a:buChar char="•"/>
            </a:pPr>
            <a:r>
              <a:rPr lang="en-US" sz="2200"/>
              <a:t>K-NN algorithm assumes the similarity between the new case/data and available cases and put the new case into the category that is most similar to the available categories.</a:t>
            </a:r>
            <a:endParaRPr sz="2200"/>
          </a:p>
          <a:p>
            <a:pPr indent="-330200" lvl="0" marL="342900" rtl="0" algn="l">
              <a:lnSpc>
                <a:spcPct val="115000"/>
              </a:lnSpc>
              <a:spcBef>
                <a:spcPts val="360"/>
              </a:spcBef>
              <a:spcAft>
                <a:spcPts val="0"/>
              </a:spcAft>
              <a:buSzPts val="2200"/>
              <a:buChar char="•"/>
            </a:pPr>
            <a:r>
              <a:rPr lang="en-US" sz="2200"/>
              <a:t>K-NN algorithm stores all the available data and classifies a new data point based on the similarity. This means when new data appears then it can be easily classified into a well suite category by using K- NN algorithm.</a:t>
            </a:r>
            <a:endParaRPr sz="2200"/>
          </a:p>
          <a:p>
            <a:pPr indent="0" lvl="0" marL="342900" rtl="0" algn="l">
              <a:lnSpc>
                <a:spcPct val="115000"/>
              </a:lnSpc>
              <a:spcBef>
                <a:spcPts val="360"/>
              </a:spcBef>
              <a:spcAft>
                <a:spcPts val="0"/>
              </a:spcAft>
              <a:buSzPts val="1800"/>
              <a:buNone/>
            </a:pPr>
            <a:r>
              <a:t/>
            </a:r>
            <a:endParaRPr sz="2200"/>
          </a:p>
        </p:txBody>
      </p:sp>
      <p:grpSp>
        <p:nvGrpSpPr>
          <p:cNvPr id="156" name="Google Shape;156;p4"/>
          <p:cNvGrpSpPr/>
          <p:nvPr/>
        </p:nvGrpSpPr>
        <p:grpSpPr>
          <a:xfrm>
            <a:off x="609600" y="533400"/>
            <a:ext cx="303213" cy="303213"/>
            <a:chOff x="703" y="300"/>
            <a:chExt cx="181" cy="181"/>
          </a:xfrm>
        </p:grpSpPr>
        <p:sp>
          <p:nvSpPr>
            <p:cNvPr id="157" name="Google Shape;157;p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8" name="Google Shape;158;p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9" name="Google Shape;159;p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0" name="Google Shape;160;p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1" name="Google Shape;161;p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2" name="Google Shape;162;p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63" name="Google Shape;163;p4"/>
          <p:cNvGrpSpPr/>
          <p:nvPr/>
        </p:nvGrpSpPr>
        <p:grpSpPr>
          <a:xfrm>
            <a:off x="8494713" y="5792788"/>
            <a:ext cx="554037" cy="552450"/>
            <a:chOff x="5369" y="3667"/>
            <a:chExt cx="349" cy="348"/>
          </a:xfrm>
        </p:grpSpPr>
        <p:sp>
          <p:nvSpPr>
            <p:cNvPr id="164" name="Google Shape;164;p4"/>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5" name="Google Shape;165;p4"/>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 name="Google Shape;166;p4"/>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 name="Google Shape;167;p4"/>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 name="Google Shape;168;p4"/>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9" name="Google Shape;169;p4"/>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70" name="Google Shape;170;p4"/>
          <p:cNvGrpSpPr/>
          <p:nvPr/>
        </p:nvGrpSpPr>
        <p:grpSpPr>
          <a:xfrm>
            <a:off x="8113713" y="6221413"/>
            <a:ext cx="554037" cy="552450"/>
            <a:chOff x="5129" y="3937"/>
            <a:chExt cx="349" cy="348"/>
          </a:xfrm>
        </p:grpSpPr>
        <p:sp>
          <p:nvSpPr>
            <p:cNvPr id="171" name="Google Shape;171;p4"/>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2" name="Google Shape;172;p4"/>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3" name="Google Shape;173;p4"/>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4" name="Google Shape;174;p4"/>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5" name="Google Shape;175;p4"/>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6" name="Google Shape;176;p4"/>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77" name="Google Shape;177;p4"/>
          <p:cNvGrpSpPr/>
          <p:nvPr/>
        </p:nvGrpSpPr>
        <p:grpSpPr>
          <a:xfrm>
            <a:off x="8089900" y="5821363"/>
            <a:ext cx="390525" cy="390525"/>
            <a:chOff x="5114" y="3685"/>
            <a:chExt cx="246" cy="246"/>
          </a:xfrm>
        </p:grpSpPr>
        <p:sp>
          <p:nvSpPr>
            <p:cNvPr id="178" name="Google Shape;178;p4"/>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9" name="Google Shape;179;p4"/>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0" name="Google Shape;180;p4"/>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1" name="Google Shape;181;p4"/>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2" name="Google Shape;182;p4"/>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3" name="Google Shape;183;p4"/>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84" name="Google Shape;184;p4"/>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par>
                                <p:cTn fill="hold" nodeType="withEffect" presetClass="emph" presetID="8" presetSubtype="0">
                                  <p:stCondLst>
                                    <p:cond delay="0"/>
                                  </p:stCondLst>
                                  <p:childTnLst>
                                    <p:animRot by="-21600000">
                                      <p:cBhvr>
                                        <p:cTn dur="500" fill="hold"/>
                                        <p:tgtEl>
                                          <p:spTgt spid="163"/>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170"/>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77"/>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15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1394cac4b8_0_1"/>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Introduction to KNN</a:t>
            </a:r>
            <a:endParaRPr sz="4000">
              <a:solidFill>
                <a:schemeClr val="accent6"/>
              </a:solidFill>
            </a:endParaRPr>
          </a:p>
        </p:txBody>
      </p:sp>
      <p:sp>
        <p:nvSpPr>
          <p:cNvPr id="191" name="Google Shape;191;g21394cac4b8_0_1"/>
          <p:cNvSpPr txBox="1"/>
          <p:nvPr>
            <p:ph idx="1" type="body"/>
          </p:nvPr>
        </p:nvSpPr>
        <p:spPr>
          <a:xfrm>
            <a:off x="457200" y="1371600"/>
            <a:ext cx="8229600" cy="4644000"/>
          </a:xfrm>
          <a:prstGeom prst="rect">
            <a:avLst/>
          </a:prstGeom>
          <a:noFill/>
          <a:ln>
            <a:noFill/>
          </a:ln>
        </p:spPr>
        <p:txBody>
          <a:bodyPr anchorCtr="0" anchor="t" bIns="45700" lIns="91425" spcFirstLastPara="1" rIns="91425" wrap="square" tIns="45700">
            <a:noAutofit/>
          </a:bodyPr>
          <a:lstStyle/>
          <a:p>
            <a:pPr indent="-330200" lvl="0" marL="342900" rtl="0" algn="l">
              <a:lnSpc>
                <a:spcPct val="115000"/>
              </a:lnSpc>
              <a:spcBef>
                <a:spcPts val="360"/>
              </a:spcBef>
              <a:spcAft>
                <a:spcPts val="0"/>
              </a:spcAft>
              <a:buSzPts val="2200"/>
              <a:buChar char="•"/>
            </a:pPr>
            <a:r>
              <a:rPr lang="en-US" sz="2200"/>
              <a:t>K-NN algorithm can be used for Regression as well as for Classification but mostly it is used for the Classification problems.</a:t>
            </a:r>
            <a:endParaRPr sz="2200"/>
          </a:p>
          <a:p>
            <a:pPr indent="-330200" lvl="0" marL="342900" rtl="0" algn="l">
              <a:lnSpc>
                <a:spcPct val="115000"/>
              </a:lnSpc>
              <a:spcBef>
                <a:spcPts val="360"/>
              </a:spcBef>
              <a:spcAft>
                <a:spcPts val="0"/>
              </a:spcAft>
              <a:buSzPts val="2200"/>
              <a:buChar char="•"/>
            </a:pPr>
            <a:r>
              <a:rPr lang="en-US" sz="2200"/>
              <a:t>It is also called a lazy learner algorithm because it does not learn from the training set immediately instead it stores the dataset and at the time of classification, it performs an action on the dataset.</a:t>
            </a:r>
            <a:endParaRPr sz="2200"/>
          </a:p>
          <a:p>
            <a:pPr indent="-330200" lvl="0" marL="342900" rtl="0" algn="l">
              <a:lnSpc>
                <a:spcPct val="115000"/>
              </a:lnSpc>
              <a:spcBef>
                <a:spcPts val="360"/>
              </a:spcBef>
              <a:spcAft>
                <a:spcPts val="0"/>
              </a:spcAft>
              <a:buSzPts val="2200"/>
              <a:buChar char="•"/>
            </a:pPr>
            <a:r>
              <a:rPr lang="en-US" sz="2200"/>
              <a:t>KNN algorithm at the training phase just stores the dataset and when it gets new data, then it classifies that data into a category that is much similar to the new data.</a:t>
            </a:r>
            <a:endParaRPr sz="2200"/>
          </a:p>
          <a:p>
            <a:pPr indent="0" lvl="0" marL="342900" rtl="0" algn="l">
              <a:lnSpc>
                <a:spcPct val="115000"/>
              </a:lnSpc>
              <a:spcBef>
                <a:spcPts val="360"/>
              </a:spcBef>
              <a:spcAft>
                <a:spcPts val="0"/>
              </a:spcAft>
              <a:buSzPts val="1800"/>
              <a:buNone/>
            </a:pPr>
            <a:r>
              <a:t/>
            </a:r>
            <a:endParaRPr sz="2200"/>
          </a:p>
          <a:p>
            <a:pPr indent="0" lvl="0" marL="342900" rtl="0" algn="l">
              <a:lnSpc>
                <a:spcPct val="115000"/>
              </a:lnSpc>
              <a:spcBef>
                <a:spcPts val="360"/>
              </a:spcBef>
              <a:spcAft>
                <a:spcPts val="0"/>
              </a:spcAft>
              <a:buSzPts val="1800"/>
              <a:buNone/>
            </a:pPr>
            <a:r>
              <a:t/>
            </a:r>
            <a:endParaRPr sz="2200"/>
          </a:p>
        </p:txBody>
      </p:sp>
      <p:grpSp>
        <p:nvGrpSpPr>
          <p:cNvPr id="192" name="Google Shape;192;g21394cac4b8_0_1"/>
          <p:cNvGrpSpPr/>
          <p:nvPr/>
        </p:nvGrpSpPr>
        <p:grpSpPr>
          <a:xfrm>
            <a:off x="609600" y="533400"/>
            <a:ext cx="303246" cy="303397"/>
            <a:chOff x="703" y="300"/>
            <a:chExt cx="181" cy="181"/>
          </a:xfrm>
        </p:grpSpPr>
        <p:sp>
          <p:nvSpPr>
            <p:cNvPr id="193" name="Google Shape;193;g21394cac4b8_0_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4" name="Google Shape;194;g21394cac4b8_0_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5" name="Google Shape;195;g21394cac4b8_0_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6" name="Google Shape;196;g21394cac4b8_0_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7" name="Google Shape;197;g21394cac4b8_0_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8" name="Google Shape;198;g21394cac4b8_0_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99" name="Google Shape;199;g21394cac4b8_0_1"/>
          <p:cNvGrpSpPr/>
          <p:nvPr/>
        </p:nvGrpSpPr>
        <p:grpSpPr>
          <a:xfrm>
            <a:off x="8494713" y="5792788"/>
            <a:ext cx="554037" cy="552212"/>
            <a:chOff x="5369" y="3667"/>
            <a:chExt cx="349" cy="348"/>
          </a:xfrm>
        </p:grpSpPr>
        <p:sp>
          <p:nvSpPr>
            <p:cNvPr id="200" name="Google Shape;200;g21394cac4b8_0_1"/>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1" name="Google Shape;201;g21394cac4b8_0_1"/>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2" name="Google Shape;202;g21394cac4b8_0_1"/>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3" name="Google Shape;203;g21394cac4b8_0_1"/>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4" name="Google Shape;204;g21394cac4b8_0_1"/>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5" name="Google Shape;205;g21394cac4b8_0_1"/>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06" name="Google Shape;206;g21394cac4b8_0_1"/>
          <p:cNvGrpSpPr/>
          <p:nvPr/>
        </p:nvGrpSpPr>
        <p:grpSpPr>
          <a:xfrm>
            <a:off x="8113713" y="6221413"/>
            <a:ext cx="554243" cy="552244"/>
            <a:chOff x="5129" y="3937"/>
            <a:chExt cx="349" cy="348"/>
          </a:xfrm>
        </p:grpSpPr>
        <p:sp>
          <p:nvSpPr>
            <p:cNvPr id="207" name="Google Shape;207;g21394cac4b8_0_1"/>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8" name="Google Shape;208;g21394cac4b8_0_1"/>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9" name="Google Shape;209;g21394cac4b8_0_1"/>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0" name="Google Shape;210;g21394cac4b8_0_1"/>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1" name="Google Shape;211;g21394cac4b8_0_1"/>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2" name="Google Shape;212;g21394cac4b8_0_1"/>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13" name="Google Shape;213;g21394cac4b8_0_1"/>
          <p:cNvGrpSpPr/>
          <p:nvPr/>
        </p:nvGrpSpPr>
        <p:grpSpPr>
          <a:xfrm>
            <a:off x="8089900" y="5821363"/>
            <a:ext cx="390684" cy="390636"/>
            <a:chOff x="5114" y="3685"/>
            <a:chExt cx="246" cy="246"/>
          </a:xfrm>
        </p:grpSpPr>
        <p:sp>
          <p:nvSpPr>
            <p:cNvPr id="214" name="Google Shape;214;g21394cac4b8_0_1"/>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5" name="Google Shape;215;g21394cac4b8_0_1"/>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6" name="Google Shape;216;g21394cac4b8_0_1"/>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7" name="Google Shape;217;g21394cac4b8_0_1"/>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g21394cac4b8_0_1"/>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g21394cac4b8_0_1"/>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20" name="Google Shape;220;g21394cac4b8_0_1"/>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mph" presetID="8" presetSubtype="0">
                                  <p:stCondLst>
                                    <p:cond delay="0"/>
                                  </p:stCondLst>
                                  <p:childTnLst>
                                    <p:animRot by="-21600000">
                                      <p:cBhvr>
                                        <p:cTn dur="500" fill="hold"/>
                                        <p:tgtEl>
                                          <p:spTgt spid="199"/>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206"/>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213"/>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19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7"/>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KNN Algorithm</a:t>
            </a:r>
            <a:endParaRPr sz="4000">
              <a:solidFill>
                <a:schemeClr val="accent6"/>
              </a:solidFill>
            </a:endParaRPr>
          </a:p>
        </p:txBody>
      </p:sp>
      <p:grpSp>
        <p:nvGrpSpPr>
          <p:cNvPr id="227" name="Google Shape;227;p7"/>
          <p:cNvGrpSpPr/>
          <p:nvPr/>
        </p:nvGrpSpPr>
        <p:grpSpPr>
          <a:xfrm>
            <a:off x="609600" y="533400"/>
            <a:ext cx="303213" cy="303213"/>
            <a:chOff x="703" y="300"/>
            <a:chExt cx="181" cy="181"/>
          </a:xfrm>
        </p:grpSpPr>
        <p:sp>
          <p:nvSpPr>
            <p:cNvPr id="228" name="Google Shape;228;p7"/>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9" name="Google Shape;229;p7"/>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7"/>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1" name="Google Shape;231;p7"/>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2" name="Google Shape;232;p7"/>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3" name="Google Shape;233;p7"/>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34" name="Google Shape;234;p7"/>
          <p:cNvSpPr txBox="1"/>
          <p:nvPr/>
        </p:nvSpPr>
        <p:spPr>
          <a:xfrm>
            <a:off x="724550" y="1567050"/>
            <a:ext cx="7380300" cy="5196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i="0" lang="en-US" sz="2200" u="none" cap="none" strike="noStrike">
                <a:solidFill>
                  <a:schemeClr val="accent1"/>
                </a:solidFill>
                <a:latin typeface="Lato"/>
                <a:ea typeface="Lato"/>
                <a:cs typeface="Lato"/>
                <a:sym typeface="Lato"/>
              </a:rPr>
              <a:t>The K-NN working can be explained on the basis of the below algorithm:</a:t>
            </a:r>
            <a:endParaRPr i="0" sz="2200" u="none" cap="none" strike="noStrike">
              <a:solidFill>
                <a:schemeClr val="accent1"/>
              </a:solidFill>
              <a:latin typeface="Lato"/>
              <a:ea typeface="Lato"/>
              <a:cs typeface="Lato"/>
              <a:sym typeface="Lato"/>
            </a:endParaRPr>
          </a:p>
          <a:p>
            <a:pPr indent="-368300" lvl="0" marL="457200" marR="0" rtl="0" algn="l">
              <a:lnSpc>
                <a:spcPct val="115000"/>
              </a:lnSpc>
              <a:spcBef>
                <a:spcPts val="0"/>
              </a:spcBef>
              <a:spcAft>
                <a:spcPts val="0"/>
              </a:spcAft>
              <a:buClr>
                <a:schemeClr val="dk1"/>
              </a:buClr>
              <a:buSzPts val="2200"/>
              <a:buFont typeface="Lato"/>
              <a:buChar char="●"/>
            </a:pPr>
            <a:r>
              <a:rPr i="0" lang="en-US" sz="2200" u="none" cap="none" strike="noStrike">
                <a:solidFill>
                  <a:schemeClr val="accent1"/>
                </a:solidFill>
                <a:latin typeface="Lato"/>
                <a:ea typeface="Lato"/>
                <a:cs typeface="Lato"/>
                <a:sym typeface="Lato"/>
              </a:rPr>
              <a:t>Step-1: Select the number K of the neighbors</a:t>
            </a:r>
            <a:endParaRPr i="0" sz="2200" u="none" cap="none" strike="noStrike">
              <a:solidFill>
                <a:schemeClr val="accent1"/>
              </a:solidFill>
              <a:latin typeface="Lato"/>
              <a:ea typeface="Lato"/>
              <a:cs typeface="Lato"/>
              <a:sym typeface="Lato"/>
            </a:endParaRPr>
          </a:p>
          <a:p>
            <a:pPr indent="-368300" lvl="0" marL="457200" marR="0" rtl="0" algn="l">
              <a:lnSpc>
                <a:spcPct val="115000"/>
              </a:lnSpc>
              <a:spcBef>
                <a:spcPts val="0"/>
              </a:spcBef>
              <a:spcAft>
                <a:spcPts val="0"/>
              </a:spcAft>
              <a:buClr>
                <a:schemeClr val="dk1"/>
              </a:buClr>
              <a:buSzPts val="2200"/>
              <a:buFont typeface="Lato"/>
              <a:buChar char="●"/>
            </a:pPr>
            <a:r>
              <a:rPr i="0" lang="en-US" sz="2200" u="none" cap="none" strike="noStrike">
                <a:solidFill>
                  <a:schemeClr val="accent1"/>
                </a:solidFill>
                <a:latin typeface="Lato"/>
                <a:ea typeface="Lato"/>
                <a:cs typeface="Lato"/>
                <a:sym typeface="Lato"/>
              </a:rPr>
              <a:t>Step-2: Calculate the Euclidean distance from all data points</a:t>
            </a:r>
            <a:endParaRPr i="0" sz="2200" u="none" cap="none" strike="noStrike">
              <a:solidFill>
                <a:schemeClr val="accent1"/>
              </a:solidFill>
              <a:latin typeface="Lato"/>
              <a:ea typeface="Lato"/>
              <a:cs typeface="Lato"/>
              <a:sym typeface="Lato"/>
            </a:endParaRPr>
          </a:p>
          <a:p>
            <a:pPr indent="-368300" lvl="0" marL="457200" marR="0" rtl="0" algn="l">
              <a:lnSpc>
                <a:spcPct val="115000"/>
              </a:lnSpc>
              <a:spcBef>
                <a:spcPts val="0"/>
              </a:spcBef>
              <a:spcAft>
                <a:spcPts val="0"/>
              </a:spcAft>
              <a:buClr>
                <a:schemeClr val="dk1"/>
              </a:buClr>
              <a:buSzPts val="2200"/>
              <a:buFont typeface="Lato"/>
              <a:buChar char="●"/>
            </a:pPr>
            <a:r>
              <a:rPr i="0" lang="en-US" sz="2200" u="none" cap="none" strike="noStrike">
                <a:solidFill>
                  <a:schemeClr val="accent1"/>
                </a:solidFill>
                <a:latin typeface="Lato"/>
                <a:ea typeface="Lato"/>
                <a:cs typeface="Lato"/>
                <a:sym typeface="Lato"/>
              </a:rPr>
              <a:t>Step-3: Take the K nearest neighbors as per the calculated Euclidean distance.</a:t>
            </a:r>
            <a:endParaRPr i="0" sz="2200" u="none" cap="none" strike="noStrike">
              <a:solidFill>
                <a:schemeClr val="accent1"/>
              </a:solidFill>
              <a:latin typeface="Lato"/>
              <a:ea typeface="Lato"/>
              <a:cs typeface="Lato"/>
              <a:sym typeface="Lato"/>
            </a:endParaRPr>
          </a:p>
          <a:p>
            <a:pPr indent="-368300" lvl="0" marL="457200" marR="0" rtl="0" algn="l">
              <a:lnSpc>
                <a:spcPct val="115000"/>
              </a:lnSpc>
              <a:spcBef>
                <a:spcPts val="0"/>
              </a:spcBef>
              <a:spcAft>
                <a:spcPts val="0"/>
              </a:spcAft>
              <a:buClr>
                <a:schemeClr val="dk1"/>
              </a:buClr>
              <a:buSzPts val="2200"/>
              <a:buFont typeface="Lato"/>
              <a:buChar char="●"/>
            </a:pPr>
            <a:r>
              <a:rPr i="0" lang="en-US" sz="2200" u="none" cap="none" strike="noStrike">
                <a:solidFill>
                  <a:schemeClr val="accent1"/>
                </a:solidFill>
                <a:latin typeface="Lato"/>
                <a:ea typeface="Lato"/>
                <a:cs typeface="Lato"/>
                <a:sym typeface="Lato"/>
              </a:rPr>
              <a:t>Step-4: Among these k neighbors, count the number of the data points in each category.</a:t>
            </a:r>
            <a:endParaRPr i="0" sz="2200" u="none" cap="none" strike="noStrike">
              <a:solidFill>
                <a:schemeClr val="accent1"/>
              </a:solidFill>
              <a:latin typeface="Lato"/>
              <a:ea typeface="Lato"/>
              <a:cs typeface="Lato"/>
              <a:sym typeface="Lato"/>
            </a:endParaRPr>
          </a:p>
          <a:p>
            <a:pPr indent="-368300" lvl="0" marL="457200" marR="0" rtl="0" algn="l">
              <a:lnSpc>
                <a:spcPct val="115000"/>
              </a:lnSpc>
              <a:spcBef>
                <a:spcPts val="0"/>
              </a:spcBef>
              <a:spcAft>
                <a:spcPts val="0"/>
              </a:spcAft>
              <a:buClr>
                <a:schemeClr val="dk1"/>
              </a:buClr>
              <a:buSzPts val="2200"/>
              <a:buFont typeface="Lato"/>
              <a:buChar char="●"/>
            </a:pPr>
            <a:r>
              <a:rPr i="0" lang="en-US" sz="2200" u="none" cap="none" strike="noStrike">
                <a:solidFill>
                  <a:schemeClr val="accent1"/>
                </a:solidFill>
                <a:latin typeface="Lato"/>
                <a:ea typeface="Lato"/>
                <a:cs typeface="Lato"/>
                <a:sym typeface="Lato"/>
              </a:rPr>
              <a:t>Step-5: Assign the new data points to that category for which the number of the neighbor is maximum.</a:t>
            </a:r>
            <a:endParaRPr i="0" sz="2200" u="none" cap="none" strike="noStrike">
              <a:solidFill>
                <a:schemeClr val="accent1"/>
              </a:solidFill>
              <a:latin typeface="Lato"/>
              <a:ea typeface="Lato"/>
              <a:cs typeface="Lato"/>
              <a:sym typeface="Lato"/>
            </a:endParaRPr>
          </a:p>
          <a:p>
            <a:pPr indent="-368300" lvl="0" marL="457200" marR="0" rtl="0" algn="l">
              <a:lnSpc>
                <a:spcPct val="115000"/>
              </a:lnSpc>
              <a:spcBef>
                <a:spcPts val="0"/>
              </a:spcBef>
              <a:spcAft>
                <a:spcPts val="0"/>
              </a:spcAft>
              <a:buClr>
                <a:schemeClr val="dk1"/>
              </a:buClr>
              <a:buSzPts val="2200"/>
              <a:buFont typeface="Lato"/>
              <a:buChar char="●"/>
            </a:pPr>
            <a:r>
              <a:rPr i="0" lang="en-US" sz="2200" u="none" cap="none" strike="noStrike">
                <a:solidFill>
                  <a:schemeClr val="accent1"/>
                </a:solidFill>
                <a:latin typeface="Lato"/>
                <a:ea typeface="Lato"/>
                <a:cs typeface="Lato"/>
                <a:sym typeface="Lato"/>
              </a:rPr>
              <a:t>Step-6: Our model is ready.</a:t>
            </a:r>
            <a:endParaRPr i="0" sz="2200" u="none" cap="none" strike="noStrike">
              <a:solidFill>
                <a:schemeClr val="accent1"/>
              </a:solidFill>
              <a:latin typeface="Lato"/>
              <a:ea typeface="Lato"/>
              <a:cs typeface="Lato"/>
              <a:sym typeface="Lato"/>
            </a:endParaRPr>
          </a:p>
          <a:p>
            <a:pPr indent="0" lvl="0" marL="0" marR="0" rtl="0" algn="l">
              <a:lnSpc>
                <a:spcPct val="115000"/>
              </a:lnSpc>
              <a:spcBef>
                <a:spcPts val="0"/>
              </a:spcBef>
              <a:spcAft>
                <a:spcPts val="0"/>
              </a:spcAft>
              <a:buClr>
                <a:srgbClr val="000000"/>
              </a:buClr>
              <a:buSzPts val="2400"/>
              <a:buFont typeface="Arial"/>
              <a:buNone/>
            </a:pPr>
            <a:r>
              <a:t/>
            </a:r>
            <a:endParaRPr i="0" sz="2200" u="none" cap="none" strike="noStrike">
              <a:solidFill>
                <a:schemeClr val="accent1"/>
              </a:solidFill>
              <a:latin typeface="Lato"/>
              <a:ea typeface="Lato"/>
              <a:cs typeface="Lato"/>
              <a:sym typeface="Lato"/>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par>
                                <p:cTn fill="hold" nodeType="withEffect" presetClass="emph" presetID="8" presetSubtype="0">
                                  <p:stCondLst>
                                    <p:cond delay="500"/>
                                  </p:stCondLst>
                                  <p:childTnLst>
                                    <p:animRot by="-21600000">
                                      <p:cBhvr>
                                        <p:cTn dur="500" fill="hold"/>
                                        <p:tgtEl>
                                          <p:spTgt spid="22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8"/>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KNN Example</a:t>
            </a:r>
            <a:endParaRPr sz="4000">
              <a:solidFill>
                <a:schemeClr val="accent6"/>
              </a:solidFill>
            </a:endParaRPr>
          </a:p>
        </p:txBody>
      </p:sp>
      <p:sp>
        <p:nvSpPr>
          <p:cNvPr id="241" name="Google Shape;241;p8"/>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000"/>
              <a:buFont typeface="Arial"/>
              <a:buChar char="•"/>
            </a:pPr>
            <a:r>
              <a:rPr lang="en-US" sz="2000"/>
              <a:t>We are testing with two attributes (acid durability and strength) to classify whether a special paper tissue is good or not. </a:t>
            </a:r>
            <a:endParaRPr/>
          </a:p>
          <a:p>
            <a:pPr indent="-342900" lvl="0" marL="342900" rtl="0" algn="just">
              <a:lnSpc>
                <a:spcPct val="100000"/>
              </a:lnSpc>
              <a:spcBef>
                <a:spcPts val="400"/>
              </a:spcBef>
              <a:spcAft>
                <a:spcPts val="0"/>
              </a:spcAft>
              <a:buClr>
                <a:schemeClr val="dk1"/>
              </a:buClr>
              <a:buSzPts val="2000"/>
              <a:buFont typeface="Arial"/>
              <a:buChar char="•"/>
            </a:pPr>
            <a:r>
              <a:rPr lang="en-US" sz="2000"/>
              <a:t>Here are four training samples :</a:t>
            </a:r>
            <a:endParaRPr/>
          </a:p>
          <a:p>
            <a:pPr indent="-215900" lvl="0" marL="342900" rtl="0" algn="just">
              <a:lnSpc>
                <a:spcPct val="100000"/>
              </a:lnSpc>
              <a:spcBef>
                <a:spcPts val="400"/>
              </a:spcBef>
              <a:spcAft>
                <a:spcPts val="0"/>
              </a:spcAft>
              <a:buClr>
                <a:schemeClr val="dk1"/>
              </a:buClr>
              <a:buSzPts val="2000"/>
              <a:buFont typeface="Arial"/>
              <a:buNone/>
            </a:pPr>
            <a:r>
              <a:t/>
            </a:r>
            <a:endParaRPr sz="2000"/>
          </a:p>
          <a:p>
            <a:pPr indent="-215900" lvl="0" marL="342900" rtl="0" algn="just">
              <a:lnSpc>
                <a:spcPct val="100000"/>
              </a:lnSpc>
              <a:spcBef>
                <a:spcPts val="400"/>
              </a:spcBef>
              <a:spcAft>
                <a:spcPts val="0"/>
              </a:spcAft>
              <a:buClr>
                <a:schemeClr val="dk1"/>
              </a:buClr>
              <a:buSzPts val="2000"/>
              <a:buFont typeface="Arial"/>
              <a:buNone/>
            </a:pPr>
            <a:r>
              <a:t/>
            </a:r>
            <a:endParaRPr sz="2000"/>
          </a:p>
          <a:p>
            <a:pPr indent="-215900" lvl="0" marL="342900" rtl="0" algn="just">
              <a:lnSpc>
                <a:spcPct val="100000"/>
              </a:lnSpc>
              <a:spcBef>
                <a:spcPts val="400"/>
              </a:spcBef>
              <a:spcAft>
                <a:spcPts val="0"/>
              </a:spcAft>
              <a:buClr>
                <a:schemeClr val="dk1"/>
              </a:buClr>
              <a:buSzPts val="2000"/>
              <a:buFont typeface="Arial"/>
              <a:buNone/>
            </a:pPr>
            <a:r>
              <a:t/>
            </a:r>
            <a:endParaRPr sz="2000"/>
          </a:p>
          <a:p>
            <a:pPr indent="-215900" lvl="0" marL="342900" rtl="0" algn="just">
              <a:lnSpc>
                <a:spcPct val="100000"/>
              </a:lnSpc>
              <a:spcBef>
                <a:spcPts val="400"/>
              </a:spcBef>
              <a:spcAft>
                <a:spcPts val="0"/>
              </a:spcAft>
              <a:buClr>
                <a:schemeClr val="dk1"/>
              </a:buClr>
              <a:buSzPts val="2000"/>
              <a:buFont typeface="Arial"/>
              <a:buNone/>
            </a:pPr>
            <a:r>
              <a:t/>
            </a:r>
            <a:endParaRPr sz="2000"/>
          </a:p>
          <a:p>
            <a:pPr indent="-215900" lvl="0" marL="342900" rtl="0" algn="just">
              <a:lnSpc>
                <a:spcPct val="100000"/>
              </a:lnSpc>
              <a:spcBef>
                <a:spcPts val="400"/>
              </a:spcBef>
              <a:spcAft>
                <a:spcPts val="0"/>
              </a:spcAft>
              <a:buClr>
                <a:schemeClr val="dk1"/>
              </a:buClr>
              <a:buSzPts val="2000"/>
              <a:buFont typeface="Arial"/>
              <a:buNone/>
            </a:pPr>
            <a:r>
              <a:t/>
            </a:r>
            <a:endParaRPr sz="2000"/>
          </a:p>
          <a:p>
            <a:pPr indent="-215900" lvl="0" marL="342900" rtl="0" algn="just">
              <a:lnSpc>
                <a:spcPct val="100000"/>
              </a:lnSpc>
              <a:spcBef>
                <a:spcPts val="400"/>
              </a:spcBef>
              <a:spcAft>
                <a:spcPts val="0"/>
              </a:spcAft>
              <a:buClr>
                <a:schemeClr val="dk1"/>
              </a:buClr>
              <a:buSzPts val="2000"/>
              <a:buFont typeface="Arial"/>
              <a:buNone/>
            </a:pPr>
            <a:r>
              <a:t/>
            </a:r>
            <a:endParaRPr sz="2000"/>
          </a:p>
          <a:p>
            <a:pPr indent="-215900" lvl="0" marL="342900" rtl="0" algn="just">
              <a:lnSpc>
                <a:spcPct val="100000"/>
              </a:lnSpc>
              <a:spcBef>
                <a:spcPts val="400"/>
              </a:spcBef>
              <a:spcAft>
                <a:spcPts val="0"/>
              </a:spcAft>
              <a:buClr>
                <a:schemeClr val="dk1"/>
              </a:buClr>
              <a:buSzPts val="2000"/>
              <a:buFont typeface="Arial"/>
              <a:buNone/>
            </a:pPr>
            <a:r>
              <a:t/>
            </a:r>
            <a:endParaRPr sz="2000"/>
          </a:p>
          <a:p>
            <a:pPr indent="-342900" lvl="0" marL="342900" rtl="0" algn="just">
              <a:lnSpc>
                <a:spcPct val="100000"/>
              </a:lnSpc>
              <a:spcBef>
                <a:spcPts val="400"/>
              </a:spcBef>
              <a:spcAft>
                <a:spcPts val="0"/>
              </a:spcAft>
              <a:buClr>
                <a:schemeClr val="dk1"/>
              </a:buClr>
              <a:buSzPts val="2000"/>
              <a:buFont typeface="Arial"/>
              <a:buNone/>
            </a:pPr>
            <a:r>
              <a:t/>
            </a:r>
            <a:endParaRPr sz="2000"/>
          </a:p>
          <a:p>
            <a:pPr indent="-342900" lvl="0" marL="342900" rtl="0" algn="just">
              <a:lnSpc>
                <a:spcPct val="100000"/>
              </a:lnSpc>
              <a:spcBef>
                <a:spcPts val="400"/>
              </a:spcBef>
              <a:spcAft>
                <a:spcPts val="0"/>
              </a:spcAft>
              <a:buClr>
                <a:schemeClr val="dk1"/>
              </a:buClr>
              <a:buSzPts val="2000"/>
              <a:buFont typeface="Arial"/>
              <a:buChar char="•"/>
            </a:pPr>
            <a:r>
              <a:rPr lang="en-US" sz="2000"/>
              <a:t>Now the factory produces a new paper tissue that passes the laboratory test with X1 = 3 and X2 = 7. </a:t>
            </a:r>
            <a:endParaRPr/>
          </a:p>
          <a:p>
            <a:pPr indent="-342900" lvl="0" marL="342900" rtl="0" algn="just">
              <a:lnSpc>
                <a:spcPct val="100000"/>
              </a:lnSpc>
              <a:spcBef>
                <a:spcPts val="400"/>
              </a:spcBef>
              <a:spcAft>
                <a:spcPts val="0"/>
              </a:spcAft>
              <a:buClr>
                <a:schemeClr val="dk1"/>
              </a:buClr>
              <a:buSzPts val="2000"/>
              <a:buFont typeface="Arial"/>
              <a:buChar char="•"/>
            </a:pPr>
            <a:r>
              <a:rPr lang="en-US" sz="2000"/>
              <a:t>Guess the classification of this new tissue.</a:t>
            </a:r>
            <a:endParaRPr b="1" sz="2000"/>
          </a:p>
        </p:txBody>
      </p:sp>
      <p:grpSp>
        <p:nvGrpSpPr>
          <p:cNvPr id="242" name="Google Shape;242;p8"/>
          <p:cNvGrpSpPr/>
          <p:nvPr/>
        </p:nvGrpSpPr>
        <p:grpSpPr>
          <a:xfrm>
            <a:off x="609600" y="533400"/>
            <a:ext cx="303213" cy="303213"/>
            <a:chOff x="703" y="300"/>
            <a:chExt cx="181" cy="181"/>
          </a:xfrm>
        </p:grpSpPr>
        <p:sp>
          <p:nvSpPr>
            <p:cNvPr id="243" name="Google Shape;243;p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4" name="Google Shape;244;p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5" name="Google Shape;245;p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6" name="Google Shape;246;p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7" name="Google Shape;247;p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8" name="Google Shape;248;p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descr="C:\Users\Jubayer Al Mahmud\Desktop\Capture.PNG" id="249" name="Google Shape;249;p8"/>
          <p:cNvPicPr preferRelativeResize="0"/>
          <p:nvPr/>
        </p:nvPicPr>
        <p:blipFill rotWithShape="1">
          <a:blip r:embed="rId3">
            <a:alphaModFix/>
          </a:blip>
          <a:srcRect b="0" l="0" r="0" t="0"/>
          <a:stretch/>
        </p:blipFill>
        <p:spPr>
          <a:xfrm>
            <a:off x="438255" y="2438400"/>
            <a:ext cx="8400945" cy="28194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mph" presetID="8" presetSubtype="0">
                                  <p:stCondLst>
                                    <p:cond delay="500"/>
                                  </p:stCondLst>
                                  <p:childTnLst>
                                    <p:animRot by="-21600000">
                                      <p:cBhvr>
                                        <p:cTn dur="500" fill="hold"/>
                                        <p:tgtEl>
                                          <p:spTgt spid="24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9"/>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KNN Example</a:t>
            </a:r>
            <a:endParaRPr sz="4000">
              <a:solidFill>
                <a:schemeClr val="accent6"/>
              </a:solidFill>
            </a:endParaRPr>
          </a:p>
        </p:txBody>
      </p:sp>
      <p:sp>
        <p:nvSpPr>
          <p:cNvPr id="256" name="Google Shape;256;p9"/>
          <p:cNvSpPr txBox="1"/>
          <p:nvPr>
            <p:ph idx="1" type="body"/>
          </p:nvPr>
        </p:nvSpPr>
        <p:spPr>
          <a:xfrm>
            <a:off x="304800" y="1295399"/>
            <a:ext cx="8534400" cy="4495801"/>
          </a:xfrm>
          <a:prstGeom prst="rect">
            <a:avLst/>
          </a:prstGeom>
          <a:noFill/>
          <a:ln>
            <a:noFill/>
          </a:ln>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SzPts val="2600"/>
              <a:buFont typeface="Arial"/>
              <a:buChar char="•"/>
            </a:pPr>
            <a:r>
              <a:rPr lang="en-US" sz="2600" u="sng">
                <a:solidFill>
                  <a:srgbClr val="024069"/>
                </a:solidFill>
              </a:rPr>
              <a:t>Step 1 : Initialize and Define k.</a:t>
            </a:r>
            <a:endParaRPr sz="1100"/>
          </a:p>
          <a:p>
            <a:pPr indent="-285750" lvl="1" marL="742950" rtl="0" algn="l">
              <a:lnSpc>
                <a:spcPct val="100000"/>
              </a:lnSpc>
              <a:spcBef>
                <a:spcPts val="480"/>
              </a:spcBef>
              <a:spcAft>
                <a:spcPts val="0"/>
              </a:spcAft>
              <a:buClr>
                <a:schemeClr val="dk1"/>
              </a:buClr>
              <a:buSzPts val="2400"/>
              <a:buFont typeface="Arial"/>
              <a:buChar char="–"/>
            </a:pPr>
            <a:r>
              <a:rPr lang="en-US" sz="2400"/>
              <a:t>Lets say, k = 3 (Always choose k as an odd number if the number of attributes is even to avoid a tie in the class prediction)</a:t>
            </a:r>
            <a:endParaRPr/>
          </a:p>
          <a:p>
            <a:pPr indent="-190500" lvl="0" marL="342900" rtl="0" algn="l">
              <a:lnSpc>
                <a:spcPct val="100000"/>
              </a:lnSpc>
              <a:spcBef>
                <a:spcPts val="480"/>
              </a:spcBef>
              <a:spcAft>
                <a:spcPts val="0"/>
              </a:spcAft>
              <a:buClr>
                <a:schemeClr val="dk1"/>
              </a:buClr>
              <a:buSzPts val="2400"/>
              <a:buFont typeface="Arial"/>
              <a:buNone/>
            </a:pPr>
            <a:r>
              <a:t/>
            </a:r>
            <a:endParaRPr sz="2400"/>
          </a:p>
          <a:p>
            <a:pPr indent="-330200" lvl="0" marL="342900" rtl="0" algn="l">
              <a:lnSpc>
                <a:spcPct val="100000"/>
              </a:lnSpc>
              <a:spcBef>
                <a:spcPts val="560"/>
              </a:spcBef>
              <a:spcAft>
                <a:spcPts val="0"/>
              </a:spcAft>
              <a:buSzPts val="2600"/>
              <a:buFont typeface="Arial"/>
              <a:buChar char="•"/>
            </a:pPr>
            <a:r>
              <a:rPr lang="en-US" sz="2600" u="sng">
                <a:solidFill>
                  <a:srgbClr val="024069"/>
                </a:solidFill>
              </a:rPr>
              <a:t>Step 2 : Compute the distance between input sample and training sample</a:t>
            </a:r>
            <a:endParaRPr sz="1100"/>
          </a:p>
          <a:p>
            <a:pPr indent="-285750" lvl="1" marL="742950" rtl="0" algn="l">
              <a:lnSpc>
                <a:spcPct val="100000"/>
              </a:lnSpc>
              <a:spcBef>
                <a:spcPts val="480"/>
              </a:spcBef>
              <a:spcAft>
                <a:spcPts val="0"/>
              </a:spcAft>
              <a:buClr>
                <a:schemeClr val="dk1"/>
              </a:buClr>
              <a:buSzPts val="2400"/>
              <a:buFont typeface="Arial"/>
              <a:buChar char="–"/>
            </a:pPr>
            <a:r>
              <a:rPr lang="en-US" sz="2400"/>
              <a:t>Co-ordinate of the input sample is (3,7).</a:t>
            </a:r>
            <a:endParaRPr/>
          </a:p>
          <a:p>
            <a:pPr indent="-285750" lvl="1" marL="742950" rtl="0" algn="l">
              <a:lnSpc>
                <a:spcPct val="100000"/>
              </a:lnSpc>
              <a:spcBef>
                <a:spcPts val="480"/>
              </a:spcBef>
              <a:spcAft>
                <a:spcPts val="0"/>
              </a:spcAft>
              <a:buClr>
                <a:schemeClr val="dk1"/>
              </a:buClr>
              <a:buSzPts val="2400"/>
              <a:buFont typeface="Arial"/>
              <a:buChar char="–"/>
            </a:pPr>
            <a:r>
              <a:rPr lang="en-US" sz="2400"/>
              <a:t>Instead of calculating the Euclidean distance, we calculate the Squared Euclidean distance.</a:t>
            </a:r>
            <a:endParaRPr b="1" sz="2400"/>
          </a:p>
        </p:txBody>
      </p:sp>
      <p:grpSp>
        <p:nvGrpSpPr>
          <p:cNvPr id="257" name="Google Shape;257;p9"/>
          <p:cNvGrpSpPr/>
          <p:nvPr/>
        </p:nvGrpSpPr>
        <p:grpSpPr>
          <a:xfrm>
            <a:off x="609600" y="533400"/>
            <a:ext cx="303213" cy="303213"/>
            <a:chOff x="703" y="300"/>
            <a:chExt cx="181" cy="181"/>
          </a:xfrm>
        </p:grpSpPr>
        <p:sp>
          <p:nvSpPr>
            <p:cNvPr id="258" name="Google Shape;258;p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9" name="Google Shape;259;p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0" name="Google Shape;260;p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1" name="Google Shape;261;p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2" name="Google Shape;262;p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3" name="Google Shape;263;p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64" name="Google Shape;264;p9"/>
          <p:cNvGrpSpPr/>
          <p:nvPr/>
        </p:nvGrpSpPr>
        <p:grpSpPr>
          <a:xfrm>
            <a:off x="8494713" y="5792788"/>
            <a:ext cx="554037" cy="552450"/>
            <a:chOff x="5369" y="3667"/>
            <a:chExt cx="349" cy="348"/>
          </a:xfrm>
        </p:grpSpPr>
        <p:sp>
          <p:nvSpPr>
            <p:cNvPr id="265" name="Google Shape;265;p9"/>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6" name="Google Shape;266;p9"/>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7" name="Google Shape;267;p9"/>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8" name="Google Shape;268;p9"/>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9" name="Google Shape;269;p9"/>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0" name="Google Shape;270;p9"/>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71" name="Google Shape;271;p9"/>
          <p:cNvGrpSpPr/>
          <p:nvPr/>
        </p:nvGrpSpPr>
        <p:grpSpPr>
          <a:xfrm>
            <a:off x="8113713" y="6221413"/>
            <a:ext cx="554037" cy="552450"/>
            <a:chOff x="5129" y="3937"/>
            <a:chExt cx="349" cy="348"/>
          </a:xfrm>
        </p:grpSpPr>
        <p:sp>
          <p:nvSpPr>
            <p:cNvPr id="272" name="Google Shape;272;p9"/>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3" name="Google Shape;273;p9"/>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4" name="Google Shape;274;p9"/>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5" name="Google Shape;275;p9"/>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6" name="Google Shape;276;p9"/>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7" name="Google Shape;277;p9"/>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78" name="Google Shape;278;p9"/>
          <p:cNvGrpSpPr/>
          <p:nvPr/>
        </p:nvGrpSpPr>
        <p:grpSpPr>
          <a:xfrm>
            <a:off x="8089900" y="5821363"/>
            <a:ext cx="390525" cy="390525"/>
            <a:chOff x="5114" y="3685"/>
            <a:chExt cx="246" cy="246"/>
          </a:xfrm>
        </p:grpSpPr>
        <p:sp>
          <p:nvSpPr>
            <p:cNvPr id="279" name="Google Shape;279;p9"/>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0" name="Google Shape;280;p9"/>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1" name="Google Shape;281;p9"/>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2" name="Google Shape;282;p9"/>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3" name="Google Shape;283;p9"/>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4" name="Google Shape;284;p9"/>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85" name="Google Shape;285;p9"/>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par>
                                <p:cTn fill="hold" nodeType="withEffect" presetClass="emph" presetID="8" presetSubtype="0">
                                  <p:stCondLst>
                                    <p:cond delay="0"/>
                                  </p:stCondLst>
                                  <p:childTnLst>
                                    <p:animRot by="-21600000">
                                      <p:cBhvr>
                                        <p:cTn dur="500" fill="hold"/>
                                        <p:tgtEl>
                                          <p:spTgt spid="264"/>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271"/>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278"/>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25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0"/>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KNN Example</a:t>
            </a:r>
            <a:endParaRPr sz="4000">
              <a:solidFill>
                <a:schemeClr val="accent6"/>
              </a:solidFill>
            </a:endParaRPr>
          </a:p>
        </p:txBody>
      </p:sp>
      <p:sp>
        <p:nvSpPr>
          <p:cNvPr id="292" name="Google Shape;292;p10"/>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68300" lvl="0" marL="342900" rtl="0" algn="just">
              <a:lnSpc>
                <a:spcPct val="100000"/>
              </a:lnSpc>
              <a:spcBef>
                <a:spcPts val="0"/>
              </a:spcBef>
              <a:spcAft>
                <a:spcPts val="0"/>
              </a:spcAft>
              <a:buSzPts val="2800"/>
              <a:buFont typeface="Arial"/>
              <a:buChar char="•"/>
            </a:pPr>
            <a:r>
              <a:rPr lang="en-US" sz="2400" u="sng">
                <a:solidFill>
                  <a:srgbClr val="024069"/>
                </a:solidFill>
              </a:rPr>
              <a:t>Step 2 (Continued)</a:t>
            </a:r>
            <a:endParaRPr/>
          </a:p>
        </p:txBody>
      </p:sp>
      <p:grpSp>
        <p:nvGrpSpPr>
          <p:cNvPr id="293" name="Google Shape;293;p10"/>
          <p:cNvGrpSpPr/>
          <p:nvPr/>
        </p:nvGrpSpPr>
        <p:grpSpPr>
          <a:xfrm>
            <a:off x="609600" y="533400"/>
            <a:ext cx="303213" cy="303213"/>
            <a:chOff x="703" y="300"/>
            <a:chExt cx="181" cy="181"/>
          </a:xfrm>
        </p:grpSpPr>
        <p:sp>
          <p:nvSpPr>
            <p:cNvPr id="294" name="Google Shape;294;p1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5" name="Google Shape;295;p1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6" name="Google Shape;296;p1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7" name="Google Shape;297;p1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8" name="Google Shape;298;p1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9" name="Google Shape;299;p1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00" name="Google Shape;300;p10"/>
          <p:cNvGrpSpPr/>
          <p:nvPr/>
        </p:nvGrpSpPr>
        <p:grpSpPr>
          <a:xfrm>
            <a:off x="8494713" y="5792788"/>
            <a:ext cx="554037" cy="552450"/>
            <a:chOff x="5369" y="3667"/>
            <a:chExt cx="349" cy="348"/>
          </a:xfrm>
        </p:grpSpPr>
        <p:sp>
          <p:nvSpPr>
            <p:cNvPr id="301" name="Google Shape;301;p10"/>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2" name="Google Shape;302;p10"/>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3" name="Google Shape;303;p10"/>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4" name="Google Shape;304;p10"/>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5" name="Google Shape;305;p10"/>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6" name="Google Shape;306;p10"/>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07" name="Google Shape;307;p10"/>
          <p:cNvGrpSpPr/>
          <p:nvPr/>
        </p:nvGrpSpPr>
        <p:grpSpPr>
          <a:xfrm>
            <a:off x="8113713" y="6221413"/>
            <a:ext cx="554037" cy="552450"/>
            <a:chOff x="5129" y="3937"/>
            <a:chExt cx="349" cy="348"/>
          </a:xfrm>
        </p:grpSpPr>
        <p:sp>
          <p:nvSpPr>
            <p:cNvPr id="308" name="Google Shape;308;p10"/>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9" name="Google Shape;309;p10"/>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0" name="Google Shape;310;p10"/>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1" name="Google Shape;311;p10"/>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2" name="Google Shape;312;p10"/>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3" name="Google Shape;313;p10"/>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14" name="Google Shape;314;p10"/>
          <p:cNvGrpSpPr/>
          <p:nvPr/>
        </p:nvGrpSpPr>
        <p:grpSpPr>
          <a:xfrm>
            <a:off x="8089900" y="5821363"/>
            <a:ext cx="390525" cy="390525"/>
            <a:chOff x="5114" y="3685"/>
            <a:chExt cx="246" cy="246"/>
          </a:xfrm>
        </p:grpSpPr>
        <p:sp>
          <p:nvSpPr>
            <p:cNvPr id="315" name="Google Shape;315;p10"/>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6" name="Google Shape;316;p10"/>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7" name="Google Shape;317;p10"/>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8" name="Google Shape;318;p10"/>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9" name="Google Shape;319;p10"/>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0" name="Google Shape;320;p10"/>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21" name="Google Shape;321;p10"/>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ubayer Al Mahmud\Desktop\Capture.PNG" id="322" name="Google Shape;322;p10"/>
          <p:cNvPicPr preferRelativeResize="0"/>
          <p:nvPr/>
        </p:nvPicPr>
        <p:blipFill rotWithShape="1">
          <a:blip r:embed="rId3">
            <a:alphaModFix/>
          </a:blip>
          <a:srcRect b="0" l="0" r="0" t="0"/>
          <a:stretch/>
        </p:blipFill>
        <p:spPr>
          <a:xfrm>
            <a:off x="609600" y="1905000"/>
            <a:ext cx="8153400" cy="2505756"/>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par>
                                <p:cTn fill="hold" nodeType="withEffect" presetClass="emph" presetID="8" presetSubtype="0">
                                  <p:stCondLst>
                                    <p:cond delay="0"/>
                                  </p:stCondLst>
                                  <p:childTnLst>
                                    <p:animRot by="-21600000">
                                      <p:cBhvr>
                                        <p:cTn dur="500" fill="hold"/>
                                        <p:tgtEl>
                                          <p:spTgt spid="300"/>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307"/>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314"/>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29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1"/>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KNN Example</a:t>
            </a:r>
            <a:endParaRPr sz="4000">
              <a:solidFill>
                <a:schemeClr val="accent6"/>
              </a:solidFill>
            </a:endParaRPr>
          </a:p>
        </p:txBody>
      </p:sp>
      <p:sp>
        <p:nvSpPr>
          <p:cNvPr id="329" name="Google Shape;329;p11"/>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68300" lvl="0" marL="342900" rtl="0" algn="l">
              <a:lnSpc>
                <a:spcPct val="100000"/>
              </a:lnSpc>
              <a:spcBef>
                <a:spcPts val="0"/>
              </a:spcBef>
              <a:spcAft>
                <a:spcPts val="0"/>
              </a:spcAft>
              <a:buSzPts val="2800"/>
              <a:buFont typeface="Arial"/>
              <a:buChar char="•"/>
            </a:pPr>
            <a:r>
              <a:rPr lang="en-US" sz="2400" u="sng">
                <a:solidFill>
                  <a:srgbClr val="024069"/>
                </a:solidFill>
              </a:rPr>
              <a:t>Step 3 : Sort the distance and determine the nearest neighbours based on the minimum distance :</a:t>
            </a:r>
            <a:endParaRPr/>
          </a:p>
          <a:p>
            <a:pPr indent="-190500" lvl="0" marL="342900" rtl="0" algn="l">
              <a:lnSpc>
                <a:spcPct val="100000"/>
              </a:lnSpc>
              <a:spcBef>
                <a:spcPts val="480"/>
              </a:spcBef>
              <a:spcAft>
                <a:spcPts val="0"/>
              </a:spcAft>
              <a:buClr>
                <a:schemeClr val="dk1"/>
              </a:buClr>
              <a:buSzPts val="2400"/>
              <a:buFont typeface="Arial"/>
              <a:buNone/>
            </a:pPr>
            <a:r>
              <a:t/>
            </a:r>
            <a:endParaRPr sz="2400">
              <a:solidFill>
                <a:srgbClr val="024069"/>
              </a:solidFill>
            </a:endParaRPr>
          </a:p>
        </p:txBody>
      </p:sp>
      <p:grpSp>
        <p:nvGrpSpPr>
          <p:cNvPr id="330" name="Google Shape;330;p11"/>
          <p:cNvGrpSpPr/>
          <p:nvPr/>
        </p:nvGrpSpPr>
        <p:grpSpPr>
          <a:xfrm>
            <a:off x="609600" y="533400"/>
            <a:ext cx="303213" cy="303213"/>
            <a:chOff x="703" y="300"/>
            <a:chExt cx="181" cy="181"/>
          </a:xfrm>
        </p:grpSpPr>
        <p:sp>
          <p:nvSpPr>
            <p:cNvPr id="331" name="Google Shape;331;p1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2" name="Google Shape;332;p1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3" name="Google Shape;333;p1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4" name="Google Shape;334;p1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5" name="Google Shape;335;p1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6" name="Google Shape;336;p1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37" name="Google Shape;337;p11"/>
          <p:cNvGrpSpPr/>
          <p:nvPr/>
        </p:nvGrpSpPr>
        <p:grpSpPr>
          <a:xfrm>
            <a:off x="8494713" y="5792788"/>
            <a:ext cx="554037" cy="552450"/>
            <a:chOff x="5369" y="3667"/>
            <a:chExt cx="349" cy="348"/>
          </a:xfrm>
        </p:grpSpPr>
        <p:sp>
          <p:nvSpPr>
            <p:cNvPr id="338" name="Google Shape;338;p11"/>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9" name="Google Shape;339;p11"/>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0" name="Google Shape;340;p11"/>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1" name="Google Shape;341;p11"/>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2" name="Google Shape;342;p11"/>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3" name="Google Shape;343;p11"/>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44" name="Google Shape;344;p11"/>
          <p:cNvGrpSpPr/>
          <p:nvPr/>
        </p:nvGrpSpPr>
        <p:grpSpPr>
          <a:xfrm>
            <a:off x="8113713" y="6221413"/>
            <a:ext cx="554037" cy="552450"/>
            <a:chOff x="5129" y="3937"/>
            <a:chExt cx="349" cy="348"/>
          </a:xfrm>
        </p:grpSpPr>
        <p:sp>
          <p:nvSpPr>
            <p:cNvPr id="345" name="Google Shape;345;p11"/>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6" name="Google Shape;346;p11"/>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7" name="Google Shape;347;p11"/>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8" name="Google Shape;348;p11"/>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9" name="Google Shape;349;p11"/>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0" name="Google Shape;350;p11"/>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51" name="Google Shape;351;p11"/>
          <p:cNvGrpSpPr/>
          <p:nvPr/>
        </p:nvGrpSpPr>
        <p:grpSpPr>
          <a:xfrm>
            <a:off x="8089900" y="5821363"/>
            <a:ext cx="390525" cy="390525"/>
            <a:chOff x="5114" y="3685"/>
            <a:chExt cx="246" cy="246"/>
          </a:xfrm>
        </p:grpSpPr>
        <p:sp>
          <p:nvSpPr>
            <p:cNvPr id="352" name="Google Shape;352;p11"/>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3" name="Google Shape;353;p11"/>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4" name="Google Shape;354;p11"/>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5" name="Google Shape;355;p11"/>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6" name="Google Shape;356;p11"/>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7" name="Google Shape;357;p11"/>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8" name="Google Shape;358;p11"/>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ubayer Al Mahmud\Desktop\Capture.PNG" id="359" name="Google Shape;359;p11"/>
          <p:cNvPicPr preferRelativeResize="0"/>
          <p:nvPr/>
        </p:nvPicPr>
        <p:blipFill rotWithShape="1">
          <a:blip r:embed="rId3">
            <a:alphaModFix/>
          </a:blip>
          <a:srcRect b="0" l="0" r="0" t="0"/>
          <a:stretch/>
        </p:blipFill>
        <p:spPr>
          <a:xfrm>
            <a:off x="381000" y="2362200"/>
            <a:ext cx="8427593" cy="28194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par>
                                <p:cTn fill="hold" nodeType="withEffect" presetClass="emph" presetID="8" presetSubtype="0">
                                  <p:stCondLst>
                                    <p:cond delay="0"/>
                                  </p:stCondLst>
                                  <p:childTnLst>
                                    <p:animRot by="-21600000">
                                      <p:cBhvr>
                                        <p:cTn dur="500" fill="hold"/>
                                        <p:tgtEl>
                                          <p:spTgt spid="337"/>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344"/>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351"/>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33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2"/>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KNN Example</a:t>
            </a:r>
            <a:endParaRPr sz="4000">
              <a:solidFill>
                <a:schemeClr val="accent6"/>
              </a:solidFill>
            </a:endParaRPr>
          </a:p>
        </p:txBody>
      </p:sp>
      <p:sp>
        <p:nvSpPr>
          <p:cNvPr id="366" name="Google Shape;366;p12"/>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800"/>
              <a:buFont typeface="Arial"/>
              <a:buChar char="•"/>
            </a:pPr>
            <a:r>
              <a:rPr lang="en-US" sz="2800" u="sng">
                <a:solidFill>
                  <a:srgbClr val="024069"/>
                </a:solidFill>
              </a:rPr>
              <a:t>Step 4 : Take 3-Nearest Neighbors:</a:t>
            </a:r>
            <a:endParaRPr/>
          </a:p>
          <a:p>
            <a:pPr indent="-368300" lvl="0" marL="342900" rtl="0" algn="l">
              <a:lnSpc>
                <a:spcPct val="100000"/>
              </a:lnSpc>
              <a:spcBef>
                <a:spcPts val="480"/>
              </a:spcBef>
              <a:spcAft>
                <a:spcPts val="0"/>
              </a:spcAft>
              <a:buSzPts val="2800"/>
              <a:buFont typeface="Arial"/>
              <a:buChar char="•"/>
            </a:pPr>
            <a:r>
              <a:rPr lang="en-US" sz="2400"/>
              <a:t>Gather the category Y of the nearest neighbors.</a:t>
            </a:r>
            <a:endParaRPr sz="2400">
              <a:solidFill>
                <a:srgbClr val="024069"/>
              </a:solidFill>
            </a:endParaRPr>
          </a:p>
        </p:txBody>
      </p:sp>
      <p:grpSp>
        <p:nvGrpSpPr>
          <p:cNvPr id="367" name="Google Shape;367;p12"/>
          <p:cNvGrpSpPr/>
          <p:nvPr/>
        </p:nvGrpSpPr>
        <p:grpSpPr>
          <a:xfrm>
            <a:off x="609600" y="533400"/>
            <a:ext cx="303213" cy="303213"/>
            <a:chOff x="703" y="300"/>
            <a:chExt cx="181" cy="181"/>
          </a:xfrm>
        </p:grpSpPr>
        <p:sp>
          <p:nvSpPr>
            <p:cNvPr id="368" name="Google Shape;368;p1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9" name="Google Shape;369;p1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0" name="Google Shape;370;p1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1" name="Google Shape;371;p1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2" name="Google Shape;372;p1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3" name="Google Shape;373;p1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74" name="Google Shape;374;p12"/>
          <p:cNvGrpSpPr/>
          <p:nvPr/>
        </p:nvGrpSpPr>
        <p:grpSpPr>
          <a:xfrm>
            <a:off x="8494713" y="5792788"/>
            <a:ext cx="554037" cy="552450"/>
            <a:chOff x="5369" y="3667"/>
            <a:chExt cx="349" cy="348"/>
          </a:xfrm>
        </p:grpSpPr>
        <p:sp>
          <p:nvSpPr>
            <p:cNvPr id="375" name="Google Shape;375;p12"/>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6" name="Google Shape;376;p12"/>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7" name="Google Shape;377;p12"/>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8" name="Google Shape;378;p12"/>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9" name="Google Shape;379;p12"/>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0" name="Google Shape;380;p12"/>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81" name="Google Shape;381;p12"/>
          <p:cNvGrpSpPr/>
          <p:nvPr/>
        </p:nvGrpSpPr>
        <p:grpSpPr>
          <a:xfrm>
            <a:off x="8113713" y="6221413"/>
            <a:ext cx="554037" cy="552450"/>
            <a:chOff x="5129" y="3937"/>
            <a:chExt cx="349" cy="348"/>
          </a:xfrm>
        </p:grpSpPr>
        <p:sp>
          <p:nvSpPr>
            <p:cNvPr id="382" name="Google Shape;382;p12"/>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3" name="Google Shape;383;p12"/>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4" name="Google Shape;384;p12"/>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5" name="Google Shape;385;p12"/>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6" name="Google Shape;386;p12"/>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7" name="Google Shape;387;p12"/>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88" name="Google Shape;388;p12"/>
          <p:cNvGrpSpPr/>
          <p:nvPr/>
        </p:nvGrpSpPr>
        <p:grpSpPr>
          <a:xfrm>
            <a:off x="8089900" y="5821363"/>
            <a:ext cx="390525" cy="390525"/>
            <a:chOff x="5114" y="3685"/>
            <a:chExt cx="246" cy="246"/>
          </a:xfrm>
        </p:grpSpPr>
        <p:sp>
          <p:nvSpPr>
            <p:cNvPr id="389" name="Google Shape;389;p12"/>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0" name="Google Shape;390;p12"/>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1" name="Google Shape;391;p12"/>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2" name="Google Shape;392;p12"/>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3" name="Google Shape;393;p12"/>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4" name="Google Shape;394;p12"/>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95" name="Google Shape;395;p12"/>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ubayer Al Mahmud\Desktop\Capture.PNG" id="396" name="Google Shape;396;p12"/>
          <p:cNvPicPr preferRelativeResize="0"/>
          <p:nvPr/>
        </p:nvPicPr>
        <p:blipFill rotWithShape="1">
          <a:blip r:embed="rId3">
            <a:alphaModFix/>
          </a:blip>
          <a:srcRect b="0" l="0" r="0" t="0"/>
          <a:stretch/>
        </p:blipFill>
        <p:spPr>
          <a:xfrm>
            <a:off x="285281" y="2400300"/>
            <a:ext cx="8477719" cy="30861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par>
                                <p:cTn fill="hold" nodeType="withEffect" presetClass="emph" presetID="8" presetSubtype="0">
                                  <p:stCondLst>
                                    <p:cond delay="0"/>
                                  </p:stCondLst>
                                  <p:childTnLst>
                                    <p:animRot by="-21600000">
                                      <p:cBhvr>
                                        <p:cTn dur="500" fill="hold"/>
                                        <p:tgtEl>
                                          <p:spTgt spid="374"/>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381"/>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388"/>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36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3"/>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KNN Example</a:t>
            </a:r>
            <a:endParaRPr sz="4000">
              <a:solidFill>
                <a:schemeClr val="accent6"/>
              </a:solidFill>
            </a:endParaRPr>
          </a:p>
        </p:txBody>
      </p:sp>
      <p:sp>
        <p:nvSpPr>
          <p:cNvPr id="403" name="Google Shape;403;p13"/>
          <p:cNvSpPr txBox="1"/>
          <p:nvPr>
            <p:ph idx="1" type="body"/>
          </p:nvPr>
        </p:nvSpPr>
        <p:spPr>
          <a:xfrm>
            <a:off x="304800" y="1295399"/>
            <a:ext cx="8534400" cy="4495801"/>
          </a:xfrm>
          <a:prstGeom prst="rect">
            <a:avLst/>
          </a:prstGeom>
          <a:noFill/>
          <a:ln>
            <a:noFill/>
          </a:ln>
        </p:spPr>
        <p:txBody>
          <a:bodyPr anchorCtr="0" anchor="t" bIns="45700" lIns="91425" spcFirstLastPara="1" rIns="91425" wrap="square" tIns="45700">
            <a:noAutofit/>
          </a:bodyPr>
          <a:lstStyle/>
          <a:p>
            <a:pPr indent="-317500" lvl="0" marL="342900" rtl="0" algn="l">
              <a:lnSpc>
                <a:spcPct val="100000"/>
              </a:lnSpc>
              <a:spcBef>
                <a:spcPts val="0"/>
              </a:spcBef>
              <a:spcAft>
                <a:spcPts val="0"/>
              </a:spcAft>
              <a:buSzPts val="2400"/>
              <a:buChar char="•"/>
            </a:pPr>
            <a:r>
              <a:rPr lang="en-US" sz="2800" u="sng">
                <a:solidFill>
                  <a:srgbClr val="024069"/>
                </a:solidFill>
              </a:rPr>
              <a:t>Step 5 : Apply simple majority</a:t>
            </a:r>
            <a:endParaRPr/>
          </a:p>
          <a:p>
            <a:pPr indent="-342900" lvl="0" marL="342900" rtl="0" algn="l">
              <a:lnSpc>
                <a:spcPct val="100000"/>
              </a:lnSpc>
              <a:spcBef>
                <a:spcPts val="480"/>
              </a:spcBef>
              <a:spcAft>
                <a:spcPts val="0"/>
              </a:spcAft>
              <a:buSzPts val="2400"/>
              <a:buChar char="•"/>
            </a:pPr>
            <a:r>
              <a:rPr lang="en-US" sz="2400"/>
              <a:t>Use simple majority of the category of the nearest neighbors as the prediction value of the query instance.</a:t>
            </a:r>
            <a:endParaRPr/>
          </a:p>
          <a:p>
            <a:pPr indent="-342900" lvl="0" marL="342900" rtl="0" algn="l">
              <a:lnSpc>
                <a:spcPct val="100000"/>
              </a:lnSpc>
              <a:spcBef>
                <a:spcPts val="480"/>
              </a:spcBef>
              <a:spcAft>
                <a:spcPts val="0"/>
              </a:spcAft>
              <a:buSzPts val="2400"/>
              <a:buChar char="•"/>
            </a:pPr>
            <a:r>
              <a:rPr lang="en-US" sz="2400"/>
              <a:t>We have 2 “good” and 1 “bad”. </a:t>
            </a:r>
            <a:endParaRPr/>
          </a:p>
          <a:p>
            <a:pPr indent="-342900" lvl="0" marL="342900" rtl="0" algn="l">
              <a:lnSpc>
                <a:spcPct val="100000"/>
              </a:lnSpc>
              <a:spcBef>
                <a:spcPts val="480"/>
              </a:spcBef>
              <a:spcAft>
                <a:spcPts val="0"/>
              </a:spcAft>
              <a:buSzPts val="2400"/>
              <a:buChar char="•"/>
            </a:pPr>
            <a:r>
              <a:rPr lang="en-US" sz="2400"/>
              <a:t>Thus we conclude that the new paper tissue that passes the laboratory test with X1 = 3 and X2 = 7 is included in the “good” category.</a:t>
            </a:r>
            <a:endParaRPr b="1" sz="2400"/>
          </a:p>
        </p:txBody>
      </p:sp>
      <p:grpSp>
        <p:nvGrpSpPr>
          <p:cNvPr id="404" name="Google Shape;404;p13"/>
          <p:cNvGrpSpPr/>
          <p:nvPr/>
        </p:nvGrpSpPr>
        <p:grpSpPr>
          <a:xfrm>
            <a:off x="609600" y="533400"/>
            <a:ext cx="303213" cy="303213"/>
            <a:chOff x="703" y="300"/>
            <a:chExt cx="181" cy="181"/>
          </a:xfrm>
        </p:grpSpPr>
        <p:sp>
          <p:nvSpPr>
            <p:cNvPr id="405" name="Google Shape;405;p1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6" name="Google Shape;406;p1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7" name="Google Shape;407;p1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8" name="Google Shape;408;p1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9" name="Google Shape;409;p1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0" name="Google Shape;410;p1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11" name="Google Shape;411;p13"/>
          <p:cNvGrpSpPr/>
          <p:nvPr/>
        </p:nvGrpSpPr>
        <p:grpSpPr>
          <a:xfrm>
            <a:off x="8494713" y="5792788"/>
            <a:ext cx="554037" cy="552450"/>
            <a:chOff x="5369" y="3667"/>
            <a:chExt cx="349" cy="348"/>
          </a:xfrm>
        </p:grpSpPr>
        <p:sp>
          <p:nvSpPr>
            <p:cNvPr id="412" name="Google Shape;412;p13"/>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3" name="Google Shape;413;p13"/>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4" name="Google Shape;414;p13"/>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5" name="Google Shape;415;p13"/>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6" name="Google Shape;416;p13"/>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7" name="Google Shape;417;p13"/>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18" name="Google Shape;418;p13"/>
          <p:cNvGrpSpPr/>
          <p:nvPr/>
        </p:nvGrpSpPr>
        <p:grpSpPr>
          <a:xfrm>
            <a:off x="8113713" y="6221413"/>
            <a:ext cx="554037" cy="552450"/>
            <a:chOff x="5129" y="3937"/>
            <a:chExt cx="349" cy="348"/>
          </a:xfrm>
        </p:grpSpPr>
        <p:sp>
          <p:nvSpPr>
            <p:cNvPr id="419" name="Google Shape;419;p13"/>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0" name="Google Shape;420;p13"/>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1" name="Google Shape;421;p13"/>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2" name="Google Shape;422;p13"/>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3" name="Google Shape;423;p13"/>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4" name="Google Shape;424;p13"/>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25" name="Google Shape;425;p13"/>
          <p:cNvGrpSpPr/>
          <p:nvPr/>
        </p:nvGrpSpPr>
        <p:grpSpPr>
          <a:xfrm>
            <a:off x="8089900" y="5821363"/>
            <a:ext cx="390525" cy="390525"/>
            <a:chOff x="5114" y="3685"/>
            <a:chExt cx="246" cy="246"/>
          </a:xfrm>
        </p:grpSpPr>
        <p:sp>
          <p:nvSpPr>
            <p:cNvPr id="426" name="Google Shape;426;p13"/>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7" name="Google Shape;427;p13"/>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8" name="Google Shape;428;p13"/>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9" name="Google Shape;429;p13"/>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0" name="Google Shape;430;p13"/>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1" name="Google Shape;431;p13"/>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32" name="Google Shape;432;p13"/>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par>
                                <p:cTn fill="hold" nodeType="withEffect" presetClass="emph" presetID="8" presetSubtype="0">
                                  <p:stCondLst>
                                    <p:cond delay="0"/>
                                  </p:stCondLst>
                                  <p:childTnLst>
                                    <p:animRot by="-21600000">
                                      <p:cBhvr>
                                        <p:cTn dur="500" fill="hold"/>
                                        <p:tgtEl>
                                          <p:spTgt spid="411"/>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418"/>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425"/>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40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21394cac4b8_0_73"/>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solidFill>
                  <a:schemeClr val="accent6"/>
                </a:solidFill>
              </a:rPr>
              <a:t>How to determine a good value for k?</a:t>
            </a:r>
            <a:endParaRPr sz="3200">
              <a:solidFill>
                <a:schemeClr val="accent6"/>
              </a:solidFill>
            </a:endParaRPr>
          </a:p>
        </p:txBody>
      </p:sp>
      <p:sp>
        <p:nvSpPr>
          <p:cNvPr id="439" name="Google Shape;439;g21394cac4b8_0_73"/>
          <p:cNvSpPr txBox="1"/>
          <p:nvPr>
            <p:ph idx="1" type="body"/>
          </p:nvPr>
        </p:nvSpPr>
        <p:spPr>
          <a:xfrm>
            <a:off x="457200" y="1295400"/>
            <a:ext cx="8229600" cy="5049600"/>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360"/>
              </a:spcBef>
              <a:spcAft>
                <a:spcPts val="0"/>
              </a:spcAft>
              <a:buSzPts val="2400"/>
              <a:buChar char="●"/>
            </a:pPr>
            <a:r>
              <a:rPr lang="en-US" sz="2400"/>
              <a:t>There is no particular way to determine the best value for "K", so we need to try some values to find the best out of them. The most preferred value for K is 5.</a:t>
            </a:r>
            <a:endParaRPr sz="2400"/>
          </a:p>
          <a:p>
            <a:pPr indent="-381000" lvl="0" marL="457200" rtl="0" algn="l">
              <a:lnSpc>
                <a:spcPct val="100000"/>
              </a:lnSpc>
              <a:spcBef>
                <a:spcPts val="360"/>
              </a:spcBef>
              <a:spcAft>
                <a:spcPts val="0"/>
              </a:spcAft>
              <a:buSzPts val="2400"/>
              <a:buChar char="●"/>
            </a:pPr>
            <a:r>
              <a:rPr lang="en-US" sz="2400"/>
              <a:t>A very low value for K such as K=1 or K=2, can be noisy and lead to the effects of outliers in the model.</a:t>
            </a:r>
            <a:endParaRPr sz="2400"/>
          </a:p>
          <a:p>
            <a:pPr indent="-381000" lvl="0" marL="457200" rtl="0" algn="l">
              <a:lnSpc>
                <a:spcPct val="100000"/>
              </a:lnSpc>
              <a:spcBef>
                <a:spcPts val="360"/>
              </a:spcBef>
              <a:spcAft>
                <a:spcPts val="0"/>
              </a:spcAft>
              <a:buSzPts val="2400"/>
              <a:buChar char="●"/>
            </a:pPr>
            <a:r>
              <a:rPr lang="en-US" sz="2400"/>
              <a:t>Large values for K are good, but it may find some difficulties.</a:t>
            </a:r>
            <a:endParaRPr sz="2400"/>
          </a:p>
          <a:p>
            <a:pPr indent="-381000" lvl="0" marL="457200" rtl="0" algn="l">
              <a:lnSpc>
                <a:spcPct val="100000"/>
              </a:lnSpc>
              <a:spcBef>
                <a:spcPts val="360"/>
              </a:spcBef>
              <a:spcAft>
                <a:spcPts val="0"/>
              </a:spcAft>
              <a:buSzPts val="2400"/>
              <a:buChar char="●"/>
            </a:pPr>
            <a:r>
              <a:rPr lang="en-US" sz="2400"/>
              <a:t>we use a test set to estimate the error rate of the classifier. The k value that gives the minimum error rate may be selected.</a:t>
            </a:r>
            <a:endParaRPr sz="2400"/>
          </a:p>
          <a:p>
            <a:pPr indent="-381000" lvl="0" marL="457200" rtl="0" algn="l">
              <a:lnSpc>
                <a:spcPct val="100000"/>
              </a:lnSpc>
              <a:spcBef>
                <a:spcPts val="560"/>
              </a:spcBef>
              <a:spcAft>
                <a:spcPts val="0"/>
              </a:spcAft>
              <a:buSzPts val="2400"/>
              <a:buChar char="●"/>
            </a:pPr>
            <a:r>
              <a:rPr lang="en-US" sz="2400"/>
              <a:t>Interesting relation to find k for large sample data : </a:t>
            </a:r>
            <a:endParaRPr sz="2400"/>
          </a:p>
          <a:p>
            <a:pPr indent="-342900" lvl="0" marL="342900" rtl="0" algn="l">
              <a:lnSpc>
                <a:spcPct val="100000"/>
              </a:lnSpc>
              <a:spcBef>
                <a:spcPts val="560"/>
              </a:spcBef>
              <a:spcAft>
                <a:spcPts val="0"/>
              </a:spcAft>
              <a:buClr>
                <a:schemeClr val="dk1"/>
              </a:buClr>
              <a:buSzPts val="2800"/>
              <a:buFont typeface="Arial"/>
              <a:buNone/>
            </a:pPr>
            <a:r>
              <a:rPr b="1" lang="en-US" sz="2400"/>
              <a:t>	   k = sqrt(n)/2 </a:t>
            </a:r>
            <a:r>
              <a:rPr lang="en-US" sz="2400"/>
              <a:t>(where n is number of examples)</a:t>
            </a:r>
            <a:endParaRPr sz="2400"/>
          </a:p>
          <a:p>
            <a:pPr indent="0" lvl="0" marL="0" rtl="0" algn="l">
              <a:lnSpc>
                <a:spcPct val="100000"/>
              </a:lnSpc>
              <a:spcBef>
                <a:spcPts val="360"/>
              </a:spcBef>
              <a:spcAft>
                <a:spcPts val="0"/>
              </a:spcAft>
              <a:buClr>
                <a:schemeClr val="dk1"/>
              </a:buClr>
              <a:buSzPts val="2800"/>
              <a:buFont typeface="Arial"/>
              <a:buNone/>
            </a:pPr>
            <a:r>
              <a:t/>
            </a:r>
            <a:endParaRPr sz="2400"/>
          </a:p>
        </p:txBody>
      </p:sp>
      <p:grpSp>
        <p:nvGrpSpPr>
          <p:cNvPr id="440" name="Google Shape;440;g21394cac4b8_0_73"/>
          <p:cNvGrpSpPr/>
          <p:nvPr/>
        </p:nvGrpSpPr>
        <p:grpSpPr>
          <a:xfrm>
            <a:off x="609600" y="533400"/>
            <a:ext cx="303246" cy="303397"/>
            <a:chOff x="703" y="300"/>
            <a:chExt cx="181" cy="181"/>
          </a:xfrm>
        </p:grpSpPr>
        <p:sp>
          <p:nvSpPr>
            <p:cNvPr id="441" name="Google Shape;441;g21394cac4b8_0_7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2" name="Google Shape;442;g21394cac4b8_0_7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3" name="Google Shape;443;g21394cac4b8_0_7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4" name="Google Shape;444;g21394cac4b8_0_7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5" name="Google Shape;445;g21394cac4b8_0_7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6" name="Google Shape;446;g21394cac4b8_0_7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47" name="Google Shape;447;g21394cac4b8_0_73"/>
          <p:cNvGrpSpPr/>
          <p:nvPr/>
        </p:nvGrpSpPr>
        <p:grpSpPr>
          <a:xfrm>
            <a:off x="8494713" y="5792788"/>
            <a:ext cx="554037" cy="552212"/>
            <a:chOff x="5369" y="3667"/>
            <a:chExt cx="349" cy="348"/>
          </a:xfrm>
        </p:grpSpPr>
        <p:sp>
          <p:nvSpPr>
            <p:cNvPr id="448" name="Google Shape;448;g21394cac4b8_0_73"/>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9" name="Google Shape;449;g21394cac4b8_0_73"/>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0" name="Google Shape;450;g21394cac4b8_0_73"/>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1" name="Google Shape;451;g21394cac4b8_0_73"/>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2" name="Google Shape;452;g21394cac4b8_0_73"/>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3" name="Google Shape;453;g21394cac4b8_0_73"/>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54" name="Google Shape;454;g21394cac4b8_0_73"/>
          <p:cNvGrpSpPr/>
          <p:nvPr/>
        </p:nvGrpSpPr>
        <p:grpSpPr>
          <a:xfrm>
            <a:off x="8113713" y="6221413"/>
            <a:ext cx="554243" cy="552244"/>
            <a:chOff x="5129" y="3937"/>
            <a:chExt cx="349" cy="348"/>
          </a:xfrm>
        </p:grpSpPr>
        <p:sp>
          <p:nvSpPr>
            <p:cNvPr id="455" name="Google Shape;455;g21394cac4b8_0_73"/>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6" name="Google Shape;456;g21394cac4b8_0_73"/>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7" name="Google Shape;457;g21394cac4b8_0_73"/>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8" name="Google Shape;458;g21394cac4b8_0_73"/>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9" name="Google Shape;459;g21394cac4b8_0_73"/>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0" name="Google Shape;460;g21394cac4b8_0_73"/>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61" name="Google Shape;461;g21394cac4b8_0_73"/>
          <p:cNvGrpSpPr/>
          <p:nvPr/>
        </p:nvGrpSpPr>
        <p:grpSpPr>
          <a:xfrm>
            <a:off x="8089900" y="5821363"/>
            <a:ext cx="390684" cy="390636"/>
            <a:chOff x="5114" y="3685"/>
            <a:chExt cx="246" cy="246"/>
          </a:xfrm>
        </p:grpSpPr>
        <p:sp>
          <p:nvSpPr>
            <p:cNvPr id="462" name="Google Shape;462;g21394cac4b8_0_73"/>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3" name="Google Shape;463;g21394cac4b8_0_73"/>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4" name="Google Shape;464;g21394cac4b8_0_73"/>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5" name="Google Shape;465;g21394cac4b8_0_73"/>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6" name="Google Shape;466;g21394cac4b8_0_73"/>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7" name="Google Shape;467;g21394cac4b8_0_73"/>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68" name="Google Shape;468;g21394cac4b8_0_73"/>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par>
                                <p:cTn fill="hold" nodeType="withEffect" presetClass="emph" presetID="8" presetSubtype="0">
                                  <p:stCondLst>
                                    <p:cond delay="0"/>
                                  </p:stCondLst>
                                  <p:childTnLst>
                                    <p:animRot by="-21600000">
                                      <p:cBhvr>
                                        <p:cTn dur="500" fill="hold"/>
                                        <p:tgtEl>
                                          <p:spTgt spid="447"/>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454"/>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461"/>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44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14"/>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Advantages of KNN</a:t>
            </a:r>
            <a:endParaRPr sz="4000">
              <a:solidFill>
                <a:schemeClr val="accent6"/>
              </a:solidFill>
            </a:endParaRPr>
          </a:p>
        </p:txBody>
      </p:sp>
      <p:sp>
        <p:nvSpPr>
          <p:cNvPr id="475" name="Google Shape;475;p14"/>
          <p:cNvSpPr txBox="1"/>
          <p:nvPr>
            <p:ph idx="1" type="body"/>
          </p:nvPr>
        </p:nvSpPr>
        <p:spPr>
          <a:xfrm>
            <a:off x="304800" y="1295399"/>
            <a:ext cx="8534400" cy="4495801"/>
          </a:xfrm>
          <a:prstGeom prst="rect">
            <a:avLst/>
          </a:prstGeom>
          <a:noFill/>
          <a:ln>
            <a:noFill/>
          </a:ln>
        </p:spPr>
        <p:txBody>
          <a:bodyPr anchorCtr="0" anchor="t" bIns="45700" lIns="91425" spcFirstLastPara="1" rIns="91425" wrap="square" tIns="45700">
            <a:noAutofit/>
          </a:bodyPr>
          <a:lstStyle/>
          <a:p>
            <a:pPr indent="0" lvl="0" marL="342900" marR="25400" rtl="0" algn="l">
              <a:lnSpc>
                <a:spcPct val="156250"/>
              </a:lnSpc>
              <a:spcBef>
                <a:spcPts val="1500"/>
              </a:spcBef>
              <a:spcAft>
                <a:spcPts val="0"/>
              </a:spcAft>
              <a:buSzPts val="1800"/>
              <a:buNone/>
            </a:pPr>
            <a:r>
              <a:t/>
            </a:r>
            <a:endParaRPr sz="1200">
              <a:highlight>
                <a:srgbClr val="FFFFFF"/>
              </a:highlight>
              <a:latin typeface="Roboto"/>
              <a:ea typeface="Roboto"/>
              <a:cs typeface="Roboto"/>
              <a:sym typeface="Roboto"/>
            </a:endParaRPr>
          </a:p>
          <a:p>
            <a:pPr indent="-317500" lvl="0" marL="342900" rtl="0" algn="l">
              <a:lnSpc>
                <a:spcPct val="100000"/>
              </a:lnSpc>
              <a:spcBef>
                <a:spcPts val="1200"/>
              </a:spcBef>
              <a:spcAft>
                <a:spcPts val="0"/>
              </a:spcAft>
              <a:buSzPts val="2400"/>
              <a:buChar char="•"/>
            </a:pPr>
            <a:r>
              <a:rPr lang="en-US" sz="2800"/>
              <a:t>It is robust to the noisy training data.</a:t>
            </a:r>
            <a:endParaRPr sz="2800"/>
          </a:p>
          <a:p>
            <a:pPr indent="0" lvl="0" marL="0" rtl="0" algn="l">
              <a:lnSpc>
                <a:spcPct val="100000"/>
              </a:lnSpc>
              <a:spcBef>
                <a:spcPts val="0"/>
              </a:spcBef>
              <a:spcAft>
                <a:spcPts val="0"/>
              </a:spcAft>
              <a:buSzPts val="1800"/>
              <a:buNone/>
            </a:pPr>
            <a:r>
              <a:t/>
            </a:r>
            <a:endParaRPr sz="1200">
              <a:highlight>
                <a:srgbClr val="FFFFFF"/>
              </a:highlight>
              <a:latin typeface="Roboto"/>
              <a:ea typeface="Roboto"/>
              <a:cs typeface="Roboto"/>
              <a:sym typeface="Roboto"/>
            </a:endParaRPr>
          </a:p>
          <a:p>
            <a:pPr indent="-165100" lvl="0" marL="342900" rtl="0" algn="l">
              <a:lnSpc>
                <a:spcPct val="100000"/>
              </a:lnSpc>
              <a:spcBef>
                <a:spcPts val="560"/>
              </a:spcBef>
              <a:spcAft>
                <a:spcPts val="0"/>
              </a:spcAft>
              <a:buClr>
                <a:schemeClr val="dk1"/>
              </a:buClr>
              <a:buSzPts val="2800"/>
              <a:buFont typeface="Arial"/>
              <a:buNone/>
            </a:pPr>
            <a:r>
              <a:t/>
            </a:r>
            <a:endParaRPr sz="2800"/>
          </a:p>
          <a:p>
            <a:pPr indent="-317500" lvl="0" marL="342900" rtl="0" algn="l">
              <a:lnSpc>
                <a:spcPct val="100000"/>
              </a:lnSpc>
              <a:spcBef>
                <a:spcPts val="560"/>
              </a:spcBef>
              <a:spcAft>
                <a:spcPts val="0"/>
              </a:spcAft>
              <a:buClr>
                <a:schemeClr val="dk1"/>
              </a:buClr>
              <a:buSzPts val="2400"/>
              <a:buChar char="•"/>
            </a:pPr>
            <a:r>
              <a:rPr lang="en-US" sz="2800"/>
              <a:t>Very simple and intuitive.</a:t>
            </a:r>
            <a:endParaRPr/>
          </a:p>
          <a:p>
            <a:pPr indent="-165100" lvl="0" marL="342900" rtl="0" algn="l">
              <a:lnSpc>
                <a:spcPct val="100000"/>
              </a:lnSpc>
              <a:spcBef>
                <a:spcPts val="560"/>
              </a:spcBef>
              <a:spcAft>
                <a:spcPts val="0"/>
              </a:spcAft>
              <a:buClr>
                <a:schemeClr val="dk1"/>
              </a:buClr>
              <a:buSzPts val="2800"/>
              <a:buFont typeface="Arial"/>
              <a:buNone/>
            </a:pPr>
            <a:r>
              <a:t/>
            </a:r>
            <a:endParaRPr sz="2800"/>
          </a:p>
          <a:p>
            <a:pPr indent="-317500" lvl="0" marL="342900" rtl="0" algn="l">
              <a:lnSpc>
                <a:spcPct val="100000"/>
              </a:lnSpc>
              <a:spcBef>
                <a:spcPts val="560"/>
              </a:spcBef>
              <a:spcAft>
                <a:spcPts val="0"/>
              </a:spcAft>
              <a:buClr>
                <a:schemeClr val="dk1"/>
              </a:buClr>
              <a:buSzPts val="2400"/>
              <a:buChar char="•"/>
            </a:pPr>
            <a:r>
              <a:rPr lang="en-US" sz="2800"/>
              <a:t>Good classification if the number of samples is large enough.</a:t>
            </a:r>
            <a:endParaRPr b="1" sz="2800"/>
          </a:p>
        </p:txBody>
      </p:sp>
      <p:grpSp>
        <p:nvGrpSpPr>
          <p:cNvPr id="476" name="Google Shape;476;p14"/>
          <p:cNvGrpSpPr/>
          <p:nvPr/>
        </p:nvGrpSpPr>
        <p:grpSpPr>
          <a:xfrm>
            <a:off x="490537" y="686592"/>
            <a:ext cx="303213" cy="303213"/>
            <a:chOff x="703" y="300"/>
            <a:chExt cx="181" cy="181"/>
          </a:xfrm>
        </p:grpSpPr>
        <p:sp>
          <p:nvSpPr>
            <p:cNvPr id="477" name="Google Shape;477;p1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8" name="Google Shape;478;p1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9" name="Google Shape;479;p1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0" name="Google Shape;480;p1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1" name="Google Shape;481;p1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2" name="Google Shape;482;p1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83" name="Google Shape;483;p14"/>
          <p:cNvGrpSpPr/>
          <p:nvPr/>
        </p:nvGrpSpPr>
        <p:grpSpPr>
          <a:xfrm>
            <a:off x="8494713" y="5792788"/>
            <a:ext cx="554037" cy="552450"/>
            <a:chOff x="5369" y="3667"/>
            <a:chExt cx="349" cy="348"/>
          </a:xfrm>
        </p:grpSpPr>
        <p:sp>
          <p:nvSpPr>
            <p:cNvPr id="484" name="Google Shape;484;p14"/>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5" name="Google Shape;485;p14"/>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6" name="Google Shape;486;p14"/>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7" name="Google Shape;487;p14"/>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8" name="Google Shape;488;p14"/>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9" name="Google Shape;489;p14"/>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90" name="Google Shape;490;p14"/>
          <p:cNvGrpSpPr/>
          <p:nvPr/>
        </p:nvGrpSpPr>
        <p:grpSpPr>
          <a:xfrm>
            <a:off x="8113713" y="6221413"/>
            <a:ext cx="554037" cy="552450"/>
            <a:chOff x="5129" y="3937"/>
            <a:chExt cx="349" cy="348"/>
          </a:xfrm>
        </p:grpSpPr>
        <p:sp>
          <p:nvSpPr>
            <p:cNvPr id="491" name="Google Shape;491;p14"/>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2" name="Google Shape;492;p14"/>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3" name="Google Shape;493;p14"/>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4" name="Google Shape;494;p14"/>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5" name="Google Shape;495;p14"/>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6" name="Google Shape;496;p14"/>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97" name="Google Shape;497;p14"/>
          <p:cNvGrpSpPr/>
          <p:nvPr/>
        </p:nvGrpSpPr>
        <p:grpSpPr>
          <a:xfrm>
            <a:off x="8089900" y="5821363"/>
            <a:ext cx="390525" cy="390525"/>
            <a:chOff x="5114" y="3685"/>
            <a:chExt cx="246" cy="246"/>
          </a:xfrm>
        </p:grpSpPr>
        <p:sp>
          <p:nvSpPr>
            <p:cNvPr id="498" name="Google Shape;498;p14"/>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9" name="Google Shape;499;p14"/>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0" name="Google Shape;500;p14"/>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1" name="Google Shape;501;p14"/>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2" name="Google Shape;502;p14"/>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3" name="Google Shape;503;p14"/>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04" name="Google Shape;504;p14"/>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par>
                                <p:cTn fill="hold" nodeType="withEffect" presetClass="emph" presetID="8" presetSubtype="0">
                                  <p:stCondLst>
                                    <p:cond delay="0"/>
                                  </p:stCondLst>
                                  <p:childTnLst>
                                    <p:animRot by="-21600000">
                                      <p:cBhvr>
                                        <p:cTn dur="500" fill="hold"/>
                                        <p:tgtEl>
                                          <p:spTgt spid="483"/>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490"/>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497"/>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47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15"/>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Disadvantages of KNN</a:t>
            </a:r>
            <a:endParaRPr sz="4000">
              <a:solidFill>
                <a:schemeClr val="accent6"/>
              </a:solidFill>
            </a:endParaRPr>
          </a:p>
        </p:txBody>
      </p:sp>
      <p:sp>
        <p:nvSpPr>
          <p:cNvPr id="511" name="Google Shape;511;p15"/>
          <p:cNvSpPr txBox="1"/>
          <p:nvPr>
            <p:ph idx="1" type="body"/>
          </p:nvPr>
        </p:nvSpPr>
        <p:spPr>
          <a:xfrm>
            <a:off x="304800" y="1295399"/>
            <a:ext cx="8534400" cy="4495801"/>
          </a:xfrm>
          <a:prstGeom prst="rect">
            <a:avLst/>
          </a:prstGeom>
          <a:noFill/>
          <a:ln>
            <a:noFill/>
          </a:ln>
        </p:spPr>
        <p:txBody>
          <a:bodyPr anchorCtr="0" anchor="t" bIns="45700" lIns="91425" spcFirstLastPara="1" rIns="91425" wrap="square" tIns="45700">
            <a:noAutofit/>
          </a:bodyPr>
          <a:lstStyle/>
          <a:p>
            <a:pPr indent="-317500" lvl="0" marL="342900" rtl="0" algn="l">
              <a:lnSpc>
                <a:spcPct val="100000"/>
              </a:lnSpc>
              <a:spcBef>
                <a:spcPts val="0"/>
              </a:spcBef>
              <a:spcAft>
                <a:spcPts val="0"/>
              </a:spcAft>
              <a:buClr>
                <a:schemeClr val="dk1"/>
              </a:buClr>
              <a:buSzPts val="2400"/>
              <a:buChar char="•"/>
            </a:pPr>
            <a:r>
              <a:rPr lang="en-US" sz="2400"/>
              <a:t>Choosing k may be tricky</a:t>
            </a:r>
            <a:endParaRPr sz="2400"/>
          </a:p>
          <a:p>
            <a:pPr indent="0" lvl="0" marL="177800" rtl="0" algn="l">
              <a:lnSpc>
                <a:spcPct val="100000"/>
              </a:lnSpc>
              <a:spcBef>
                <a:spcPts val="560"/>
              </a:spcBef>
              <a:spcAft>
                <a:spcPts val="0"/>
              </a:spcAft>
              <a:buClr>
                <a:schemeClr val="dk1"/>
              </a:buClr>
              <a:buSzPts val="2800"/>
              <a:buFont typeface="Arial"/>
              <a:buNone/>
            </a:pPr>
            <a:r>
              <a:t/>
            </a:r>
            <a:endParaRPr sz="2400"/>
          </a:p>
          <a:p>
            <a:pPr indent="-342900" lvl="0" marL="342900" rtl="0" algn="l">
              <a:lnSpc>
                <a:spcPct val="100000"/>
              </a:lnSpc>
              <a:spcBef>
                <a:spcPts val="360"/>
              </a:spcBef>
              <a:spcAft>
                <a:spcPts val="0"/>
              </a:spcAft>
              <a:buSzPts val="2400"/>
              <a:buChar char="•"/>
            </a:pPr>
            <a:r>
              <a:rPr lang="en-US" sz="2400"/>
              <a:t>The computation cost is high because of calculating the distance between the data points for all the training samples.</a:t>
            </a:r>
            <a:endParaRPr sz="2400"/>
          </a:p>
          <a:p>
            <a:pPr indent="-165100" lvl="0" marL="342900" rtl="0" algn="l">
              <a:lnSpc>
                <a:spcPct val="100000"/>
              </a:lnSpc>
              <a:spcBef>
                <a:spcPts val="560"/>
              </a:spcBef>
              <a:spcAft>
                <a:spcPts val="0"/>
              </a:spcAft>
              <a:buClr>
                <a:schemeClr val="dk1"/>
              </a:buClr>
              <a:buSzPts val="2800"/>
              <a:buFont typeface="Arial"/>
              <a:buNone/>
            </a:pPr>
            <a:r>
              <a:t/>
            </a:r>
            <a:endParaRPr sz="2400"/>
          </a:p>
          <a:p>
            <a:pPr indent="-317500" lvl="0" marL="342900" rtl="0" algn="l">
              <a:lnSpc>
                <a:spcPct val="100000"/>
              </a:lnSpc>
              <a:spcBef>
                <a:spcPts val="560"/>
              </a:spcBef>
              <a:spcAft>
                <a:spcPts val="0"/>
              </a:spcAft>
              <a:buClr>
                <a:schemeClr val="dk1"/>
              </a:buClr>
              <a:buSzPts val="2400"/>
              <a:buChar char="•"/>
            </a:pPr>
            <a:r>
              <a:rPr lang="en-US" sz="2400"/>
              <a:t>No training stage, all the work is done during the test stage</a:t>
            </a:r>
            <a:endParaRPr sz="2400"/>
          </a:p>
          <a:p>
            <a:pPr indent="-165100" lvl="0" marL="342900" rtl="0" algn="l">
              <a:lnSpc>
                <a:spcPct val="100000"/>
              </a:lnSpc>
              <a:spcBef>
                <a:spcPts val="560"/>
              </a:spcBef>
              <a:spcAft>
                <a:spcPts val="0"/>
              </a:spcAft>
              <a:buClr>
                <a:schemeClr val="dk1"/>
              </a:buClr>
              <a:buSzPts val="2800"/>
              <a:buFont typeface="Arial"/>
              <a:buNone/>
            </a:pPr>
            <a:r>
              <a:t/>
            </a:r>
            <a:endParaRPr sz="2400"/>
          </a:p>
          <a:p>
            <a:pPr indent="-317500" lvl="0" marL="342900" rtl="0" algn="l">
              <a:lnSpc>
                <a:spcPct val="100000"/>
              </a:lnSpc>
              <a:spcBef>
                <a:spcPts val="560"/>
              </a:spcBef>
              <a:spcAft>
                <a:spcPts val="0"/>
              </a:spcAft>
              <a:buClr>
                <a:schemeClr val="dk1"/>
              </a:buClr>
              <a:buSzPts val="2400"/>
              <a:buChar char="•"/>
            </a:pPr>
            <a:r>
              <a:rPr lang="en-US" sz="2400"/>
              <a:t>This is actually the opposite of what we want. Usually we can afford training step to take a long time, but we want fast test step</a:t>
            </a:r>
            <a:endParaRPr b="1" sz="2400"/>
          </a:p>
        </p:txBody>
      </p:sp>
      <p:grpSp>
        <p:nvGrpSpPr>
          <p:cNvPr id="512" name="Google Shape;512;p15"/>
          <p:cNvGrpSpPr/>
          <p:nvPr/>
        </p:nvGrpSpPr>
        <p:grpSpPr>
          <a:xfrm>
            <a:off x="533400" y="686592"/>
            <a:ext cx="303213" cy="303213"/>
            <a:chOff x="703" y="300"/>
            <a:chExt cx="181" cy="181"/>
          </a:xfrm>
        </p:grpSpPr>
        <p:sp>
          <p:nvSpPr>
            <p:cNvPr id="513" name="Google Shape;513;p1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4" name="Google Shape;514;p1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5" name="Google Shape;515;p1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6" name="Google Shape;516;p1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7" name="Google Shape;517;p1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8" name="Google Shape;518;p1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19" name="Google Shape;519;p15"/>
          <p:cNvGrpSpPr/>
          <p:nvPr/>
        </p:nvGrpSpPr>
        <p:grpSpPr>
          <a:xfrm>
            <a:off x="8494713" y="5792788"/>
            <a:ext cx="554037" cy="552450"/>
            <a:chOff x="5369" y="3667"/>
            <a:chExt cx="349" cy="348"/>
          </a:xfrm>
        </p:grpSpPr>
        <p:sp>
          <p:nvSpPr>
            <p:cNvPr id="520" name="Google Shape;520;p15"/>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1" name="Google Shape;521;p15"/>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 name="Google Shape;522;p15"/>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3" name="Google Shape;523;p15"/>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4" name="Google Shape;524;p15"/>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5" name="Google Shape;525;p15"/>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26" name="Google Shape;526;p15"/>
          <p:cNvGrpSpPr/>
          <p:nvPr/>
        </p:nvGrpSpPr>
        <p:grpSpPr>
          <a:xfrm>
            <a:off x="8113713" y="6221413"/>
            <a:ext cx="554037" cy="552450"/>
            <a:chOff x="5129" y="3937"/>
            <a:chExt cx="349" cy="348"/>
          </a:xfrm>
        </p:grpSpPr>
        <p:sp>
          <p:nvSpPr>
            <p:cNvPr id="527" name="Google Shape;527;p15"/>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8" name="Google Shape;528;p15"/>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9" name="Google Shape;529;p15"/>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0" name="Google Shape;530;p15"/>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1" name="Google Shape;531;p15"/>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2" name="Google Shape;532;p15"/>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33" name="Google Shape;533;p15"/>
          <p:cNvGrpSpPr/>
          <p:nvPr/>
        </p:nvGrpSpPr>
        <p:grpSpPr>
          <a:xfrm>
            <a:off x="8089900" y="5821363"/>
            <a:ext cx="390525" cy="390525"/>
            <a:chOff x="5114" y="3685"/>
            <a:chExt cx="246" cy="246"/>
          </a:xfrm>
        </p:grpSpPr>
        <p:sp>
          <p:nvSpPr>
            <p:cNvPr id="534" name="Google Shape;534;p15"/>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5" name="Google Shape;535;p15"/>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6" name="Google Shape;536;p15"/>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7" name="Google Shape;537;p15"/>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8" name="Google Shape;538;p15"/>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9" name="Google Shape;539;p15"/>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40" name="Google Shape;540;p15"/>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par>
                                <p:cTn fill="hold" nodeType="withEffect" presetClass="emph" presetID="8" presetSubtype="0">
                                  <p:stCondLst>
                                    <p:cond delay="0"/>
                                  </p:stCondLst>
                                  <p:childTnLst>
                                    <p:animRot by="-21600000">
                                      <p:cBhvr>
                                        <p:cTn dur="500" fill="hold"/>
                                        <p:tgtEl>
                                          <p:spTgt spid="519"/>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526"/>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533"/>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51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
          <p:cNvSpPr txBox="1"/>
          <p:nvPr>
            <p:ph type="title"/>
          </p:nvPr>
        </p:nvSpPr>
        <p:spPr>
          <a:xfrm>
            <a:off x="822374" y="445521"/>
            <a:ext cx="7853314" cy="72437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Weighted KNN</a:t>
            </a:r>
            <a:endParaRPr sz="4000">
              <a:solidFill>
                <a:schemeClr val="accent6"/>
              </a:solidFill>
            </a:endParaRPr>
          </a:p>
        </p:txBody>
      </p:sp>
      <p:sp>
        <p:nvSpPr>
          <p:cNvPr id="546" name="Google Shape;546;p5"/>
          <p:cNvSpPr txBox="1"/>
          <p:nvPr>
            <p:ph idx="1" type="body"/>
          </p:nvPr>
        </p:nvSpPr>
        <p:spPr>
          <a:xfrm>
            <a:off x="457200" y="1640541"/>
            <a:ext cx="8229600" cy="448562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None/>
            </a:pPr>
            <a:r>
              <a:rPr b="1" lang="en-US" sz="2600"/>
              <a:t>Weighted KNN</a:t>
            </a:r>
            <a:r>
              <a:rPr lang="en-US" sz="2600"/>
              <a:t> is a variant of the standard </a:t>
            </a:r>
            <a:r>
              <a:rPr b="1" lang="en-US" sz="2600"/>
              <a:t>K-Nearest Neighbors (KNN)</a:t>
            </a:r>
            <a:r>
              <a:rPr lang="en-US" sz="2600"/>
              <a:t> algorithm where </a:t>
            </a:r>
            <a:r>
              <a:rPr b="1" lang="en-US" sz="2600"/>
              <a:t>nearer neighbors have more influence</a:t>
            </a:r>
            <a:r>
              <a:rPr lang="en-US" sz="2600"/>
              <a:t> on the prediction than farther ones.</a:t>
            </a:r>
            <a:endParaRPr sz="2600"/>
          </a:p>
        </p:txBody>
      </p:sp>
      <p:sp>
        <p:nvSpPr>
          <p:cNvPr id="547" name="Google Shape;547;p5"/>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548" name="Google Shape;548;p5"/>
          <p:cNvGrpSpPr/>
          <p:nvPr/>
        </p:nvGrpSpPr>
        <p:grpSpPr>
          <a:xfrm>
            <a:off x="412376" y="656100"/>
            <a:ext cx="303213" cy="303213"/>
            <a:chOff x="703" y="300"/>
            <a:chExt cx="181" cy="181"/>
          </a:xfrm>
        </p:grpSpPr>
        <p:sp>
          <p:nvSpPr>
            <p:cNvPr id="549" name="Google Shape;549;p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0" name="Google Shape;550;p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1" name="Google Shape;551;p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2" name="Google Shape;552;p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3" name="Google Shape;553;p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4" name="Google Shape;554;p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par>
                                <p:cTn fill="hold" nodeType="withEffect" presetClass="emph" presetID="8" presetSubtype="0">
                                  <p:stCondLst>
                                    <p:cond delay="500"/>
                                  </p:stCondLst>
                                  <p:childTnLst>
                                    <p:animRot by="-21600000">
                                      <p:cBhvr>
                                        <p:cTn dur="500" fill="hold"/>
                                        <p:tgtEl>
                                          <p:spTgt spid="54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
          <p:cNvSpPr txBox="1"/>
          <p:nvPr>
            <p:ph type="title"/>
          </p:nvPr>
        </p:nvSpPr>
        <p:spPr>
          <a:xfrm>
            <a:off x="856354" y="546033"/>
            <a:ext cx="7819334" cy="7314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Why Weighted KNN?</a:t>
            </a:r>
            <a:endParaRPr/>
          </a:p>
        </p:txBody>
      </p:sp>
      <p:sp>
        <p:nvSpPr>
          <p:cNvPr id="560" name="Google Shape;560;p6"/>
          <p:cNvSpPr txBox="1"/>
          <p:nvPr>
            <p:ph idx="1" type="body"/>
          </p:nvPr>
        </p:nvSpPr>
        <p:spPr>
          <a:xfrm>
            <a:off x="457200" y="1855693"/>
            <a:ext cx="8229600" cy="4270469"/>
          </a:xfrm>
          <a:prstGeom prst="rect">
            <a:avLst/>
          </a:prstGeom>
          <a:noFill/>
          <a:ln>
            <a:noFill/>
          </a:ln>
        </p:spPr>
        <p:txBody>
          <a:bodyPr anchorCtr="0" anchor="t" bIns="45700" lIns="91425" spcFirstLastPara="1" rIns="91425" wrap="square" tIns="45700">
            <a:noAutofit/>
          </a:bodyPr>
          <a:lstStyle/>
          <a:p>
            <a:pPr indent="-393700" lvl="0" marL="457200" rtl="0" algn="l">
              <a:lnSpc>
                <a:spcPct val="100000"/>
              </a:lnSpc>
              <a:spcBef>
                <a:spcPts val="360"/>
              </a:spcBef>
              <a:spcAft>
                <a:spcPts val="0"/>
              </a:spcAft>
              <a:buClr>
                <a:schemeClr val="dk1"/>
              </a:buClr>
              <a:buSzPts val="2600"/>
              <a:buChar char="•"/>
            </a:pPr>
            <a:r>
              <a:rPr lang="en-US" sz="2600"/>
              <a:t>In </a:t>
            </a:r>
            <a:r>
              <a:rPr b="1" lang="en-US" sz="2600"/>
              <a:t>standard KNN</a:t>
            </a:r>
            <a:r>
              <a:rPr lang="en-US" sz="2600"/>
              <a:t>, all k neighbors contribute </a:t>
            </a:r>
            <a:r>
              <a:rPr b="1" lang="en-US" sz="2600"/>
              <a:t>equally</a:t>
            </a:r>
            <a:r>
              <a:rPr lang="en-US" sz="2600"/>
              <a:t>, which can be misleading:</a:t>
            </a:r>
            <a:endParaRPr sz="2600"/>
          </a:p>
          <a:p>
            <a:pPr indent="-393700" lvl="0" marL="457200" rtl="0" algn="l">
              <a:lnSpc>
                <a:spcPct val="100000"/>
              </a:lnSpc>
              <a:spcBef>
                <a:spcPts val="360"/>
              </a:spcBef>
              <a:spcAft>
                <a:spcPts val="0"/>
              </a:spcAft>
              <a:buClr>
                <a:schemeClr val="dk1"/>
              </a:buClr>
              <a:buSzPts val="2600"/>
              <a:buChar char="•"/>
            </a:pPr>
            <a:r>
              <a:rPr lang="en-US" sz="2600"/>
              <a:t>A </a:t>
            </a:r>
            <a:r>
              <a:rPr b="1" lang="en-US" sz="2600"/>
              <a:t>far neighbor</a:t>
            </a:r>
            <a:r>
              <a:rPr lang="en-US" sz="2600"/>
              <a:t> may influence the decision as much as a </a:t>
            </a:r>
            <a:r>
              <a:rPr b="1" lang="en-US" sz="2600"/>
              <a:t>very close neighbor</a:t>
            </a:r>
            <a:endParaRPr sz="2600"/>
          </a:p>
          <a:p>
            <a:pPr indent="-393700" lvl="0" marL="457200" rtl="0" algn="l">
              <a:lnSpc>
                <a:spcPct val="100000"/>
              </a:lnSpc>
              <a:spcBef>
                <a:spcPts val="360"/>
              </a:spcBef>
              <a:spcAft>
                <a:spcPts val="0"/>
              </a:spcAft>
              <a:buClr>
                <a:schemeClr val="dk1"/>
              </a:buClr>
              <a:buSzPts val="2600"/>
              <a:buChar char="•"/>
            </a:pPr>
            <a:r>
              <a:rPr lang="en-US" sz="2600"/>
              <a:t>Sensitive to noise when k is large</a:t>
            </a:r>
            <a:endParaRPr sz="2600"/>
          </a:p>
          <a:p>
            <a:pPr indent="-393700" lvl="0" marL="457200" rtl="0" algn="l">
              <a:lnSpc>
                <a:spcPct val="100000"/>
              </a:lnSpc>
              <a:spcBef>
                <a:spcPts val="360"/>
              </a:spcBef>
              <a:spcAft>
                <a:spcPts val="0"/>
              </a:spcAft>
              <a:buClr>
                <a:schemeClr val="dk1"/>
              </a:buClr>
              <a:buSzPts val="2600"/>
              <a:buChar char="•"/>
            </a:pPr>
            <a:r>
              <a:rPr b="1" lang="en-US" sz="2600"/>
              <a:t>Weighted KNN fixes this</a:t>
            </a:r>
            <a:r>
              <a:rPr lang="en-US" sz="2600"/>
              <a:t> by assigning </a:t>
            </a:r>
            <a:r>
              <a:rPr b="1" lang="en-US" sz="2600"/>
              <a:t>higher weight to closer points</a:t>
            </a:r>
            <a:r>
              <a:rPr lang="en-US" sz="2600"/>
              <a:t>.</a:t>
            </a:r>
            <a:endParaRPr sz="2600"/>
          </a:p>
        </p:txBody>
      </p:sp>
      <p:sp>
        <p:nvSpPr>
          <p:cNvPr id="561" name="Google Shape;561;p6"/>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562" name="Google Shape;562;p6"/>
          <p:cNvGrpSpPr/>
          <p:nvPr/>
        </p:nvGrpSpPr>
        <p:grpSpPr>
          <a:xfrm>
            <a:off x="425824" y="760144"/>
            <a:ext cx="303213" cy="303213"/>
            <a:chOff x="703" y="300"/>
            <a:chExt cx="181" cy="181"/>
          </a:xfrm>
        </p:grpSpPr>
        <p:sp>
          <p:nvSpPr>
            <p:cNvPr id="563" name="Google Shape;563;p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4" name="Google Shape;564;p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5" name="Google Shape;565;p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6" name="Google Shape;566;p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7" name="Google Shape;567;p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8" name="Google Shape;568;p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par>
                                <p:cTn fill="hold" nodeType="withEffect" presetClass="emph" presetID="8" presetSubtype="0">
                                  <p:stCondLst>
                                    <p:cond delay="500"/>
                                  </p:stCondLst>
                                  <p:childTnLst>
                                    <p:animRot by="-21600000">
                                      <p:cBhvr>
                                        <p:cTn dur="500" fill="hold"/>
                                        <p:tgtEl>
                                          <p:spTgt spid="56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29"/>
          <p:cNvSpPr txBox="1"/>
          <p:nvPr>
            <p:ph type="title"/>
          </p:nvPr>
        </p:nvSpPr>
        <p:spPr>
          <a:xfrm>
            <a:off x="965852" y="819093"/>
            <a:ext cx="7989888" cy="101015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How It Works (Intuition)</a:t>
            </a:r>
            <a:endParaRPr/>
          </a:p>
        </p:txBody>
      </p:sp>
      <p:sp>
        <p:nvSpPr>
          <p:cNvPr id="574" name="Google Shape;574;p29"/>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575" name="Google Shape;575;p29"/>
          <p:cNvGrpSpPr/>
          <p:nvPr/>
        </p:nvGrpSpPr>
        <p:grpSpPr>
          <a:xfrm>
            <a:off x="635744" y="1172564"/>
            <a:ext cx="303213" cy="303213"/>
            <a:chOff x="703" y="300"/>
            <a:chExt cx="181" cy="181"/>
          </a:xfrm>
        </p:grpSpPr>
        <p:sp>
          <p:nvSpPr>
            <p:cNvPr id="576" name="Google Shape;576;p2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7" name="Google Shape;577;p2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8" name="Google Shape;578;p2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9" name="Google Shape;579;p2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0" name="Google Shape;580;p2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1" name="Google Shape;581;p2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82" name="Google Shape;582;p29"/>
          <p:cNvSpPr txBox="1"/>
          <p:nvPr>
            <p:ph idx="1" type="body"/>
          </p:nvPr>
        </p:nvSpPr>
        <p:spPr>
          <a:xfrm>
            <a:off x="457199" y="2989174"/>
            <a:ext cx="8498400" cy="1200600"/>
          </a:xfrm>
          <a:prstGeom prst="rect">
            <a:avLst/>
          </a:prstGeom>
          <a:noFill/>
          <a:ln>
            <a:noFill/>
          </a:ln>
        </p:spPr>
        <p:txBody>
          <a:bodyPr anchorCtr="0" anchor="ctr" bIns="45700" lIns="91425" spcFirstLastPara="1" rIns="91425" wrap="square" tIns="45700">
            <a:spAutoFit/>
          </a:bodyPr>
          <a:lstStyle/>
          <a:p>
            <a:pPr indent="-342900" lvl="0" marL="342900" rtl="0" algn="l">
              <a:lnSpc>
                <a:spcPct val="100000"/>
              </a:lnSpc>
              <a:spcBef>
                <a:spcPts val="0"/>
              </a:spcBef>
              <a:spcAft>
                <a:spcPts val="0"/>
              </a:spcAft>
              <a:buClr>
                <a:schemeClr val="dk1"/>
              </a:buClr>
              <a:buSzPts val="2400"/>
              <a:buChar char="•"/>
            </a:pPr>
            <a:r>
              <a:rPr b="0" i="0" lang="en-US" sz="2400" u="none" cap="none" strike="noStrike">
                <a:solidFill>
                  <a:schemeClr val="dk1"/>
                </a:solidFill>
                <a:latin typeface="Arial"/>
                <a:ea typeface="Arial"/>
                <a:cs typeface="Arial"/>
                <a:sym typeface="Arial"/>
              </a:rPr>
              <a:t>Closer data points are more important than farther ones.</a:t>
            </a:r>
            <a:endParaRPr/>
          </a:p>
          <a:p>
            <a:pPr indent="-342900" lvl="0" marL="342900" rtl="0" algn="l">
              <a:lnSpc>
                <a:spcPct val="100000"/>
              </a:lnSpc>
              <a:spcBef>
                <a:spcPts val="0"/>
              </a:spcBef>
              <a:spcAft>
                <a:spcPts val="0"/>
              </a:spcAft>
              <a:buClr>
                <a:schemeClr val="dk1"/>
              </a:buClr>
              <a:buSzPts val="2400"/>
              <a:buChar char="•"/>
            </a:pPr>
            <a:r>
              <a:rPr b="0" i="0" lang="en-US" sz="2400" u="none" cap="none" strike="noStrike">
                <a:solidFill>
                  <a:schemeClr val="dk1"/>
                </a:solidFill>
                <a:latin typeface="Arial"/>
                <a:ea typeface="Arial"/>
                <a:cs typeface="Arial"/>
                <a:sym typeface="Arial"/>
              </a:rPr>
              <a:t>Instead of simple voting, each neighbor votes </a:t>
            </a:r>
            <a:r>
              <a:rPr b="1" i="0" lang="en-US" sz="2400" u="none" cap="none" strike="noStrike">
                <a:solidFill>
                  <a:schemeClr val="dk1"/>
                </a:solidFill>
                <a:latin typeface="Arial"/>
                <a:ea typeface="Arial"/>
                <a:cs typeface="Arial"/>
                <a:sym typeface="Arial"/>
              </a:rPr>
              <a:t>with a weight</a:t>
            </a:r>
            <a:r>
              <a:rPr b="0" i="0" lang="en-US" sz="2400" u="none" cap="none" strike="noStrike">
                <a:solidFill>
                  <a:schemeClr val="dk1"/>
                </a:solidFill>
                <a:latin typeface="Arial"/>
                <a:ea typeface="Arial"/>
                <a:cs typeface="Arial"/>
                <a:sym typeface="Arial"/>
              </a:rPr>
              <a:t> based on its distance.</a:t>
            </a: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par>
                                <p:cTn fill="hold" nodeType="withEffect" presetClass="emph" presetID="8" presetSubtype="0">
                                  <p:stCondLst>
                                    <p:cond delay="500"/>
                                  </p:stCondLst>
                                  <p:childTnLst>
                                    <p:animRot by="-21600000">
                                      <p:cBhvr>
                                        <p:cTn dur="500" fill="hold"/>
                                        <p:tgtEl>
                                          <p:spTgt spid="57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30"/>
          <p:cNvSpPr txBox="1"/>
          <p:nvPr>
            <p:ph type="title"/>
          </p:nvPr>
        </p:nvSpPr>
        <p:spPr>
          <a:xfrm>
            <a:off x="822374" y="363436"/>
            <a:ext cx="8200602" cy="115608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Weight Calculation (Most Common)</a:t>
            </a:r>
            <a:endParaRPr/>
          </a:p>
        </p:txBody>
      </p:sp>
      <p:sp>
        <p:nvSpPr>
          <p:cNvPr id="588" name="Google Shape;588;p30"/>
          <p:cNvSpPr txBox="1"/>
          <p:nvPr>
            <p:ph idx="1" type="body"/>
          </p:nvPr>
        </p:nvSpPr>
        <p:spPr>
          <a:xfrm>
            <a:off x="457200" y="1896035"/>
            <a:ext cx="8229600" cy="4230128"/>
          </a:xfrm>
          <a:prstGeom prst="rect">
            <a:avLst/>
          </a:prstGeom>
          <a:noFill/>
          <a:ln>
            <a:noFill/>
          </a:ln>
        </p:spPr>
        <p:txBody>
          <a:bodyPr anchorCtr="0" anchor="t" bIns="45700" lIns="91425" spcFirstLastPara="1" rIns="91425" wrap="square" tIns="45700">
            <a:noAutofit/>
          </a:bodyPr>
          <a:lstStyle/>
          <a:p>
            <a:pPr indent="-406400" lvl="0" marL="457200" rtl="0" algn="l">
              <a:lnSpc>
                <a:spcPct val="100000"/>
              </a:lnSpc>
              <a:spcBef>
                <a:spcPts val="360"/>
              </a:spcBef>
              <a:spcAft>
                <a:spcPts val="0"/>
              </a:spcAft>
              <a:buClr>
                <a:schemeClr val="dk1"/>
              </a:buClr>
              <a:buSzPts val="2800"/>
              <a:buChar char="•"/>
            </a:pPr>
            <a:r>
              <a:rPr lang="en-US" sz="2800"/>
              <a:t>Inverse Distance Weighting</a:t>
            </a:r>
            <a:endParaRPr/>
          </a:p>
        </p:txBody>
      </p:sp>
      <p:sp>
        <p:nvSpPr>
          <p:cNvPr id="589" name="Google Shape;589;p30"/>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590" name="Google Shape;590;p30"/>
          <p:cNvGrpSpPr/>
          <p:nvPr/>
        </p:nvGrpSpPr>
        <p:grpSpPr>
          <a:xfrm>
            <a:off x="305593" y="638264"/>
            <a:ext cx="303213" cy="303213"/>
            <a:chOff x="703" y="300"/>
            <a:chExt cx="181" cy="181"/>
          </a:xfrm>
        </p:grpSpPr>
        <p:sp>
          <p:nvSpPr>
            <p:cNvPr id="591" name="Google Shape;591;p3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3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3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3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 name="Google Shape;595;p3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6" name="Google Shape;596;p3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97" name="Google Shape;597;p30"/>
          <p:cNvPicPr preferRelativeResize="0"/>
          <p:nvPr/>
        </p:nvPicPr>
        <p:blipFill rotWithShape="1">
          <a:blip r:embed="rId3">
            <a:alphaModFix/>
          </a:blip>
          <a:srcRect b="0" l="0" r="0" t="0"/>
          <a:stretch/>
        </p:blipFill>
        <p:spPr>
          <a:xfrm>
            <a:off x="1860154" y="2627131"/>
            <a:ext cx="3774164" cy="1017021"/>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par>
                                <p:cTn fill="hold" nodeType="withEffect" presetClass="emph" presetID="8" presetSubtype="0">
                                  <p:stCondLst>
                                    <p:cond delay="500"/>
                                  </p:stCondLst>
                                  <p:childTnLst>
                                    <p:animRot by="-21600000">
                                      <p:cBhvr>
                                        <p:cTn dur="500" fill="hold"/>
                                        <p:tgtEl>
                                          <p:spTgt spid="59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1"/>
          <p:cNvSpPr txBox="1"/>
          <p:nvPr>
            <p:ph type="title"/>
          </p:nvPr>
        </p:nvSpPr>
        <p:spPr>
          <a:xfrm>
            <a:off x="822374" y="188912"/>
            <a:ext cx="7853314" cy="13306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600">
                <a:solidFill>
                  <a:schemeClr val="accent6"/>
                </a:solidFill>
              </a:rPr>
              <a:t>Weight Calculation</a:t>
            </a:r>
            <a:br>
              <a:rPr lang="en-US">
                <a:solidFill>
                  <a:schemeClr val="accent6"/>
                </a:solidFill>
              </a:rPr>
            </a:br>
            <a:r>
              <a:rPr lang="en-US" sz="2600">
                <a:solidFill>
                  <a:schemeClr val="accent6"/>
                </a:solidFill>
              </a:rPr>
              <a:t>test data = (3,7)</a:t>
            </a:r>
            <a:endParaRPr sz="2600">
              <a:solidFill>
                <a:schemeClr val="accent6"/>
              </a:solidFill>
            </a:endParaRPr>
          </a:p>
        </p:txBody>
      </p:sp>
      <p:sp>
        <p:nvSpPr>
          <p:cNvPr id="603" name="Google Shape;603;p31"/>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604" name="Google Shape;604;p31"/>
          <p:cNvGrpSpPr/>
          <p:nvPr/>
        </p:nvGrpSpPr>
        <p:grpSpPr>
          <a:xfrm>
            <a:off x="381793" y="319881"/>
            <a:ext cx="303213" cy="303213"/>
            <a:chOff x="703" y="300"/>
            <a:chExt cx="181" cy="181"/>
          </a:xfrm>
        </p:grpSpPr>
        <p:sp>
          <p:nvSpPr>
            <p:cNvPr id="605" name="Google Shape;605;p3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6" name="Google Shape;606;p3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7" name="Google Shape;607;p3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8" name="Google Shape;608;p3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9" name="Google Shape;609;p3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0" name="Google Shape;610;p3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aphicFrame>
        <p:nvGraphicFramePr>
          <p:cNvPr id="611" name="Google Shape;611;p31"/>
          <p:cNvGraphicFramePr/>
          <p:nvPr/>
        </p:nvGraphicFramePr>
        <p:xfrm>
          <a:off x="679980" y="1815356"/>
          <a:ext cx="3000000" cy="3000000"/>
        </p:xfrm>
        <a:graphic>
          <a:graphicData uri="http://schemas.openxmlformats.org/drawingml/2006/table">
            <a:tbl>
              <a:tblPr bandRow="1" firstRow="1">
                <a:noFill/>
                <a:tableStyleId>{8B05D541-C006-4174-8449-1FF40C8FC65A}</a:tableStyleId>
              </a:tblPr>
              <a:tblGrid>
                <a:gridCol w="999475"/>
                <a:gridCol w="999475"/>
                <a:gridCol w="999475"/>
                <a:gridCol w="999475"/>
                <a:gridCol w="999475"/>
                <a:gridCol w="999475"/>
                <a:gridCol w="1288225"/>
                <a:gridCol w="710725"/>
              </a:tblGrid>
              <a:tr h="486450">
                <a:tc>
                  <a:txBody>
                    <a:bodyPr/>
                    <a:lstStyle/>
                    <a:p>
                      <a:pPr indent="0" lvl="0" marL="0" marR="0" rtl="0" algn="l">
                        <a:lnSpc>
                          <a:spcPct val="100000"/>
                        </a:lnSpc>
                        <a:spcBef>
                          <a:spcPts val="0"/>
                        </a:spcBef>
                        <a:spcAft>
                          <a:spcPts val="0"/>
                        </a:spcAft>
                        <a:buNone/>
                      </a:pPr>
                      <a:r>
                        <a:rPr lang="en-US" sz="1400" u="none" cap="none" strike="noStrike"/>
                        <a:t>Training Instance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X1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X2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Output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Distance (d)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600" u="none" cap="none" strike="noStrike"/>
                        <a:t>d</a:t>
                      </a:r>
                      <a:r>
                        <a:rPr baseline="30000" lang="en-US" sz="1600" u="none" cap="none" strike="noStrike"/>
                        <a:t>2</a:t>
                      </a:r>
                      <a:endParaRPr baseline="30000" sz="16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Vote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Rank</a:t>
                      </a:r>
                      <a:endParaRPr sz="1400" u="none" cap="none" strike="noStrike"/>
                    </a:p>
                  </a:txBody>
                  <a:tcPr marT="45725" marB="45725" marR="91450" marL="91450"/>
                </a:tc>
              </a:tr>
              <a:tr h="486450">
                <a:tc>
                  <a:txBody>
                    <a:bodyPr/>
                    <a:lstStyle/>
                    <a:p>
                      <a:pPr indent="0" lvl="0" marL="0" marR="0" rtl="0" algn="l">
                        <a:lnSpc>
                          <a:spcPct val="100000"/>
                        </a:lnSpc>
                        <a:spcBef>
                          <a:spcPts val="0"/>
                        </a:spcBef>
                        <a:spcAft>
                          <a:spcPts val="0"/>
                        </a:spcAft>
                        <a:buNone/>
                      </a:pPr>
                      <a:r>
                        <a:rPr lang="en-US" sz="1400" u="none" cap="none" strike="noStrike"/>
                        <a:t>1</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1/16=0.06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3</a:t>
                      </a:r>
                      <a:endParaRPr sz="1400" u="none" cap="none" strike="noStrike"/>
                    </a:p>
                  </a:txBody>
                  <a:tcPr marT="45725" marB="45725" marR="91450" marL="91450"/>
                </a:tc>
              </a:tr>
              <a:tr h="467100">
                <a:tc>
                  <a:txBody>
                    <a:bodyPr/>
                    <a:lstStyle/>
                    <a:p>
                      <a:pPr indent="0" lvl="0" marL="0" marR="0" rtl="0" algn="l">
                        <a:lnSpc>
                          <a:spcPct val="100000"/>
                        </a:lnSpc>
                        <a:spcBef>
                          <a:spcPts val="0"/>
                        </a:spcBef>
                        <a:spcAft>
                          <a:spcPts val="0"/>
                        </a:spcAft>
                        <a:buNone/>
                      </a:pPr>
                      <a:r>
                        <a:rPr lang="en-US" sz="1400" u="none" cap="none" strike="noStrike"/>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25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1/25=0.04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r>
              <a:tr h="467100">
                <a:tc>
                  <a:txBody>
                    <a:bodyPr/>
                    <a:lstStyle/>
                    <a:p>
                      <a:pPr indent="0" lvl="0" marL="0" marR="0" rtl="0" algn="l">
                        <a:lnSpc>
                          <a:spcPct val="100000"/>
                        </a:lnSpc>
                        <a:spcBef>
                          <a:spcPts val="0"/>
                        </a:spcBef>
                        <a:spcAft>
                          <a:spcPts val="0"/>
                        </a:spcAft>
                        <a:buNone/>
                      </a:pPr>
                      <a:r>
                        <a:rPr lang="en-US" sz="1400" u="none" cap="none" strike="noStrike"/>
                        <a:t>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9</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1/9=0.11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a:t>
                      </a:r>
                      <a:endParaRPr sz="1400" u="none" cap="none" strike="noStrike"/>
                    </a:p>
                  </a:txBody>
                  <a:tcPr marT="45725" marB="45725" marR="91450" marL="91450"/>
                </a:tc>
              </a:tr>
              <a:tr h="486450">
                <a:tc>
                  <a:txBody>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3.6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12.96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1/12.96=0.08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2</a:t>
                      </a:r>
                      <a:endParaRPr sz="1400" u="none" cap="none" strike="noStrike"/>
                    </a:p>
                  </a:txBody>
                  <a:tcPr marT="45725" marB="45725" marR="91450" marL="91450"/>
                </a:tc>
              </a:tr>
            </a:tbl>
          </a:graphicData>
        </a:graphic>
      </p:graphicFrame>
      <p:sp>
        <p:nvSpPr>
          <p:cNvPr id="612" name="Google Shape;612;p31"/>
          <p:cNvSpPr txBox="1"/>
          <p:nvPr/>
        </p:nvSpPr>
        <p:spPr>
          <a:xfrm>
            <a:off x="2433918" y="4854388"/>
            <a:ext cx="36576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Output 1- Sum = 0.08+0.11 = 0.19</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Output 0- Sum = 0.06</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Prediction : Output 1</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par>
                                <p:cTn fill="hold" nodeType="withEffect" presetClass="emph" presetID="8" presetSubtype="0">
                                  <p:stCondLst>
                                    <p:cond delay="500"/>
                                  </p:stCondLst>
                                  <p:childTnLst>
                                    <p:animRot by="-21600000">
                                      <p:cBhvr>
                                        <p:cTn dur="500" fill="hold"/>
                                        <p:tgtEl>
                                          <p:spTgt spid="60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2"/>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7200"/>
              <a:buFont typeface="Arial"/>
              <a:buNone/>
            </a:pPr>
            <a:r>
              <a:t/>
            </a:r>
            <a:endParaRPr sz="7200">
              <a:solidFill>
                <a:srgbClr val="024069"/>
              </a:solidFill>
            </a:endParaRPr>
          </a:p>
          <a:p>
            <a:pPr indent="0" lvl="0" marL="0" rtl="0" algn="ctr">
              <a:lnSpc>
                <a:spcPct val="100000"/>
              </a:lnSpc>
              <a:spcBef>
                <a:spcPts val="1440"/>
              </a:spcBef>
              <a:spcAft>
                <a:spcPts val="0"/>
              </a:spcAft>
              <a:buClr>
                <a:srgbClr val="024069"/>
              </a:buClr>
              <a:buSzPts val="7200"/>
              <a:buFont typeface="Arial"/>
              <a:buNone/>
            </a:pPr>
            <a:r>
              <a:rPr lang="en-US" sz="7200">
                <a:solidFill>
                  <a:srgbClr val="024069"/>
                </a:solidFill>
              </a:rPr>
              <a:t>Thank You</a:t>
            </a:r>
            <a:endParaRPr/>
          </a:p>
        </p:txBody>
      </p:sp>
      <p:grpSp>
        <p:nvGrpSpPr>
          <p:cNvPr id="618" name="Google Shape;618;p32"/>
          <p:cNvGrpSpPr/>
          <p:nvPr/>
        </p:nvGrpSpPr>
        <p:grpSpPr>
          <a:xfrm>
            <a:off x="609600" y="533400"/>
            <a:ext cx="303213" cy="303213"/>
            <a:chOff x="703" y="300"/>
            <a:chExt cx="181" cy="181"/>
          </a:xfrm>
        </p:grpSpPr>
        <p:sp>
          <p:nvSpPr>
            <p:cNvPr id="619" name="Google Shape;619;p3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0" name="Google Shape;620;p3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1" name="Google Shape;621;p3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2" name="Google Shape;622;p3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3" name="Google Shape;623;p3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4" name="Google Shape;624;p3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25" name="Google Shape;625;p32"/>
          <p:cNvGrpSpPr/>
          <p:nvPr/>
        </p:nvGrpSpPr>
        <p:grpSpPr>
          <a:xfrm>
            <a:off x="8494713" y="5792788"/>
            <a:ext cx="554037" cy="552450"/>
            <a:chOff x="5369" y="3667"/>
            <a:chExt cx="349" cy="348"/>
          </a:xfrm>
        </p:grpSpPr>
        <p:sp>
          <p:nvSpPr>
            <p:cNvPr id="626" name="Google Shape;626;p32"/>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7" name="Google Shape;627;p32"/>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8" name="Google Shape;628;p32"/>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9" name="Google Shape;629;p32"/>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0" name="Google Shape;630;p32"/>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1" name="Google Shape;631;p32"/>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32" name="Google Shape;632;p32"/>
          <p:cNvGrpSpPr/>
          <p:nvPr/>
        </p:nvGrpSpPr>
        <p:grpSpPr>
          <a:xfrm>
            <a:off x="8113713" y="6221413"/>
            <a:ext cx="554037" cy="552450"/>
            <a:chOff x="5129" y="3937"/>
            <a:chExt cx="349" cy="348"/>
          </a:xfrm>
        </p:grpSpPr>
        <p:sp>
          <p:nvSpPr>
            <p:cNvPr id="633" name="Google Shape;633;p32"/>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4" name="Google Shape;634;p32"/>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5" name="Google Shape;635;p32"/>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6" name="Google Shape;636;p32"/>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7" name="Google Shape;637;p32"/>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8" name="Google Shape;638;p32"/>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39" name="Google Shape;639;p32"/>
          <p:cNvGrpSpPr/>
          <p:nvPr/>
        </p:nvGrpSpPr>
        <p:grpSpPr>
          <a:xfrm>
            <a:off x="8089900" y="5821363"/>
            <a:ext cx="390525" cy="390525"/>
            <a:chOff x="5114" y="3685"/>
            <a:chExt cx="246" cy="246"/>
          </a:xfrm>
        </p:grpSpPr>
        <p:sp>
          <p:nvSpPr>
            <p:cNvPr id="640" name="Google Shape;640;p32"/>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1" name="Google Shape;641;p32"/>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2" name="Google Shape;642;p32"/>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3" name="Google Shape;643;p32"/>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4" name="Google Shape;644;p32"/>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5" name="Google Shape;645;p32"/>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646" name="Google Shape;646;p32"/>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par>
                                <p:cTn fill="hold" nodeType="withEffect" presetClass="emph" presetID="8" presetSubtype="0">
                                  <p:stCondLst>
                                    <p:cond delay="0"/>
                                  </p:stCondLst>
                                  <p:childTnLst>
                                    <p:animRot by="-21600000">
                                      <p:cBhvr>
                                        <p:cTn dur="500" fill="hold"/>
                                        <p:tgtEl>
                                          <p:spTgt spid="625"/>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632"/>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639"/>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61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2015-05-03T19:01:06Z</dcterms:created>
  <dc:creator>Windows User</dc:creator>
</cp:coreProperties>
</file>