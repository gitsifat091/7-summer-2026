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dBZSCb1UUyT8YQ7C7Uh7TgL0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efa1ec9a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eefa1ec9ab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1860fd5b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1f1860fd5bc_1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f1860fd5b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f1860fd5bc_1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efa1ec9ab_0_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eefa1ec9ab_0_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6" name="Google Shape;16;g3eefa1ec9ab_0_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eefa1ec9ab_0_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eefa1ec9ab_0_4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eefa1ec9ab_0_4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eefa1ec9ab_0_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eefa1ec9ab_0_1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3" name="Google Shape;23;g3eefa1ec9ab_0_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eefa1ec9ab_0_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eefa1ec9ab_0_12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eefa1ec9ab_0_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efa1ec9ab_0_18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eefa1ec9ab_0_1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0" name="Google Shape;30;g3eefa1ec9ab_0_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eefa1ec9ab_0_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eefa1ec9ab_0_18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eefa1ec9ab_0_18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eefa1ec9ab_0_1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efa1ec9ab_0_2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eefa1ec9ab_0_2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8" name="Google Shape;38;g3eefa1ec9ab_0_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eefa1ec9ab_0_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eefa1ec9ab_0_2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eefa1ec9ab_0_26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eefa1ec9ab_0_26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eefa1ec9ab_0_2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a1ec9ab_0_3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eefa1ec9ab_0_3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7" name="Google Shape;47;g3eefa1ec9ab_0_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eefa1ec9ab_0_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eefa1ec9ab_0_3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eefa1ec9ab_0_3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efa1ec9ab_0_4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eefa1ec9ab_0_4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4" name="Google Shape;54;g3eefa1ec9ab_0_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eefa1ec9ab_0_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eefa1ec9ab_0_42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eefa1ec9ab_0_42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eefa1ec9ab_0_4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eefa1ec9ab_0_50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61" name="Google Shape;61;g3eefa1ec9ab_0_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eefa1ec9ab_0_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eefa1ec9ab_0_50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eefa1ec9ab_0_5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efa1ec9ab_0_5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eefa1ec9ab_0_5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8" name="Google Shape;68;g3eefa1ec9ab_0_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eefa1ec9ab_0_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eefa1ec9ab_0_56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eefa1ec9ab_0_56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eefa1ec9ab_0_56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eefa1ec9ab_0_5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efa1ec9ab_0_65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eefa1ec9ab_0_6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eefa1ec9ab_0_6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9" name="Google Shape;79;g3eefa1ec9ab_0_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eefa1ec9ab_0_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eefa1ec9ab_0_68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eefa1ec9ab_0_68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eefa1ec9ab_0_6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efa1ec9ab_0_7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efa1ec9ab_0_77"/>
          <p:cNvSpPr txBox="1"/>
          <p:nvPr>
            <p:ph type="title"/>
          </p:nvPr>
        </p:nvSpPr>
        <p:spPr>
          <a:xfrm>
            <a:off x="457200" y="188913"/>
            <a:ext cx="8218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efa1ec9ab_0_77"/>
          <p:cNvSpPr txBox="1"/>
          <p:nvPr>
            <p:ph idx="1" type="body"/>
          </p:nvPr>
        </p:nvSpPr>
        <p:spPr>
          <a:xfrm>
            <a:off x="457200" y="1052513"/>
            <a:ext cx="8229600" cy="5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9" name="Google Shape;89;g3eefa1ec9ab_0_77"/>
          <p:cNvSpPr txBox="1"/>
          <p:nvPr>
            <p:ph idx="10" type="dt"/>
          </p:nvPr>
        </p:nvSpPr>
        <p:spPr>
          <a:xfrm>
            <a:off x="65532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eefa1ec9ab_0_77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eefa1ec9ab_0_77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efa1ec9ab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eefa1ec9ab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eefa1ec9ab_0_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685800" y="1676400"/>
            <a:ext cx="77724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b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  <a:t>CSE - 403</a:t>
            </a:r>
            <a:b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Lecture - 05</a:t>
            </a:r>
            <a:b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62000" y="4267200"/>
            <a:ext cx="8077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468313" y="6367463"/>
            <a:ext cx="95885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"/>
          <p:cNvGrpSpPr/>
          <p:nvPr/>
        </p:nvGrpSpPr>
        <p:grpSpPr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100" name="Google Shape;100;p1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107" name="Google Shape;107;p1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066800" y="188935"/>
            <a:ext cx="7608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Candidate Elimination Algorithm</a:t>
            </a:r>
            <a:endParaRPr sz="3000">
              <a:solidFill>
                <a:srgbClr val="0240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609600" y="381000"/>
            <a:ext cx="303213" cy="303213"/>
            <a:chOff x="703" y="300"/>
            <a:chExt cx="181" cy="181"/>
          </a:xfrm>
        </p:grpSpPr>
        <p:sp>
          <p:nvSpPr>
            <p:cNvPr id="119" name="Google Shape;119;p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284975" y="1727200"/>
            <a:ext cx="866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candidate elimination algorithm incrementally builds the version space given a hypothesis space H and a set E of examples. 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examples are added one by one; each example possibly shrinks the version space by removing the hypotheses that are inconsistent with the example. 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candidate elimination algorithm does this by updating the general and specific boundary for each new example.</a:t>
            </a:r>
            <a:r>
              <a:rPr i="0" lang="en-US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efa1ec9ab_0_83"/>
          <p:cNvSpPr txBox="1"/>
          <p:nvPr>
            <p:ph type="title"/>
          </p:nvPr>
        </p:nvSpPr>
        <p:spPr>
          <a:xfrm>
            <a:off x="1066800" y="188935"/>
            <a:ext cx="7608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Candidate Elimination Algorithm</a:t>
            </a:r>
            <a:endParaRPr sz="3000">
              <a:solidFill>
                <a:srgbClr val="0240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g3eefa1ec9ab_0_83"/>
          <p:cNvGrpSpPr/>
          <p:nvPr/>
        </p:nvGrpSpPr>
        <p:grpSpPr>
          <a:xfrm>
            <a:off x="609600" y="381000"/>
            <a:ext cx="303246" cy="303397"/>
            <a:chOff x="703" y="300"/>
            <a:chExt cx="181" cy="181"/>
          </a:xfrm>
        </p:grpSpPr>
        <p:sp>
          <p:nvSpPr>
            <p:cNvPr id="132" name="Google Shape;132;g3eefa1ec9ab_0_8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eefa1ec9ab_0_8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eefa1ec9ab_0_8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eefa1ec9ab_0_8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eefa1ec9ab_0_8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eefa1ec9ab_0_8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g3eefa1ec9ab_0_83"/>
          <p:cNvSpPr txBox="1"/>
          <p:nvPr/>
        </p:nvSpPr>
        <p:spPr>
          <a:xfrm>
            <a:off x="284975" y="1727200"/>
            <a:ext cx="866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You can consider this as an extended form of Find-S algorithm.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Consider both positive and negative examples.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Actually, positive examples are used here as Find-S algorithm (Basically they are generalizing from the specification).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i="0" lang="en-US" sz="2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While the negative example is specified from generalize form.</a:t>
            </a:r>
            <a:endParaRPr i="0" sz="24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1860fd5bc_1_14"/>
          <p:cNvSpPr txBox="1"/>
          <p:nvPr>
            <p:ph type="title"/>
          </p:nvPr>
        </p:nvSpPr>
        <p:spPr>
          <a:xfrm>
            <a:off x="1066800" y="188923"/>
            <a:ext cx="7608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Candidate Elimination Algorithm</a:t>
            </a:r>
            <a:endParaRPr sz="3000">
              <a:solidFill>
                <a:srgbClr val="0240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g1f1860fd5bc_1_14"/>
          <p:cNvGrpSpPr/>
          <p:nvPr/>
        </p:nvGrpSpPr>
        <p:grpSpPr>
          <a:xfrm>
            <a:off x="609600" y="381000"/>
            <a:ext cx="303246" cy="303397"/>
            <a:chOff x="703" y="300"/>
            <a:chExt cx="181" cy="181"/>
          </a:xfrm>
        </p:grpSpPr>
        <p:sp>
          <p:nvSpPr>
            <p:cNvPr id="145" name="Google Shape;145;g1f1860fd5bc_1_1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1f1860fd5bc_1_1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1f1860fd5bc_1_1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1f1860fd5bc_1_1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1f1860fd5bc_1_1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1f1860fd5bc_1_1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g1f1860fd5bc_1_14"/>
          <p:cNvSpPr txBox="1"/>
          <p:nvPr/>
        </p:nvSpPr>
        <p:spPr>
          <a:xfrm>
            <a:off x="195950" y="1792525"/>
            <a:ext cx="88392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Step1: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Load Data set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Step2: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Initialize General Hypothesis  and Specific  Hypothesis.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Step3: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For each training example  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Step4: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If example is positive example  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if attribute_value == hypothesis_value: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   Do nothing  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else: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   replace attribute value with '?' (Basically generalizing it)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Step5: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If example is Negative example  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Make generalize hypothesis more specific.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f1860fd5bc_1_26"/>
          <p:cNvSpPr txBox="1"/>
          <p:nvPr>
            <p:ph type="title"/>
          </p:nvPr>
        </p:nvSpPr>
        <p:spPr>
          <a:xfrm>
            <a:off x="1066800" y="360126"/>
            <a:ext cx="76089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Candidate Elimination Algorithm</a:t>
            </a:r>
            <a:endParaRPr sz="3500">
              <a:solidFill>
                <a:srgbClr val="0240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g1f1860fd5bc_1_26"/>
          <p:cNvGrpSpPr/>
          <p:nvPr/>
        </p:nvGrpSpPr>
        <p:grpSpPr>
          <a:xfrm>
            <a:off x="609600" y="381000"/>
            <a:ext cx="303246" cy="303397"/>
            <a:chOff x="703" y="300"/>
            <a:chExt cx="181" cy="181"/>
          </a:xfrm>
        </p:grpSpPr>
        <p:sp>
          <p:nvSpPr>
            <p:cNvPr id="158" name="Google Shape;158;g1f1860fd5bc_1_26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1f1860fd5bc_1_26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1f1860fd5bc_1_26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1f1860fd5bc_1_26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1f1860fd5bc_1_26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1f1860fd5bc_1_26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g1f1860fd5bc_1_26"/>
          <p:cNvSpPr txBox="1"/>
          <p:nvPr/>
        </p:nvSpPr>
        <p:spPr>
          <a:xfrm>
            <a:off x="284975" y="1705425"/>
            <a:ext cx="86607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 learning: Concept learning is basically learning task of the machine (Learn by Train data)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Hypothesis: Not Specifying features to learn the machine.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{‘?’, ‘?’,’?’,’?’…}: Number of attributes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 Hypothesis: Specifying features to learn machine (Specific feature)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S= {‘pi’,’pi’,’pi’…}: Number of pi depends on number of attributes.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Space: It is intermediate of general hypothesis and Specific hypothesis. It not only just written one hypothesis but a set of all possible hypothesis based on training data-set.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533400" y="476888"/>
            <a:ext cx="7702564" cy="1885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437123" y="2743200"/>
            <a:ext cx="6649840" cy="31419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>
            <p:ph type="title"/>
          </p:nvPr>
        </p:nvSpPr>
        <p:spPr>
          <a:xfrm>
            <a:off x="20320" y="2593803"/>
            <a:ext cx="2053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308930" lvl="0" marL="321032" marR="5096" rtl="0" algn="ctr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9A9A"/>
                </a:solidFill>
              </a:rPr>
              <a:t>Least General</a:t>
            </a:r>
            <a:br>
              <a:rPr lang="en-US" sz="1800">
                <a:solidFill>
                  <a:srgbClr val="009A9A"/>
                </a:solidFill>
              </a:rPr>
            </a:br>
            <a:r>
              <a:rPr lang="en-US" sz="1800">
                <a:solidFill>
                  <a:srgbClr val="009A9A"/>
                </a:solidFill>
              </a:rPr>
              <a:t>(</a:t>
            </a:r>
            <a:r>
              <a:rPr b="1" lang="en-US" sz="1800">
                <a:solidFill>
                  <a:srgbClr val="009A9A"/>
                </a:solidFill>
              </a:rPr>
              <a:t>Most Specific</a:t>
            </a:r>
            <a:r>
              <a:rPr lang="en-US" sz="1800">
                <a:solidFill>
                  <a:srgbClr val="009A9A"/>
                </a:solidFill>
              </a:rPr>
              <a:t>)</a:t>
            </a:r>
            <a:endParaRPr sz="1800"/>
          </a:p>
        </p:txBody>
      </p:sp>
      <p:sp>
        <p:nvSpPr>
          <p:cNvPr id="172" name="Google Shape;172;p9"/>
          <p:cNvSpPr/>
          <p:nvPr/>
        </p:nvSpPr>
        <p:spPr>
          <a:xfrm>
            <a:off x="1358100" y="2931858"/>
            <a:ext cx="1304103" cy="3102671"/>
          </a:xfrm>
          <a:custGeom>
            <a:rect b="b" l="l" r="r" t="t"/>
            <a:pathLst>
              <a:path extrusionOk="0" h="3091179" w="1300480">
                <a:moveTo>
                  <a:pt x="690372" y="2476500"/>
                </a:moveTo>
                <a:lnTo>
                  <a:pt x="608076" y="2498598"/>
                </a:lnTo>
                <a:lnTo>
                  <a:pt x="630389" y="2523972"/>
                </a:lnTo>
                <a:lnTo>
                  <a:pt x="1524" y="3082290"/>
                </a:lnTo>
                <a:lnTo>
                  <a:pt x="0" y="3086100"/>
                </a:lnTo>
                <a:lnTo>
                  <a:pt x="762" y="3089148"/>
                </a:lnTo>
                <a:lnTo>
                  <a:pt x="4572" y="3090672"/>
                </a:lnTo>
                <a:lnTo>
                  <a:pt x="7620" y="3089910"/>
                </a:lnTo>
                <a:lnTo>
                  <a:pt x="636460" y="2530856"/>
                </a:lnTo>
                <a:lnTo>
                  <a:pt x="647700" y="2543632"/>
                </a:lnTo>
                <a:lnTo>
                  <a:pt x="658368" y="2555748"/>
                </a:lnTo>
                <a:lnTo>
                  <a:pt x="690372" y="2476500"/>
                </a:lnTo>
                <a:close/>
              </a:path>
              <a:path extrusionOk="0" h="3091179" w="1300480">
                <a:moveTo>
                  <a:pt x="1299972" y="38100"/>
                </a:moveTo>
                <a:lnTo>
                  <a:pt x="1223772" y="0"/>
                </a:lnTo>
                <a:lnTo>
                  <a:pt x="1223772" y="33528"/>
                </a:lnTo>
                <a:lnTo>
                  <a:pt x="614172" y="33528"/>
                </a:lnTo>
                <a:lnTo>
                  <a:pt x="611124" y="35052"/>
                </a:lnTo>
                <a:lnTo>
                  <a:pt x="609600" y="38100"/>
                </a:lnTo>
                <a:lnTo>
                  <a:pt x="611124" y="41148"/>
                </a:lnTo>
                <a:lnTo>
                  <a:pt x="614172" y="42672"/>
                </a:lnTo>
                <a:lnTo>
                  <a:pt x="1223772" y="42672"/>
                </a:lnTo>
                <a:lnTo>
                  <a:pt x="1223772" y="76200"/>
                </a:lnTo>
                <a:lnTo>
                  <a:pt x="1241298" y="67437"/>
                </a:lnTo>
                <a:lnTo>
                  <a:pt x="1299972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228600" y="6048090"/>
            <a:ext cx="1989352" cy="57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0" lvl="0" marL="1273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9A9A"/>
                </a:solidFill>
                <a:latin typeface="Arial"/>
                <a:ea typeface="Arial"/>
                <a:cs typeface="Arial"/>
                <a:sym typeface="Arial"/>
              </a:rPr>
              <a:t>Most General</a:t>
            </a:r>
            <a:endParaRPr b="1" i="0" sz="1800" u="none" cap="none" strike="noStrike">
              <a:solidFill>
                <a:srgbClr val="009A9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39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9A9A"/>
                </a:solidFill>
                <a:latin typeface="Arial"/>
                <a:ea typeface="Arial"/>
                <a:cs typeface="Arial"/>
                <a:sym typeface="Arial"/>
              </a:rPr>
              <a:t>(Least Specific)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674949" y="471650"/>
            <a:ext cx="5654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dk1"/>
                </a:solidFill>
              </a:rPr>
              <a:t>Example</a:t>
            </a:r>
            <a:endParaRPr sz="5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766460" y="1822852"/>
            <a:ext cx="7702564" cy="1885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3120167" y="3887900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G0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674975" y="4423283"/>
            <a:ext cx="1757482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3120167" y="4958666"/>
            <a:ext cx="3209315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S0 ← {&lt;Ø, Ø, Ø, Ø, Ø, Ø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3043755" y="216703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G0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3043755" y="675603"/>
            <a:ext cx="320931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S0 ← {&lt;Ø, Ø, Ø, Ø, Ø, Ø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821159" y="1899335"/>
            <a:ext cx="5960156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 = &lt;Sunny, Warm, Normal, Strong, Warm, Same&gt;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821159" y="2821723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S1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3120167" y="2358235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G1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0" y="1210985"/>
            <a:ext cx="9144000" cy="0"/>
          </a:xfrm>
          <a:custGeom>
            <a:rect b="b" l="l" r="r" t="t"/>
            <a:pathLst>
              <a:path extrusionOk="0" h="120000" w="9118600">
                <a:moveTo>
                  <a:pt x="0" y="0"/>
                </a:moveTo>
                <a:lnTo>
                  <a:pt x="9118600" y="0"/>
                </a:lnTo>
              </a:path>
            </a:pathLst>
          </a:cu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0" y="3964383"/>
            <a:ext cx="9144000" cy="0"/>
          </a:xfrm>
          <a:custGeom>
            <a:rect b="b" l="l" r="r" t="t"/>
            <a:pathLst>
              <a:path extrusionOk="0" h="120000" w="9118600">
                <a:moveTo>
                  <a:pt x="0" y="0"/>
                </a:moveTo>
                <a:lnTo>
                  <a:pt x="9118600" y="0"/>
                </a:lnTo>
              </a:path>
            </a:pathLst>
          </a:cu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3677" y="2128785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203220" y="4729216"/>
            <a:ext cx="5501682" cy="32137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 = &lt;Sunny, Warm, High, Strong, Warm, Same&gt;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40089" y="5111632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3196579" y="5264599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G2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897571" y="5799982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← {&lt; Sunny, Warm, ?,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-4883497" y="2079175"/>
            <a:ext cx="5707500" cy="188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/>
          <p:nvPr/>
        </p:nvSpPr>
        <p:spPr>
          <a:xfrm>
            <a:off x="2967343" y="140220"/>
            <a:ext cx="3209315" cy="377955"/>
          </a:xfrm>
          <a:custGeom>
            <a:rect b="b" l="l" r="r" t="t"/>
            <a:pathLst>
              <a:path extrusionOk="0" h="376555" w="3200400">
                <a:moveTo>
                  <a:pt x="3200400" y="376427"/>
                </a:moveTo>
                <a:lnTo>
                  <a:pt x="3200400" y="0"/>
                </a:lnTo>
                <a:lnTo>
                  <a:pt x="0" y="0"/>
                </a:lnTo>
                <a:lnTo>
                  <a:pt x="0" y="376427"/>
                </a:lnTo>
                <a:lnTo>
                  <a:pt x="3200400" y="376427"/>
                </a:lnTo>
                <a:close/>
              </a:path>
            </a:pathLst>
          </a:custGeom>
          <a:solidFill>
            <a:srgbClr val="CCFF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>
            <p:ph type="title"/>
          </p:nvPr>
        </p:nvSpPr>
        <p:spPr>
          <a:xfrm>
            <a:off x="2967343" y="140220"/>
            <a:ext cx="3209400" cy="32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950">
            <a:spAutoFit/>
          </a:bodyPr>
          <a:lstStyle/>
          <a:p>
            <a:pPr indent="0" lvl="0" marL="968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G2 ← {&lt;?, ?, ?, ?, ?, ?&gt;}</a:t>
            </a:r>
            <a:endParaRPr sz="1800"/>
          </a:p>
        </p:txBody>
      </p:sp>
      <p:sp>
        <p:nvSpPr>
          <p:cNvPr id="206" name="Google Shape;206;p13"/>
          <p:cNvSpPr/>
          <p:nvPr/>
        </p:nvSpPr>
        <p:spPr>
          <a:xfrm>
            <a:off x="1668334" y="675603"/>
            <a:ext cx="6265805" cy="377955"/>
          </a:xfrm>
          <a:custGeom>
            <a:rect b="b" l="l" r="r" t="t"/>
            <a:pathLst>
              <a:path extrusionOk="0" h="376555" w="6248400">
                <a:moveTo>
                  <a:pt x="6248400" y="376428"/>
                </a:moveTo>
                <a:lnTo>
                  <a:pt x="6248400" y="0"/>
                </a:lnTo>
                <a:lnTo>
                  <a:pt x="0" y="0"/>
                </a:lnTo>
                <a:lnTo>
                  <a:pt x="0" y="376428"/>
                </a:lnTo>
                <a:lnTo>
                  <a:pt x="6248400" y="376428"/>
                </a:lnTo>
                <a:close/>
              </a:path>
            </a:pathLst>
          </a:custGeom>
          <a:solidFill>
            <a:srgbClr val="BBE0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1668334" y="675603"/>
            <a:ext cx="6265805" cy="32137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← {&lt; Sunny, Warm, ?,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13"/>
          <p:cNvGrpSpPr/>
          <p:nvPr/>
        </p:nvGrpSpPr>
        <p:grpSpPr>
          <a:xfrm>
            <a:off x="0" y="446152"/>
            <a:ext cx="9144000" cy="2065048"/>
            <a:chOff x="0" y="444499"/>
            <a:chExt cx="9118600" cy="2057400"/>
          </a:xfrm>
        </p:grpSpPr>
        <p:sp>
          <p:nvSpPr>
            <p:cNvPr id="209" name="Google Shape;209;p13"/>
            <p:cNvSpPr/>
            <p:nvPr/>
          </p:nvSpPr>
          <p:spPr>
            <a:xfrm>
              <a:off x="0" y="1558925"/>
              <a:ext cx="9118600" cy="57150"/>
            </a:xfrm>
            <a:custGeom>
              <a:rect b="b" l="l" r="r" t="t"/>
              <a:pathLst>
                <a:path extrusionOk="0" h="57150" w="9118600">
                  <a:moveTo>
                    <a:pt x="0" y="0"/>
                  </a:moveTo>
                  <a:lnTo>
                    <a:pt x="0" y="57150"/>
                  </a:lnTo>
                  <a:lnTo>
                    <a:pt x="9118600" y="57150"/>
                  </a:lnTo>
                  <a:lnTo>
                    <a:pt x="911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4425950" y="444499"/>
              <a:ext cx="800100" cy="2057400"/>
            </a:xfrm>
            <a:custGeom>
              <a:rect b="b" l="l" r="r" t="t"/>
              <a:pathLst>
                <a:path extrusionOk="0" h="2057400" w="800100">
                  <a:moveTo>
                    <a:pt x="114300" y="723900"/>
                  </a:moveTo>
                  <a:lnTo>
                    <a:pt x="57150" y="609600"/>
                  </a:lnTo>
                  <a:lnTo>
                    <a:pt x="0" y="723900"/>
                  </a:lnTo>
                  <a:lnTo>
                    <a:pt x="38100" y="723900"/>
                  </a:lnTo>
                  <a:lnTo>
                    <a:pt x="38100" y="1943100"/>
                  </a:lnTo>
                  <a:lnTo>
                    <a:pt x="0" y="1943100"/>
                  </a:lnTo>
                  <a:lnTo>
                    <a:pt x="38100" y="2019300"/>
                  </a:lnTo>
                  <a:lnTo>
                    <a:pt x="57150" y="2057400"/>
                  </a:lnTo>
                  <a:lnTo>
                    <a:pt x="76200" y="2019300"/>
                  </a:lnTo>
                  <a:lnTo>
                    <a:pt x="114300" y="1943100"/>
                  </a:lnTo>
                  <a:lnTo>
                    <a:pt x="76200" y="1943100"/>
                  </a:lnTo>
                  <a:lnTo>
                    <a:pt x="76200" y="723900"/>
                  </a:lnTo>
                  <a:lnTo>
                    <a:pt x="114300" y="723900"/>
                  </a:lnTo>
                  <a:close/>
                </a:path>
                <a:path extrusionOk="0" h="2057400" w="800100">
                  <a:moveTo>
                    <a:pt x="800100" y="114300"/>
                  </a:moveTo>
                  <a:lnTo>
                    <a:pt x="742950" y="0"/>
                  </a:lnTo>
                  <a:lnTo>
                    <a:pt x="685800" y="114300"/>
                  </a:lnTo>
                  <a:lnTo>
                    <a:pt x="723900" y="114300"/>
                  </a:lnTo>
                  <a:lnTo>
                    <a:pt x="723900" y="1943100"/>
                  </a:lnTo>
                  <a:lnTo>
                    <a:pt x="685800" y="1943100"/>
                  </a:lnTo>
                  <a:lnTo>
                    <a:pt x="723900" y="2019300"/>
                  </a:lnTo>
                  <a:lnTo>
                    <a:pt x="742950" y="2057400"/>
                  </a:lnTo>
                  <a:lnTo>
                    <a:pt x="762000" y="2019300"/>
                  </a:lnTo>
                  <a:lnTo>
                    <a:pt x="800100" y="1943100"/>
                  </a:lnTo>
                  <a:lnTo>
                    <a:pt x="762000" y="1943100"/>
                  </a:lnTo>
                  <a:lnTo>
                    <a:pt x="762000" y="114300"/>
                  </a:lnTo>
                  <a:lnTo>
                    <a:pt x="800100" y="11430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13"/>
          <p:cNvSpPr txBox="1"/>
          <p:nvPr/>
        </p:nvSpPr>
        <p:spPr>
          <a:xfrm>
            <a:off x="3505540" y="1929418"/>
            <a:ext cx="788957" cy="197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0" lvl="0" marL="127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1821159" y="2515790"/>
            <a:ext cx="5960156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 = &lt;Rainy, Cold, High, Strong, Warm, Change&gt;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63677" y="2745240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1821159" y="3127656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← {&lt; Sunny, Warm, ?,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13"/>
          <p:cNvGrpSpPr/>
          <p:nvPr/>
        </p:nvGrpSpPr>
        <p:grpSpPr>
          <a:xfrm>
            <a:off x="827800" y="3892488"/>
            <a:ext cx="8023286" cy="377955"/>
            <a:chOff x="825500" y="3878071"/>
            <a:chExt cx="8001000" cy="376555"/>
          </a:xfrm>
        </p:grpSpPr>
        <p:sp>
          <p:nvSpPr>
            <p:cNvPr id="216" name="Google Shape;216;p13"/>
            <p:cNvSpPr/>
            <p:nvPr/>
          </p:nvSpPr>
          <p:spPr>
            <a:xfrm>
              <a:off x="825500" y="3878071"/>
              <a:ext cx="8001000" cy="376555"/>
            </a:xfrm>
            <a:custGeom>
              <a:rect b="b" l="l" r="r" t="t"/>
              <a:pathLst>
                <a:path extrusionOk="0" h="376554" w="8001000">
                  <a:moveTo>
                    <a:pt x="8001000" y="376427"/>
                  </a:moveTo>
                  <a:lnTo>
                    <a:pt x="8001000" y="0"/>
                  </a:lnTo>
                  <a:lnTo>
                    <a:pt x="0" y="0"/>
                  </a:lnTo>
                  <a:lnTo>
                    <a:pt x="0" y="376428"/>
                  </a:lnTo>
                  <a:lnTo>
                    <a:pt x="8001000" y="376427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25500" y="3878071"/>
              <a:ext cx="8001000" cy="376555"/>
            </a:xfrm>
            <a:custGeom>
              <a:rect b="b" l="l" r="r" t="t"/>
              <a:pathLst>
                <a:path extrusionOk="0" h="376554" w="8001000">
                  <a:moveTo>
                    <a:pt x="0" y="0"/>
                  </a:moveTo>
                  <a:lnTo>
                    <a:pt x="0" y="376428"/>
                  </a:lnTo>
                  <a:lnTo>
                    <a:pt x="8001000" y="376427"/>
                  </a:lnTo>
                  <a:lnTo>
                    <a:pt x="8001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13"/>
          <p:cNvSpPr txBox="1"/>
          <p:nvPr/>
        </p:nvSpPr>
        <p:spPr>
          <a:xfrm>
            <a:off x="912108" y="3924101"/>
            <a:ext cx="7617028" cy="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0" lvl="0" marL="127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{&lt;Sunny, ?, ?, ?, ?, ?&gt;, &lt;?, Warm, ?, ?, ?, ?&gt;, &lt;?, ?, ?, ?, Same&gt;}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736577" y="4188478"/>
            <a:ext cx="4049850" cy="779492"/>
          </a:xfrm>
          <a:custGeom>
            <a:rect b="b" l="l" r="r" t="t"/>
            <a:pathLst>
              <a:path extrusionOk="0" h="776604" w="4038600">
                <a:moveTo>
                  <a:pt x="2138172" y="770382"/>
                </a:moveTo>
                <a:lnTo>
                  <a:pt x="2135124" y="767334"/>
                </a:lnTo>
                <a:lnTo>
                  <a:pt x="73329" y="31102"/>
                </a:lnTo>
                <a:lnTo>
                  <a:pt x="84582" y="0"/>
                </a:lnTo>
                <a:lnTo>
                  <a:pt x="0" y="9906"/>
                </a:lnTo>
                <a:lnTo>
                  <a:pt x="55626" y="68427"/>
                </a:lnTo>
                <a:lnTo>
                  <a:pt x="58674" y="71628"/>
                </a:lnTo>
                <a:lnTo>
                  <a:pt x="70053" y="40157"/>
                </a:lnTo>
                <a:lnTo>
                  <a:pt x="2132076" y="776478"/>
                </a:lnTo>
                <a:lnTo>
                  <a:pt x="2135886" y="776478"/>
                </a:lnTo>
                <a:lnTo>
                  <a:pt x="2138172" y="773430"/>
                </a:lnTo>
                <a:lnTo>
                  <a:pt x="2138172" y="770382"/>
                </a:lnTo>
                <a:close/>
              </a:path>
              <a:path extrusionOk="0" h="776604" w="4038600">
                <a:moveTo>
                  <a:pt x="2324100" y="86106"/>
                </a:moveTo>
                <a:lnTo>
                  <a:pt x="2286000" y="9906"/>
                </a:lnTo>
                <a:lnTo>
                  <a:pt x="2247900" y="86106"/>
                </a:lnTo>
                <a:lnTo>
                  <a:pt x="2281428" y="86106"/>
                </a:lnTo>
                <a:lnTo>
                  <a:pt x="2281428" y="771906"/>
                </a:lnTo>
                <a:lnTo>
                  <a:pt x="2282190" y="775716"/>
                </a:lnTo>
                <a:lnTo>
                  <a:pt x="2286000" y="776478"/>
                </a:lnTo>
                <a:lnTo>
                  <a:pt x="2289048" y="775716"/>
                </a:lnTo>
                <a:lnTo>
                  <a:pt x="2290572" y="771906"/>
                </a:lnTo>
                <a:lnTo>
                  <a:pt x="2290572" y="86106"/>
                </a:lnTo>
                <a:lnTo>
                  <a:pt x="2324100" y="86106"/>
                </a:lnTo>
                <a:close/>
              </a:path>
              <a:path extrusionOk="0" h="776604" w="4038600">
                <a:moveTo>
                  <a:pt x="4038600" y="9906"/>
                </a:moveTo>
                <a:lnTo>
                  <a:pt x="3953256" y="8382"/>
                </a:lnTo>
                <a:lnTo>
                  <a:pt x="3967543" y="38303"/>
                </a:lnTo>
                <a:lnTo>
                  <a:pt x="2436114" y="768096"/>
                </a:lnTo>
                <a:lnTo>
                  <a:pt x="2433828" y="770382"/>
                </a:lnTo>
                <a:lnTo>
                  <a:pt x="2433828" y="774192"/>
                </a:lnTo>
                <a:lnTo>
                  <a:pt x="2436876" y="776478"/>
                </a:lnTo>
                <a:lnTo>
                  <a:pt x="2440686" y="776478"/>
                </a:lnTo>
                <a:lnTo>
                  <a:pt x="3971810" y="47231"/>
                </a:lnTo>
                <a:lnTo>
                  <a:pt x="3986022" y="76962"/>
                </a:lnTo>
                <a:lnTo>
                  <a:pt x="4038600" y="99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3196579" y="5039737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G2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-4604746" y="322725"/>
            <a:ext cx="4964100" cy="188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/>
        </p:nvSpPr>
        <p:spPr>
          <a:xfrm>
            <a:off x="1821159" y="2515790"/>
            <a:ext cx="5578095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 = &lt;Sunny, Warm, high, Strong, Cool, Change&gt;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821159" y="3127656"/>
            <a:ext cx="5654507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S4 ← {&lt; Sunny, Warm, ?, Strong, ?, ?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0" y="1564720"/>
            <a:ext cx="9144000" cy="57362"/>
          </a:xfrm>
          <a:custGeom>
            <a:rect b="b" l="l" r="r" t="t"/>
            <a:pathLst>
              <a:path extrusionOk="0" h="57150" w="9118600">
                <a:moveTo>
                  <a:pt x="0" y="0"/>
                </a:moveTo>
                <a:lnTo>
                  <a:pt x="0" y="57150"/>
                </a:lnTo>
                <a:lnTo>
                  <a:pt x="9118600" y="57150"/>
                </a:lnTo>
                <a:lnTo>
                  <a:pt x="911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63677" y="2745240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1897571" y="3887900"/>
            <a:ext cx="5807331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G4 ← {&lt;Sunny, ?, ?, ?, ?, ?&gt;, &lt;?, Warm,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/>
          <p:nvPr>
            <p:ph type="title"/>
          </p:nvPr>
        </p:nvSpPr>
        <p:spPr>
          <a:xfrm>
            <a:off x="1591922" y="216703"/>
            <a:ext cx="6265800" cy="321600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950">
            <a:spAutoFit/>
          </a:bodyPr>
          <a:lstStyle/>
          <a:p>
            <a:pPr indent="0" lvl="0" marL="968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S3 ← {&lt; Sunny, Warm, ?, Strong, Warm, Same &gt;}</a:t>
            </a:r>
            <a:endParaRPr sz="1800"/>
          </a:p>
        </p:txBody>
      </p:sp>
      <p:sp>
        <p:nvSpPr>
          <p:cNvPr id="232" name="Google Shape;232;p14"/>
          <p:cNvSpPr txBox="1"/>
          <p:nvPr/>
        </p:nvSpPr>
        <p:spPr>
          <a:xfrm>
            <a:off x="598563" y="981536"/>
            <a:ext cx="8023287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{&lt;Sunny, ?, ?, ?, ?, ?&gt;, &lt;?, Warm, ?, ?, ?, ?&gt;, &lt;?, ?, ?, ?, Same&gt;}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980624" y="4958666"/>
            <a:ext cx="8023287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{&lt;Sunny, ?, ?, ?, ?, ?&gt;, &lt;?, Warm, ?, ?, ?, ?&gt;, &lt;?, ?, ?, ?, Same&gt;}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533794" y="4270316"/>
            <a:ext cx="76412" cy="693448"/>
          </a:xfrm>
          <a:custGeom>
            <a:rect b="b" l="l" r="r" t="t"/>
            <a:pathLst>
              <a:path extrusionOk="0" h="690879" w="762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3246"/>
                </a:lnTo>
                <a:lnTo>
                  <a:pt x="35051" y="60198"/>
                </a:lnTo>
                <a:lnTo>
                  <a:pt x="38100" y="58674"/>
                </a:lnTo>
                <a:lnTo>
                  <a:pt x="41148" y="60198"/>
                </a:lnTo>
                <a:lnTo>
                  <a:pt x="42672" y="63246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extrusionOk="0" h="690879" w="76200">
                <a:moveTo>
                  <a:pt x="42672" y="76200"/>
                </a:moveTo>
                <a:lnTo>
                  <a:pt x="42672" y="63246"/>
                </a:lnTo>
                <a:lnTo>
                  <a:pt x="41148" y="60198"/>
                </a:lnTo>
                <a:lnTo>
                  <a:pt x="38100" y="58674"/>
                </a:lnTo>
                <a:lnTo>
                  <a:pt x="35051" y="60198"/>
                </a:lnTo>
                <a:lnTo>
                  <a:pt x="33527" y="63246"/>
                </a:lnTo>
                <a:lnTo>
                  <a:pt x="33527" y="76200"/>
                </a:lnTo>
                <a:lnTo>
                  <a:pt x="42672" y="76200"/>
                </a:lnTo>
                <a:close/>
              </a:path>
              <a:path extrusionOk="0" h="690879" w="76200">
                <a:moveTo>
                  <a:pt x="42672" y="685800"/>
                </a:moveTo>
                <a:lnTo>
                  <a:pt x="42672" y="76200"/>
                </a:lnTo>
                <a:lnTo>
                  <a:pt x="33527" y="76200"/>
                </a:lnTo>
                <a:lnTo>
                  <a:pt x="33527" y="685800"/>
                </a:lnTo>
                <a:lnTo>
                  <a:pt x="35051" y="688848"/>
                </a:lnTo>
                <a:lnTo>
                  <a:pt x="38100" y="690372"/>
                </a:lnTo>
                <a:lnTo>
                  <a:pt x="41148" y="688848"/>
                </a:lnTo>
                <a:lnTo>
                  <a:pt x="42672" y="685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5611971" y="522636"/>
            <a:ext cx="365505" cy="2065048"/>
          </a:xfrm>
          <a:custGeom>
            <a:rect b="b" l="l" r="r" t="t"/>
            <a:pathLst>
              <a:path extrusionOk="0" h="2057400" w="364489">
                <a:moveTo>
                  <a:pt x="84581" y="78485"/>
                </a:moveTo>
                <a:lnTo>
                  <a:pt x="29717" y="0"/>
                </a:lnTo>
                <a:lnTo>
                  <a:pt x="0" y="90677"/>
                </a:lnTo>
                <a:lnTo>
                  <a:pt x="25907" y="86943"/>
                </a:lnTo>
                <a:lnTo>
                  <a:pt x="25907" y="72389"/>
                </a:lnTo>
                <a:lnTo>
                  <a:pt x="54101" y="68579"/>
                </a:lnTo>
                <a:lnTo>
                  <a:pt x="56179" y="82580"/>
                </a:lnTo>
                <a:lnTo>
                  <a:pt x="84581" y="78485"/>
                </a:lnTo>
                <a:close/>
              </a:path>
              <a:path extrusionOk="0" h="2057400" w="364489">
                <a:moveTo>
                  <a:pt x="56179" y="82580"/>
                </a:moveTo>
                <a:lnTo>
                  <a:pt x="54101" y="68579"/>
                </a:lnTo>
                <a:lnTo>
                  <a:pt x="25907" y="72389"/>
                </a:lnTo>
                <a:lnTo>
                  <a:pt x="28021" y="86638"/>
                </a:lnTo>
                <a:lnTo>
                  <a:pt x="56179" y="82580"/>
                </a:lnTo>
                <a:close/>
              </a:path>
              <a:path extrusionOk="0" h="2057400" w="364489">
                <a:moveTo>
                  <a:pt x="28021" y="86638"/>
                </a:moveTo>
                <a:lnTo>
                  <a:pt x="25907" y="72389"/>
                </a:lnTo>
                <a:lnTo>
                  <a:pt x="25907" y="86943"/>
                </a:lnTo>
                <a:lnTo>
                  <a:pt x="28021" y="86638"/>
                </a:lnTo>
                <a:close/>
              </a:path>
              <a:path extrusionOk="0" h="2057400" w="364489">
                <a:moveTo>
                  <a:pt x="336250" y="1970246"/>
                </a:moveTo>
                <a:lnTo>
                  <a:pt x="56179" y="82580"/>
                </a:lnTo>
                <a:lnTo>
                  <a:pt x="28021" y="86638"/>
                </a:lnTo>
                <a:lnTo>
                  <a:pt x="308020" y="1974569"/>
                </a:lnTo>
                <a:lnTo>
                  <a:pt x="336250" y="1970246"/>
                </a:lnTo>
                <a:close/>
              </a:path>
              <a:path extrusionOk="0" h="2057400" w="364489">
                <a:moveTo>
                  <a:pt x="338327" y="2045676"/>
                </a:moveTo>
                <a:lnTo>
                  <a:pt x="338327" y="1984247"/>
                </a:lnTo>
                <a:lnTo>
                  <a:pt x="310133" y="1988819"/>
                </a:lnTo>
                <a:lnTo>
                  <a:pt x="308020" y="1974569"/>
                </a:lnTo>
                <a:lnTo>
                  <a:pt x="279653" y="1978913"/>
                </a:lnTo>
                <a:lnTo>
                  <a:pt x="334517" y="2057399"/>
                </a:lnTo>
                <a:lnTo>
                  <a:pt x="338327" y="2045676"/>
                </a:lnTo>
                <a:close/>
              </a:path>
              <a:path extrusionOk="0" h="2057400" w="364489">
                <a:moveTo>
                  <a:pt x="338327" y="1984247"/>
                </a:moveTo>
                <a:lnTo>
                  <a:pt x="336250" y="1970246"/>
                </a:lnTo>
                <a:lnTo>
                  <a:pt x="308020" y="1974569"/>
                </a:lnTo>
                <a:lnTo>
                  <a:pt x="310133" y="1988819"/>
                </a:lnTo>
                <a:lnTo>
                  <a:pt x="338327" y="1984247"/>
                </a:lnTo>
                <a:close/>
              </a:path>
              <a:path extrusionOk="0" h="2057400" w="364489">
                <a:moveTo>
                  <a:pt x="364235" y="1965959"/>
                </a:moveTo>
                <a:lnTo>
                  <a:pt x="336250" y="1970246"/>
                </a:lnTo>
                <a:lnTo>
                  <a:pt x="338327" y="1984247"/>
                </a:lnTo>
                <a:lnTo>
                  <a:pt x="338327" y="2045676"/>
                </a:lnTo>
                <a:lnTo>
                  <a:pt x="364235" y="1965959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4"/>
          <p:cNvGrpSpPr/>
          <p:nvPr/>
        </p:nvGrpSpPr>
        <p:grpSpPr>
          <a:xfrm>
            <a:off x="6176657" y="522635"/>
            <a:ext cx="2215956" cy="3441747"/>
            <a:chOff x="6159500" y="520699"/>
            <a:chExt cx="2209800" cy="3429000"/>
          </a:xfrm>
        </p:grpSpPr>
        <p:sp>
          <p:nvSpPr>
            <p:cNvPr id="237" name="Google Shape;237;p14"/>
            <p:cNvSpPr/>
            <p:nvPr/>
          </p:nvSpPr>
          <p:spPr>
            <a:xfrm>
              <a:off x="6159500" y="825500"/>
              <a:ext cx="2209800" cy="685800"/>
            </a:xfrm>
            <a:custGeom>
              <a:rect b="b" l="l" r="r" t="t"/>
              <a:pathLst>
                <a:path extrusionOk="0" h="685800" w="2209800">
                  <a:moveTo>
                    <a:pt x="1104900" y="0"/>
                  </a:moveTo>
                  <a:lnTo>
                    <a:pt x="1035009" y="673"/>
                  </a:lnTo>
                  <a:lnTo>
                    <a:pt x="966275" y="2665"/>
                  </a:lnTo>
                  <a:lnTo>
                    <a:pt x="898828" y="5938"/>
                  </a:lnTo>
                  <a:lnTo>
                    <a:pt x="832797" y="10450"/>
                  </a:lnTo>
                  <a:lnTo>
                    <a:pt x="768311" y="16163"/>
                  </a:lnTo>
                  <a:lnTo>
                    <a:pt x="705500" y="23036"/>
                  </a:lnTo>
                  <a:lnTo>
                    <a:pt x="644492" y="31030"/>
                  </a:lnTo>
                  <a:lnTo>
                    <a:pt x="585417" y="40105"/>
                  </a:lnTo>
                  <a:lnTo>
                    <a:pt x="528405" y="50221"/>
                  </a:lnTo>
                  <a:lnTo>
                    <a:pt x="473584" y="61338"/>
                  </a:lnTo>
                  <a:lnTo>
                    <a:pt x="421084" y="73416"/>
                  </a:lnTo>
                  <a:lnTo>
                    <a:pt x="371034" y="86416"/>
                  </a:lnTo>
                  <a:lnTo>
                    <a:pt x="323564" y="100298"/>
                  </a:lnTo>
                  <a:lnTo>
                    <a:pt x="278802" y="115022"/>
                  </a:lnTo>
                  <a:lnTo>
                    <a:pt x="236878" y="130548"/>
                  </a:lnTo>
                  <a:lnTo>
                    <a:pt x="197922" y="146836"/>
                  </a:lnTo>
                  <a:lnTo>
                    <a:pt x="162062" y="163847"/>
                  </a:lnTo>
                  <a:lnTo>
                    <a:pt x="100149" y="199878"/>
                  </a:lnTo>
                  <a:lnTo>
                    <a:pt x="52173" y="238322"/>
                  </a:lnTo>
                  <a:lnTo>
                    <a:pt x="19170" y="278861"/>
                  </a:lnTo>
                  <a:lnTo>
                    <a:pt x="2173" y="321176"/>
                  </a:lnTo>
                  <a:lnTo>
                    <a:pt x="0" y="342900"/>
                  </a:lnTo>
                  <a:lnTo>
                    <a:pt x="2173" y="364623"/>
                  </a:lnTo>
                  <a:lnTo>
                    <a:pt x="19170" y="406938"/>
                  </a:lnTo>
                  <a:lnTo>
                    <a:pt x="52173" y="447477"/>
                  </a:lnTo>
                  <a:lnTo>
                    <a:pt x="100149" y="485921"/>
                  </a:lnTo>
                  <a:lnTo>
                    <a:pt x="162062" y="521952"/>
                  </a:lnTo>
                  <a:lnTo>
                    <a:pt x="197922" y="538963"/>
                  </a:lnTo>
                  <a:lnTo>
                    <a:pt x="236878" y="555251"/>
                  </a:lnTo>
                  <a:lnTo>
                    <a:pt x="278802" y="570777"/>
                  </a:lnTo>
                  <a:lnTo>
                    <a:pt x="323564" y="585501"/>
                  </a:lnTo>
                  <a:lnTo>
                    <a:pt x="371034" y="599383"/>
                  </a:lnTo>
                  <a:lnTo>
                    <a:pt x="421084" y="612383"/>
                  </a:lnTo>
                  <a:lnTo>
                    <a:pt x="473584" y="624461"/>
                  </a:lnTo>
                  <a:lnTo>
                    <a:pt x="528405" y="635578"/>
                  </a:lnTo>
                  <a:lnTo>
                    <a:pt x="585417" y="645694"/>
                  </a:lnTo>
                  <a:lnTo>
                    <a:pt x="644492" y="654769"/>
                  </a:lnTo>
                  <a:lnTo>
                    <a:pt x="705500" y="662763"/>
                  </a:lnTo>
                  <a:lnTo>
                    <a:pt x="768311" y="669636"/>
                  </a:lnTo>
                  <a:lnTo>
                    <a:pt x="832797" y="675349"/>
                  </a:lnTo>
                  <a:lnTo>
                    <a:pt x="898828" y="679861"/>
                  </a:lnTo>
                  <a:lnTo>
                    <a:pt x="966275" y="683134"/>
                  </a:lnTo>
                  <a:lnTo>
                    <a:pt x="1035009" y="685126"/>
                  </a:lnTo>
                  <a:lnTo>
                    <a:pt x="1104900" y="685800"/>
                  </a:lnTo>
                  <a:lnTo>
                    <a:pt x="1174790" y="685126"/>
                  </a:lnTo>
                  <a:lnTo>
                    <a:pt x="1243524" y="683134"/>
                  </a:lnTo>
                  <a:lnTo>
                    <a:pt x="1310971" y="679861"/>
                  </a:lnTo>
                  <a:lnTo>
                    <a:pt x="1377002" y="675349"/>
                  </a:lnTo>
                  <a:lnTo>
                    <a:pt x="1441488" y="669636"/>
                  </a:lnTo>
                  <a:lnTo>
                    <a:pt x="1504299" y="662763"/>
                  </a:lnTo>
                  <a:lnTo>
                    <a:pt x="1565307" y="654769"/>
                  </a:lnTo>
                  <a:lnTo>
                    <a:pt x="1624382" y="645694"/>
                  </a:lnTo>
                  <a:lnTo>
                    <a:pt x="1681394" y="635578"/>
                  </a:lnTo>
                  <a:lnTo>
                    <a:pt x="1736215" y="624461"/>
                  </a:lnTo>
                  <a:lnTo>
                    <a:pt x="1788715" y="612383"/>
                  </a:lnTo>
                  <a:lnTo>
                    <a:pt x="1838765" y="599383"/>
                  </a:lnTo>
                  <a:lnTo>
                    <a:pt x="1886235" y="585501"/>
                  </a:lnTo>
                  <a:lnTo>
                    <a:pt x="1930997" y="570777"/>
                  </a:lnTo>
                  <a:lnTo>
                    <a:pt x="1972921" y="555251"/>
                  </a:lnTo>
                  <a:lnTo>
                    <a:pt x="2011877" y="538963"/>
                  </a:lnTo>
                  <a:lnTo>
                    <a:pt x="2047737" y="521952"/>
                  </a:lnTo>
                  <a:lnTo>
                    <a:pt x="2109650" y="485921"/>
                  </a:lnTo>
                  <a:lnTo>
                    <a:pt x="2157626" y="447477"/>
                  </a:lnTo>
                  <a:lnTo>
                    <a:pt x="2190629" y="406938"/>
                  </a:lnTo>
                  <a:lnTo>
                    <a:pt x="2207626" y="364623"/>
                  </a:lnTo>
                  <a:lnTo>
                    <a:pt x="2209800" y="342900"/>
                  </a:lnTo>
                  <a:lnTo>
                    <a:pt x="2207626" y="321176"/>
                  </a:lnTo>
                  <a:lnTo>
                    <a:pt x="2190629" y="278861"/>
                  </a:lnTo>
                  <a:lnTo>
                    <a:pt x="2157626" y="238322"/>
                  </a:lnTo>
                  <a:lnTo>
                    <a:pt x="2109650" y="199878"/>
                  </a:lnTo>
                  <a:lnTo>
                    <a:pt x="2047737" y="163847"/>
                  </a:lnTo>
                  <a:lnTo>
                    <a:pt x="2011877" y="146836"/>
                  </a:lnTo>
                  <a:lnTo>
                    <a:pt x="1972921" y="130548"/>
                  </a:lnTo>
                  <a:lnTo>
                    <a:pt x="1930997" y="115022"/>
                  </a:lnTo>
                  <a:lnTo>
                    <a:pt x="1886235" y="100298"/>
                  </a:lnTo>
                  <a:lnTo>
                    <a:pt x="1838765" y="86416"/>
                  </a:lnTo>
                  <a:lnTo>
                    <a:pt x="1788715" y="73416"/>
                  </a:lnTo>
                  <a:lnTo>
                    <a:pt x="1736215" y="61338"/>
                  </a:lnTo>
                  <a:lnTo>
                    <a:pt x="1681394" y="50221"/>
                  </a:lnTo>
                  <a:lnTo>
                    <a:pt x="1624382" y="40105"/>
                  </a:lnTo>
                  <a:lnTo>
                    <a:pt x="1565307" y="31030"/>
                  </a:lnTo>
                  <a:lnTo>
                    <a:pt x="1504299" y="23036"/>
                  </a:lnTo>
                  <a:lnTo>
                    <a:pt x="1441488" y="16163"/>
                  </a:lnTo>
                  <a:lnTo>
                    <a:pt x="1377002" y="10450"/>
                  </a:lnTo>
                  <a:lnTo>
                    <a:pt x="1310971" y="5938"/>
                  </a:lnTo>
                  <a:lnTo>
                    <a:pt x="1243524" y="2665"/>
                  </a:lnTo>
                  <a:lnTo>
                    <a:pt x="1174790" y="673"/>
                  </a:lnTo>
                  <a:lnTo>
                    <a:pt x="110490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6205982" y="520699"/>
              <a:ext cx="969010" cy="3429000"/>
            </a:xfrm>
            <a:custGeom>
              <a:rect b="b" l="l" r="r" t="t"/>
              <a:pathLst>
                <a:path extrusionOk="0" h="3429000" w="969009">
                  <a:moveTo>
                    <a:pt x="364236" y="1965960"/>
                  </a:moveTo>
                  <a:lnTo>
                    <a:pt x="336245" y="1970252"/>
                  </a:lnTo>
                  <a:lnTo>
                    <a:pt x="56172" y="82588"/>
                  </a:lnTo>
                  <a:lnTo>
                    <a:pt x="84582" y="78486"/>
                  </a:lnTo>
                  <a:lnTo>
                    <a:pt x="29718" y="0"/>
                  </a:lnTo>
                  <a:lnTo>
                    <a:pt x="0" y="90678"/>
                  </a:lnTo>
                  <a:lnTo>
                    <a:pt x="25908" y="86944"/>
                  </a:lnTo>
                  <a:lnTo>
                    <a:pt x="28016" y="86639"/>
                  </a:lnTo>
                  <a:lnTo>
                    <a:pt x="308013" y="1974570"/>
                  </a:lnTo>
                  <a:lnTo>
                    <a:pt x="279654" y="1978914"/>
                  </a:lnTo>
                  <a:lnTo>
                    <a:pt x="334518" y="2057400"/>
                  </a:lnTo>
                  <a:lnTo>
                    <a:pt x="338328" y="2045677"/>
                  </a:lnTo>
                  <a:lnTo>
                    <a:pt x="364236" y="1965960"/>
                  </a:lnTo>
                  <a:close/>
                </a:path>
                <a:path extrusionOk="0" h="3429000" w="969009">
                  <a:moveTo>
                    <a:pt x="968502" y="931164"/>
                  </a:moveTo>
                  <a:lnTo>
                    <a:pt x="944118" y="838200"/>
                  </a:lnTo>
                  <a:lnTo>
                    <a:pt x="884682" y="913638"/>
                  </a:lnTo>
                  <a:lnTo>
                    <a:pt x="912977" y="919556"/>
                  </a:lnTo>
                  <a:lnTo>
                    <a:pt x="414350" y="3341903"/>
                  </a:lnTo>
                  <a:lnTo>
                    <a:pt x="386334" y="3336036"/>
                  </a:lnTo>
                  <a:lnTo>
                    <a:pt x="410718" y="3429000"/>
                  </a:lnTo>
                  <a:lnTo>
                    <a:pt x="411480" y="3428034"/>
                  </a:lnTo>
                  <a:lnTo>
                    <a:pt x="470154" y="3353562"/>
                  </a:lnTo>
                  <a:lnTo>
                    <a:pt x="441845" y="3347656"/>
                  </a:lnTo>
                  <a:lnTo>
                    <a:pt x="940473" y="925309"/>
                  </a:lnTo>
                  <a:lnTo>
                    <a:pt x="943356" y="925906"/>
                  </a:lnTo>
                  <a:lnTo>
                    <a:pt x="968502" y="931164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14"/>
          <p:cNvSpPr/>
          <p:nvPr/>
        </p:nvSpPr>
        <p:spPr>
          <a:xfrm>
            <a:off x="919286" y="5341082"/>
            <a:ext cx="7702564" cy="1885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/>
          <p:nvPr/>
        </p:nvSpPr>
        <p:spPr>
          <a:xfrm>
            <a:off x="1031653" y="1555048"/>
            <a:ext cx="7360959" cy="35503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/>
          <p:nvPr/>
        </p:nvSpPr>
        <p:spPr>
          <a:xfrm>
            <a:off x="842872" y="905052"/>
            <a:ext cx="7702564" cy="1885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2829799" y="3123067"/>
            <a:ext cx="3346857" cy="2600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2959383" y="3581966"/>
            <a:ext cx="3217274" cy="32658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093053" y="4040866"/>
            <a:ext cx="3007191" cy="39541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000949" y="4576250"/>
            <a:ext cx="3175708" cy="36941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3214918" y="5111632"/>
            <a:ext cx="2732502" cy="32964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6"/>
          <p:cNvGrpSpPr/>
          <p:nvPr/>
        </p:nvGrpSpPr>
        <p:grpSpPr>
          <a:xfrm>
            <a:off x="2585281" y="2970100"/>
            <a:ext cx="4049850" cy="3135814"/>
            <a:chOff x="2578100" y="2959100"/>
            <a:chExt cx="4038600" cy="3124200"/>
          </a:xfrm>
        </p:grpSpPr>
        <p:sp>
          <p:nvSpPr>
            <p:cNvPr id="256" name="Google Shape;256;p16"/>
            <p:cNvSpPr/>
            <p:nvPr/>
          </p:nvSpPr>
          <p:spPr>
            <a:xfrm>
              <a:off x="3186225" y="5549900"/>
              <a:ext cx="2820874" cy="39242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578100" y="2959100"/>
              <a:ext cx="4038600" cy="3124200"/>
            </a:xfrm>
            <a:custGeom>
              <a:rect b="b" l="l" r="r" t="t"/>
              <a:pathLst>
                <a:path extrusionOk="0" h="3124200" w="4038600">
                  <a:moveTo>
                    <a:pt x="0" y="0"/>
                  </a:moveTo>
                  <a:lnTo>
                    <a:pt x="0" y="3124200"/>
                  </a:lnTo>
                  <a:lnTo>
                    <a:pt x="4038600" y="3124200"/>
                  </a:lnTo>
                  <a:lnTo>
                    <a:pt x="4038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type="title"/>
          </p:nvPr>
        </p:nvSpPr>
        <p:spPr>
          <a:xfrm>
            <a:off x="610278" y="197072"/>
            <a:ext cx="7922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Remarks on Version Spaces and  Candidate-Elimination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391875" y="2111450"/>
            <a:ext cx="80472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150">
            <a:spAutoFit/>
          </a:bodyPr>
          <a:lstStyle/>
          <a:p>
            <a:pPr indent="0" lvl="0" marL="12739" marR="17389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version space learned by the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CANDIDATE-ELIMINATION algorithm  will converge toward the hypothesis that correctly describes the target  concept, provided</a:t>
            </a:r>
            <a:endParaRPr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A"/>
              </a:buClr>
              <a:buSzPts val="2400"/>
              <a:buFont typeface="Lato"/>
              <a:buChar char="●"/>
            </a:pPr>
            <a:r>
              <a:rPr b="1" i="0" lang="en-US" sz="2400" u="none" cap="none" strike="noStrike">
                <a:solidFill>
                  <a:srgbClr val="33339A"/>
                </a:solidFill>
                <a:latin typeface="Lato"/>
                <a:ea typeface="Lato"/>
                <a:cs typeface="Lato"/>
                <a:sym typeface="Lato"/>
              </a:rPr>
              <a:t>there are no errors in the training examples, and</a:t>
            </a:r>
            <a:endParaRPr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665632" rtl="0" algn="l">
              <a:lnSpc>
                <a:spcPct val="79800"/>
              </a:lnSpc>
              <a:spcBef>
                <a:spcPts val="0"/>
              </a:spcBef>
              <a:spcAft>
                <a:spcPts val="0"/>
              </a:spcAft>
              <a:buClr>
                <a:srgbClr val="33339A"/>
              </a:buClr>
              <a:buSzPts val="2400"/>
              <a:buFont typeface="Lato"/>
              <a:buChar char="●"/>
            </a:pPr>
            <a:r>
              <a:rPr b="1" i="0" lang="en-US" sz="2400" u="none" cap="none" strike="noStrike">
                <a:solidFill>
                  <a:srgbClr val="33339A"/>
                </a:solidFill>
                <a:latin typeface="Lato"/>
                <a:ea typeface="Lato"/>
                <a:cs typeface="Lato"/>
                <a:sym typeface="Lato"/>
              </a:rPr>
              <a:t>there is some hypothesis in H that correctly  describes the target concept.</a:t>
            </a:r>
            <a:endParaRPr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>
            <p:ph type="title"/>
          </p:nvPr>
        </p:nvSpPr>
        <p:spPr>
          <a:xfrm>
            <a:off x="457200" y="188913"/>
            <a:ext cx="8218488" cy="124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740835" lvl="0" marL="178032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What will Happen if the Training  Contains errors ?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842872" y="2281751"/>
            <a:ext cx="7702564" cy="1885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7781315" y="3199550"/>
            <a:ext cx="611298" cy="255964"/>
          </a:xfrm>
          <a:prstGeom prst="rect">
            <a:avLst/>
          </a:prstGeom>
          <a:solidFill>
            <a:srgbClr val="EFF7A7"/>
          </a:solidFill>
          <a:ln>
            <a:noFill/>
          </a:ln>
        </p:spPr>
        <p:txBody>
          <a:bodyPr anchorCtr="0" anchor="t" bIns="0" lIns="0" spcFirstLastPara="1" rIns="0" wrap="square" tIns="40125">
            <a:spAutoFit/>
          </a:bodyPr>
          <a:lstStyle/>
          <a:p>
            <a:pPr indent="0" lvl="0" marL="92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/>
        </p:nvSpPr>
        <p:spPr>
          <a:xfrm>
            <a:off x="3043755" y="216703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G0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3043755" y="675603"/>
            <a:ext cx="320931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S0 ← {&lt;Ø, Ø, Ø, Ø, Ø, Ø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821159" y="1899335"/>
            <a:ext cx="5960156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 = &lt;Sunny, Warm, Normal, Strong, Warm, Same&gt;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821159" y="2821723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S1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3120167" y="2358235"/>
            <a:ext cx="320931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G1 ← {&lt;?, ?, ?,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0" y="1210985"/>
            <a:ext cx="9144000" cy="0"/>
          </a:xfrm>
          <a:custGeom>
            <a:rect b="b" l="l" r="r" t="t"/>
            <a:pathLst>
              <a:path extrusionOk="0" h="120000" w="9118600">
                <a:moveTo>
                  <a:pt x="0" y="0"/>
                </a:moveTo>
                <a:lnTo>
                  <a:pt x="9118600" y="0"/>
                </a:lnTo>
              </a:path>
            </a:pathLst>
          </a:cu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0" y="3964383"/>
            <a:ext cx="9144000" cy="0"/>
          </a:xfrm>
          <a:custGeom>
            <a:rect b="b" l="l" r="r" t="t"/>
            <a:pathLst>
              <a:path extrusionOk="0" h="120000" w="9118600">
                <a:moveTo>
                  <a:pt x="0" y="0"/>
                </a:moveTo>
                <a:lnTo>
                  <a:pt x="9118600" y="0"/>
                </a:lnTo>
              </a:path>
            </a:pathLst>
          </a:cu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63677" y="2128785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2203220" y="4729216"/>
            <a:ext cx="5501682" cy="32137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 = &lt;Sunny, Warm, High, Strong, Warm, Same&gt;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40089" y="5111632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3196580" y="5264599"/>
            <a:ext cx="3667788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G2 ← {&lt;?, ?, Normal,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897571" y="5799982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-4621225" y="243575"/>
            <a:ext cx="6597600" cy="188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1321807" y="1161374"/>
            <a:ext cx="523800" cy="255900"/>
          </a:xfrm>
          <a:prstGeom prst="rect">
            <a:avLst/>
          </a:prstGeom>
          <a:solidFill>
            <a:srgbClr val="EFF7A7"/>
          </a:solidFill>
          <a:ln>
            <a:noFill/>
          </a:ln>
        </p:spPr>
        <p:txBody>
          <a:bodyPr anchorCtr="0" anchor="t" bIns="0" lIns="0" spcFirstLastPara="1" rIns="0" wrap="square" tIns="40125">
            <a:spAutoFit/>
          </a:bodyPr>
          <a:lstStyle/>
          <a:p>
            <a:pPr indent="0" lvl="0" marL="9235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/>
          <p:nvPr/>
        </p:nvSpPr>
        <p:spPr>
          <a:xfrm>
            <a:off x="2967343" y="140220"/>
            <a:ext cx="3667788" cy="377955"/>
          </a:xfrm>
          <a:custGeom>
            <a:rect b="b" l="l" r="r" t="t"/>
            <a:pathLst>
              <a:path extrusionOk="0" h="376555" w="3657600">
                <a:moveTo>
                  <a:pt x="3657600" y="376427"/>
                </a:moveTo>
                <a:lnTo>
                  <a:pt x="3657600" y="0"/>
                </a:lnTo>
                <a:lnTo>
                  <a:pt x="0" y="0"/>
                </a:lnTo>
                <a:lnTo>
                  <a:pt x="0" y="376427"/>
                </a:lnTo>
                <a:lnTo>
                  <a:pt x="3657600" y="376427"/>
                </a:lnTo>
                <a:close/>
              </a:path>
            </a:pathLst>
          </a:custGeom>
          <a:solidFill>
            <a:srgbClr val="CCFF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0"/>
          <p:cNvSpPr txBox="1"/>
          <p:nvPr>
            <p:ph type="title"/>
          </p:nvPr>
        </p:nvSpPr>
        <p:spPr>
          <a:xfrm>
            <a:off x="2967343" y="140220"/>
            <a:ext cx="3667800" cy="32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950">
            <a:spAutoFit/>
          </a:bodyPr>
          <a:lstStyle/>
          <a:p>
            <a:pPr indent="0" lvl="0" marL="968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G2 ← {&lt;?, ?, Normal, ?, ?, ?&gt;}</a:t>
            </a:r>
            <a:endParaRPr sz="1800"/>
          </a:p>
        </p:txBody>
      </p:sp>
      <p:sp>
        <p:nvSpPr>
          <p:cNvPr id="295" name="Google Shape;295;p20"/>
          <p:cNvSpPr/>
          <p:nvPr/>
        </p:nvSpPr>
        <p:spPr>
          <a:xfrm>
            <a:off x="1668334" y="675603"/>
            <a:ext cx="6265805" cy="377955"/>
          </a:xfrm>
          <a:custGeom>
            <a:rect b="b" l="l" r="r" t="t"/>
            <a:pathLst>
              <a:path extrusionOk="0" h="376555" w="6248400">
                <a:moveTo>
                  <a:pt x="6248400" y="376428"/>
                </a:moveTo>
                <a:lnTo>
                  <a:pt x="6248400" y="0"/>
                </a:lnTo>
                <a:lnTo>
                  <a:pt x="0" y="0"/>
                </a:lnTo>
                <a:lnTo>
                  <a:pt x="0" y="376428"/>
                </a:lnTo>
                <a:lnTo>
                  <a:pt x="6248400" y="376428"/>
                </a:lnTo>
                <a:close/>
              </a:path>
            </a:pathLst>
          </a:custGeom>
          <a:solidFill>
            <a:srgbClr val="BBE0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668334" y="675603"/>
            <a:ext cx="6265805" cy="32137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20"/>
          <p:cNvGrpSpPr/>
          <p:nvPr/>
        </p:nvGrpSpPr>
        <p:grpSpPr>
          <a:xfrm>
            <a:off x="0" y="446152"/>
            <a:ext cx="9144000" cy="2065048"/>
            <a:chOff x="0" y="444499"/>
            <a:chExt cx="9118600" cy="2057400"/>
          </a:xfrm>
        </p:grpSpPr>
        <p:sp>
          <p:nvSpPr>
            <p:cNvPr id="298" name="Google Shape;298;p20"/>
            <p:cNvSpPr/>
            <p:nvPr/>
          </p:nvSpPr>
          <p:spPr>
            <a:xfrm>
              <a:off x="0" y="1558925"/>
              <a:ext cx="9118600" cy="57150"/>
            </a:xfrm>
            <a:custGeom>
              <a:rect b="b" l="l" r="r" t="t"/>
              <a:pathLst>
                <a:path extrusionOk="0" h="57150" w="9118600">
                  <a:moveTo>
                    <a:pt x="0" y="0"/>
                  </a:moveTo>
                  <a:lnTo>
                    <a:pt x="0" y="57150"/>
                  </a:lnTo>
                  <a:lnTo>
                    <a:pt x="9118600" y="57150"/>
                  </a:lnTo>
                  <a:lnTo>
                    <a:pt x="911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4425950" y="444499"/>
              <a:ext cx="800100" cy="2057400"/>
            </a:xfrm>
            <a:custGeom>
              <a:rect b="b" l="l" r="r" t="t"/>
              <a:pathLst>
                <a:path extrusionOk="0" h="2057400" w="800100">
                  <a:moveTo>
                    <a:pt x="114300" y="723900"/>
                  </a:moveTo>
                  <a:lnTo>
                    <a:pt x="57150" y="609600"/>
                  </a:lnTo>
                  <a:lnTo>
                    <a:pt x="0" y="723900"/>
                  </a:lnTo>
                  <a:lnTo>
                    <a:pt x="38100" y="723900"/>
                  </a:lnTo>
                  <a:lnTo>
                    <a:pt x="38100" y="1943100"/>
                  </a:lnTo>
                  <a:lnTo>
                    <a:pt x="0" y="1943100"/>
                  </a:lnTo>
                  <a:lnTo>
                    <a:pt x="38100" y="2019300"/>
                  </a:lnTo>
                  <a:lnTo>
                    <a:pt x="57150" y="2057400"/>
                  </a:lnTo>
                  <a:lnTo>
                    <a:pt x="76200" y="2019300"/>
                  </a:lnTo>
                  <a:lnTo>
                    <a:pt x="114300" y="1943100"/>
                  </a:lnTo>
                  <a:lnTo>
                    <a:pt x="76200" y="1943100"/>
                  </a:lnTo>
                  <a:lnTo>
                    <a:pt x="76200" y="723900"/>
                  </a:lnTo>
                  <a:lnTo>
                    <a:pt x="114300" y="723900"/>
                  </a:lnTo>
                  <a:close/>
                </a:path>
                <a:path extrusionOk="0" h="2057400" w="800100">
                  <a:moveTo>
                    <a:pt x="800100" y="114300"/>
                  </a:moveTo>
                  <a:lnTo>
                    <a:pt x="742950" y="0"/>
                  </a:lnTo>
                  <a:lnTo>
                    <a:pt x="685800" y="114300"/>
                  </a:lnTo>
                  <a:lnTo>
                    <a:pt x="723900" y="114300"/>
                  </a:lnTo>
                  <a:lnTo>
                    <a:pt x="723900" y="1943100"/>
                  </a:lnTo>
                  <a:lnTo>
                    <a:pt x="685800" y="1943100"/>
                  </a:lnTo>
                  <a:lnTo>
                    <a:pt x="723900" y="2019300"/>
                  </a:lnTo>
                  <a:lnTo>
                    <a:pt x="742950" y="2057400"/>
                  </a:lnTo>
                  <a:lnTo>
                    <a:pt x="762000" y="2019300"/>
                  </a:lnTo>
                  <a:lnTo>
                    <a:pt x="800100" y="1943100"/>
                  </a:lnTo>
                  <a:lnTo>
                    <a:pt x="762000" y="1943100"/>
                  </a:lnTo>
                  <a:lnTo>
                    <a:pt x="762000" y="114300"/>
                  </a:lnTo>
                  <a:lnTo>
                    <a:pt x="800100" y="11430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20"/>
          <p:cNvSpPr txBox="1"/>
          <p:nvPr/>
        </p:nvSpPr>
        <p:spPr>
          <a:xfrm>
            <a:off x="3505540" y="1929418"/>
            <a:ext cx="788957" cy="197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0" lvl="0" marL="127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1821159" y="2515790"/>
            <a:ext cx="5960156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 = &lt;Rainy, Cold, High, Strong, Warm, Change&gt;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3677" y="2745240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1821159" y="3127656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3120167" y="3811417"/>
            <a:ext cx="3438552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{&lt;?, ?, Normal,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378540" y="4500258"/>
            <a:ext cx="83844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&lt;Sunny,?,?,?,?,?&gt; &lt;?, Warm,?,?,?,?&gt;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&lt;?, ?, Normal, ?, ?, ?&gt;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&lt;?,?,?,?,?, Same&gt;}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-3747700" y="450800"/>
            <a:ext cx="5277900" cy="206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006576" y="1456134"/>
            <a:ext cx="418800" cy="255900"/>
          </a:xfrm>
          <a:prstGeom prst="rect">
            <a:avLst/>
          </a:prstGeom>
          <a:solidFill>
            <a:srgbClr val="EFF7A7"/>
          </a:solidFill>
          <a:ln>
            <a:noFill/>
          </a:ln>
        </p:spPr>
        <p:txBody>
          <a:bodyPr anchorCtr="0" anchor="t" bIns="0" lIns="0" spcFirstLastPara="1" rIns="0" wrap="square" tIns="40125">
            <a:spAutoFit/>
          </a:bodyPr>
          <a:lstStyle/>
          <a:p>
            <a:pPr indent="0" lvl="0" marL="9235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/>
          <p:nvPr/>
        </p:nvSpPr>
        <p:spPr>
          <a:xfrm>
            <a:off x="1821159" y="216703"/>
            <a:ext cx="626580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← {&lt; Sunny, Warm, Normal, Strong, Warm, Same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120167" y="900462"/>
            <a:ext cx="3438552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G3 ← {&lt;?, ?, Normal,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0" y="1564720"/>
            <a:ext cx="9144000" cy="57362"/>
          </a:xfrm>
          <a:custGeom>
            <a:rect b="b" l="l" r="r" t="t"/>
            <a:pathLst>
              <a:path extrusionOk="0" h="57150" w="9118600">
                <a:moveTo>
                  <a:pt x="0" y="0"/>
                </a:moveTo>
                <a:lnTo>
                  <a:pt x="0" y="57150"/>
                </a:lnTo>
                <a:lnTo>
                  <a:pt x="9118600" y="57150"/>
                </a:lnTo>
                <a:lnTo>
                  <a:pt x="911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1821159" y="2515790"/>
            <a:ext cx="5578095" cy="321379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 = &lt;Sunny, Warm, high, Strong, Cool, Change&gt;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3677" y="2745240"/>
            <a:ext cx="1299008" cy="321379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5336123" y="3123068"/>
            <a:ext cx="922042" cy="994283"/>
            <a:chOff x="5321300" y="3111500"/>
            <a:chExt cx="919480" cy="990600"/>
          </a:xfrm>
        </p:grpSpPr>
        <p:sp>
          <p:nvSpPr>
            <p:cNvPr id="318" name="Google Shape;318;p21"/>
            <p:cNvSpPr/>
            <p:nvPr/>
          </p:nvSpPr>
          <p:spPr>
            <a:xfrm>
              <a:off x="5321300" y="3111500"/>
              <a:ext cx="228600" cy="990600"/>
            </a:xfrm>
            <a:custGeom>
              <a:rect b="b" l="l" r="r" t="t"/>
              <a:pathLst>
                <a:path extrusionOk="0" h="990600" w="228600">
                  <a:moveTo>
                    <a:pt x="0" y="0"/>
                  </a:moveTo>
                  <a:lnTo>
                    <a:pt x="44541" y="6429"/>
                  </a:lnTo>
                  <a:lnTo>
                    <a:pt x="80867" y="24003"/>
                  </a:lnTo>
                  <a:lnTo>
                    <a:pt x="105334" y="50149"/>
                  </a:lnTo>
                  <a:lnTo>
                    <a:pt x="114300" y="82295"/>
                  </a:lnTo>
                  <a:lnTo>
                    <a:pt x="114300" y="413003"/>
                  </a:lnTo>
                  <a:lnTo>
                    <a:pt x="123265" y="444829"/>
                  </a:lnTo>
                  <a:lnTo>
                    <a:pt x="147732" y="471011"/>
                  </a:lnTo>
                  <a:lnTo>
                    <a:pt x="184058" y="488763"/>
                  </a:lnTo>
                  <a:lnTo>
                    <a:pt x="228600" y="495299"/>
                  </a:lnTo>
                  <a:lnTo>
                    <a:pt x="184058" y="501729"/>
                  </a:lnTo>
                  <a:lnTo>
                    <a:pt x="147732" y="519302"/>
                  </a:lnTo>
                  <a:lnTo>
                    <a:pt x="123265" y="545449"/>
                  </a:lnTo>
                  <a:lnTo>
                    <a:pt x="114300" y="577595"/>
                  </a:lnTo>
                  <a:lnTo>
                    <a:pt x="114300" y="908303"/>
                  </a:lnTo>
                  <a:lnTo>
                    <a:pt x="105334" y="940129"/>
                  </a:lnTo>
                  <a:lnTo>
                    <a:pt x="80867" y="966311"/>
                  </a:lnTo>
                  <a:lnTo>
                    <a:pt x="44541" y="984063"/>
                  </a:lnTo>
                  <a:lnTo>
                    <a:pt x="0" y="990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549900" y="3487927"/>
              <a:ext cx="690880" cy="110489"/>
            </a:xfrm>
            <a:custGeom>
              <a:rect b="b" l="l" r="r" t="t"/>
              <a:pathLst>
                <a:path extrusionOk="0" h="110489" w="690879">
                  <a:moveTo>
                    <a:pt x="75326" y="67911"/>
                  </a:moveTo>
                  <a:lnTo>
                    <a:pt x="71627" y="34289"/>
                  </a:lnTo>
                  <a:lnTo>
                    <a:pt x="0" y="80772"/>
                  </a:lnTo>
                  <a:lnTo>
                    <a:pt x="58674" y="102565"/>
                  </a:lnTo>
                  <a:lnTo>
                    <a:pt x="58674" y="73913"/>
                  </a:lnTo>
                  <a:lnTo>
                    <a:pt x="59436" y="70866"/>
                  </a:lnTo>
                  <a:lnTo>
                    <a:pt x="62484" y="69342"/>
                  </a:lnTo>
                  <a:lnTo>
                    <a:pt x="75326" y="67911"/>
                  </a:lnTo>
                  <a:close/>
                </a:path>
                <a:path extrusionOk="0" h="110489" w="690879">
                  <a:moveTo>
                    <a:pt x="76338" y="77112"/>
                  </a:moveTo>
                  <a:lnTo>
                    <a:pt x="75326" y="67911"/>
                  </a:lnTo>
                  <a:lnTo>
                    <a:pt x="62484" y="69342"/>
                  </a:lnTo>
                  <a:lnTo>
                    <a:pt x="59436" y="70866"/>
                  </a:lnTo>
                  <a:lnTo>
                    <a:pt x="58674" y="73913"/>
                  </a:lnTo>
                  <a:lnTo>
                    <a:pt x="60198" y="77724"/>
                  </a:lnTo>
                  <a:lnTo>
                    <a:pt x="64008" y="78486"/>
                  </a:lnTo>
                  <a:lnTo>
                    <a:pt x="76338" y="77112"/>
                  </a:lnTo>
                  <a:close/>
                </a:path>
                <a:path extrusionOk="0" h="110489" w="690879">
                  <a:moveTo>
                    <a:pt x="80010" y="110489"/>
                  </a:moveTo>
                  <a:lnTo>
                    <a:pt x="76338" y="77112"/>
                  </a:lnTo>
                  <a:lnTo>
                    <a:pt x="64008" y="78486"/>
                  </a:lnTo>
                  <a:lnTo>
                    <a:pt x="60198" y="77724"/>
                  </a:lnTo>
                  <a:lnTo>
                    <a:pt x="58674" y="73913"/>
                  </a:lnTo>
                  <a:lnTo>
                    <a:pt x="58674" y="102565"/>
                  </a:lnTo>
                  <a:lnTo>
                    <a:pt x="80010" y="110489"/>
                  </a:lnTo>
                  <a:close/>
                </a:path>
                <a:path extrusionOk="0" h="110489" w="690879">
                  <a:moveTo>
                    <a:pt x="690372" y="3810"/>
                  </a:moveTo>
                  <a:lnTo>
                    <a:pt x="688848" y="762"/>
                  </a:lnTo>
                  <a:lnTo>
                    <a:pt x="685038" y="0"/>
                  </a:lnTo>
                  <a:lnTo>
                    <a:pt x="75326" y="67911"/>
                  </a:lnTo>
                  <a:lnTo>
                    <a:pt x="76338" y="77112"/>
                  </a:lnTo>
                  <a:lnTo>
                    <a:pt x="686561" y="9144"/>
                  </a:lnTo>
                  <a:lnTo>
                    <a:pt x="689609" y="7620"/>
                  </a:lnTo>
                  <a:lnTo>
                    <a:pt x="690372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21"/>
          <p:cNvSpPr txBox="1"/>
          <p:nvPr/>
        </p:nvSpPr>
        <p:spPr>
          <a:xfrm>
            <a:off x="3655053" y="3123067"/>
            <a:ext cx="1528245" cy="321379"/>
          </a:xfrm>
          <a:prstGeom prst="rect">
            <a:avLst/>
          </a:prstGeom>
          <a:solidFill>
            <a:srgbClr val="BB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S4 ← {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329482" y="3352517"/>
            <a:ext cx="1299008" cy="32137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655053" y="3811417"/>
            <a:ext cx="1528245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G4 ← {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533794" y="4270316"/>
            <a:ext cx="76412" cy="693448"/>
          </a:xfrm>
          <a:custGeom>
            <a:rect b="b" l="l" r="r" t="t"/>
            <a:pathLst>
              <a:path extrusionOk="0" h="690879" w="762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3246"/>
                </a:lnTo>
                <a:lnTo>
                  <a:pt x="35051" y="60198"/>
                </a:lnTo>
                <a:lnTo>
                  <a:pt x="38100" y="58674"/>
                </a:lnTo>
                <a:lnTo>
                  <a:pt x="41148" y="60198"/>
                </a:lnTo>
                <a:lnTo>
                  <a:pt x="42672" y="63246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extrusionOk="0" h="690879" w="76200">
                <a:moveTo>
                  <a:pt x="42672" y="76200"/>
                </a:moveTo>
                <a:lnTo>
                  <a:pt x="42672" y="63246"/>
                </a:lnTo>
                <a:lnTo>
                  <a:pt x="41148" y="60198"/>
                </a:lnTo>
                <a:lnTo>
                  <a:pt x="38100" y="58674"/>
                </a:lnTo>
                <a:lnTo>
                  <a:pt x="35051" y="60198"/>
                </a:lnTo>
                <a:lnTo>
                  <a:pt x="33527" y="63246"/>
                </a:lnTo>
                <a:lnTo>
                  <a:pt x="33527" y="76200"/>
                </a:lnTo>
                <a:lnTo>
                  <a:pt x="42672" y="76200"/>
                </a:lnTo>
                <a:close/>
              </a:path>
              <a:path extrusionOk="0" h="690879" w="76200">
                <a:moveTo>
                  <a:pt x="42672" y="685800"/>
                </a:moveTo>
                <a:lnTo>
                  <a:pt x="42672" y="76200"/>
                </a:lnTo>
                <a:lnTo>
                  <a:pt x="33527" y="76200"/>
                </a:lnTo>
                <a:lnTo>
                  <a:pt x="33527" y="685800"/>
                </a:lnTo>
                <a:lnTo>
                  <a:pt x="35051" y="688848"/>
                </a:lnTo>
                <a:lnTo>
                  <a:pt x="38100" y="690372"/>
                </a:lnTo>
                <a:lnTo>
                  <a:pt x="41148" y="688848"/>
                </a:lnTo>
                <a:lnTo>
                  <a:pt x="42672" y="685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2890930" y="4958666"/>
            <a:ext cx="3438552" cy="321379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95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G4 ← {&lt;?, ?, Normal, ?, ?, ?&gt;}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2093379" y="1858073"/>
            <a:ext cx="4612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S4 ← {&lt; Sunny, Warm, ?, Strong, ?, ? &gt;}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-5253525" y="118550"/>
            <a:ext cx="6616200" cy="188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706239" y="1036349"/>
            <a:ext cx="525300" cy="255900"/>
          </a:xfrm>
          <a:prstGeom prst="rect">
            <a:avLst/>
          </a:prstGeom>
          <a:solidFill>
            <a:srgbClr val="EFF7A7"/>
          </a:solidFill>
          <a:ln>
            <a:noFill/>
          </a:ln>
        </p:spPr>
        <p:txBody>
          <a:bodyPr anchorCtr="0" anchor="t" bIns="0" lIns="0" spcFirstLastPara="1" rIns="0" wrap="square" tIns="40125">
            <a:spAutoFit/>
          </a:bodyPr>
          <a:lstStyle/>
          <a:p>
            <a:pPr indent="0" lvl="0" marL="9235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/>
        </p:nvSpPr>
        <p:spPr>
          <a:xfrm>
            <a:off x="610278" y="197072"/>
            <a:ext cx="7922677" cy="1249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Remarks on Version Spaces and  Candidate-Elimination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p22"/>
          <p:cNvGrpSpPr/>
          <p:nvPr/>
        </p:nvGrpSpPr>
        <p:grpSpPr>
          <a:xfrm>
            <a:off x="445739" y="2587685"/>
            <a:ext cx="8252523" cy="2294499"/>
            <a:chOff x="444500" y="2578100"/>
            <a:chExt cx="8229600" cy="2286000"/>
          </a:xfrm>
        </p:grpSpPr>
        <p:sp>
          <p:nvSpPr>
            <p:cNvPr id="334" name="Google Shape;334;p22"/>
            <p:cNvSpPr/>
            <p:nvPr/>
          </p:nvSpPr>
          <p:spPr>
            <a:xfrm>
              <a:off x="444500" y="2578100"/>
              <a:ext cx="8229600" cy="2286000"/>
            </a:xfrm>
            <a:custGeom>
              <a:rect b="b" l="l" r="r" t="t"/>
              <a:pathLst>
                <a:path extrusionOk="0" h="2286000" w="8229600">
                  <a:moveTo>
                    <a:pt x="8229600" y="228600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2286000"/>
                  </a:lnTo>
                  <a:lnTo>
                    <a:pt x="8229600" y="228600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444500" y="2578100"/>
              <a:ext cx="8229600" cy="2286000"/>
            </a:xfrm>
            <a:custGeom>
              <a:rect b="b" l="l" r="r" t="t"/>
              <a:pathLst>
                <a:path extrusionOk="0" h="2286000" w="8229600">
                  <a:moveTo>
                    <a:pt x="0" y="0"/>
                  </a:moveTo>
                  <a:lnTo>
                    <a:pt x="0" y="2286000"/>
                  </a:lnTo>
                  <a:lnTo>
                    <a:pt x="8229600" y="2286000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22"/>
          <p:cNvSpPr txBox="1"/>
          <p:nvPr/>
        </p:nvSpPr>
        <p:spPr>
          <a:xfrm>
            <a:off x="873902" y="2616238"/>
            <a:ext cx="7309469" cy="1311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25">
            <a:spAutoFit/>
          </a:bodyPr>
          <a:lstStyle/>
          <a:p>
            <a:pPr indent="0" lvl="0" marL="12739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The target concept is exactly learned when  the S and </a:t>
            </a:r>
            <a:r>
              <a:rPr b="1" i="1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1" i="0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boundary sets converge to a  single, identical, hypothesis.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type="title"/>
          </p:nvPr>
        </p:nvSpPr>
        <p:spPr>
          <a:xfrm>
            <a:off x="610278" y="197072"/>
            <a:ext cx="7922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dk1"/>
                </a:solidFill>
              </a:rPr>
              <a:t>Remarks on Version Spaces and  Candidate-Elimination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525461" y="2033222"/>
            <a:ext cx="7871736" cy="1346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250">
            <a:spAutoFit/>
          </a:bodyPr>
          <a:lstStyle/>
          <a:p>
            <a:pPr indent="0" lvl="0" marL="127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How Can Partially Learned Concepts Be Used?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6065" marR="5096" rtl="0" algn="just">
              <a:lnSpc>
                <a:spcPct val="87800"/>
              </a:lnSpc>
              <a:spcBef>
                <a:spcPts val="68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that no additional training examples are available beyond  the four in our example. And the learner is now required to classify  new instances that it has not yet observed.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598563" y="4423282"/>
            <a:ext cx="8252524" cy="133446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400">
            <a:spAutoFit/>
          </a:bodyPr>
          <a:lstStyle/>
          <a:p>
            <a:pPr indent="0" lvl="0" marL="440782" marR="5197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The target concept is exactly learned when  the S and </a:t>
            </a:r>
            <a:r>
              <a:rPr b="1" i="1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1" i="0" lang="en-US" sz="2800" u="none" cap="none" strike="noStrike">
                <a:solidFill>
                  <a:srgbClr val="33339A"/>
                </a:solidFill>
                <a:latin typeface="Arial"/>
                <a:ea typeface="Arial"/>
                <a:cs typeface="Arial"/>
                <a:sym typeface="Arial"/>
              </a:rPr>
              <a:t>boundary sets converge to a  single, identical, hypothesis.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type="title"/>
          </p:nvPr>
        </p:nvSpPr>
        <p:spPr>
          <a:xfrm>
            <a:off x="610278" y="197072"/>
            <a:ext cx="7922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dk1"/>
                </a:solidFill>
              </a:rPr>
              <a:t>Remarks on Version Spaces and  Candidate-Elimination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723779" y="1899335"/>
            <a:ext cx="7516008" cy="17828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556872" y="3964383"/>
            <a:ext cx="5008487" cy="241534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24"/>
          <p:cNvGrpSpPr/>
          <p:nvPr/>
        </p:nvGrpSpPr>
        <p:grpSpPr>
          <a:xfrm>
            <a:off x="5947421" y="4270316"/>
            <a:ext cx="2674429" cy="2065048"/>
            <a:chOff x="5930900" y="4254500"/>
            <a:chExt cx="2667000" cy="2057400"/>
          </a:xfrm>
        </p:grpSpPr>
        <p:sp>
          <p:nvSpPr>
            <p:cNvPr id="352" name="Google Shape;352;p24"/>
            <p:cNvSpPr/>
            <p:nvPr/>
          </p:nvSpPr>
          <p:spPr>
            <a:xfrm>
              <a:off x="6091841" y="4354321"/>
              <a:ext cx="2204306" cy="17145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6177152" y="4656073"/>
              <a:ext cx="2118994" cy="21412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6265123" y="4957826"/>
              <a:ext cx="1980733" cy="25907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6203739" y="5308346"/>
              <a:ext cx="2092408" cy="2430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6346073" y="5659627"/>
              <a:ext cx="1799198" cy="21564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6333024" y="5960617"/>
              <a:ext cx="1861777" cy="25755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5930900" y="4254500"/>
              <a:ext cx="2667000" cy="2057400"/>
            </a:xfrm>
            <a:custGeom>
              <a:rect b="b" l="l" r="r" t="t"/>
              <a:pathLst>
                <a:path extrusionOk="0" h="2057400" w="2667000">
                  <a:moveTo>
                    <a:pt x="0" y="0"/>
                  </a:moveTo>
                  <a:lnTo>
                    <a:pt x="0" y="2057400"/>
                  </a:lnTo>
                  <a:lnTo>
                    <a:pt x="2667000" y="2057400"/>
                  </a:lnTo>
                  <a:lnTo>
                    <a:pt x="2667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/>
          <p:nvPr>
            <p:ph type="title"/>
          </p:nvPr>
        </p:nvSpPr>
        <p:spPr>
          <a:xfrm>
            <a:off x="610278" y="197072"/>
            <a:ext cx="7922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dk1"/>
                </a:solidFill>
              </a:rPr>
              <a:t>Remarks on Version Spaces and  Candidate-Elimination</a:t>
            </a:r>
            <a:endParaRPr sz="4000">
              <a:solidFill>
                <a:schemeClr val="dk1"/>
              </a:solidFill>
            </a:endParaRPr>
          </a:p>
        </p:txBody>
      </p:sp>
      <p:grpSp>
        <p:nvGrpSpPr>
          <p:cNvPr id="364" name="Google Shape;364;p25"/>
          <p:cNvGrpSpPr/>
          <p:nvPr/>
        </p:nvGrpSpPr>
        <p:grpSpPr>
          <a:xfrm>
            <a:off x="5871008" y="1822851"/>
            <a:ext cx="2903666" cy="2065048"/>
            <a:chOff x="5854700" y="1816100"/>
            <a:chExt cx="2895600" cy="2057400"/>
          </a:xfrm>
        </p:grpSpPr>
        <p:sp>
          <p:nvSpPr>
            <p:cNvPr id="365" name="Google Shape;365;p25"/>
            <p:cNvSpPr/>
            <p:nvPr/>
          </p:nvSpPr>
          <p:spPr>
            <a:xfrm>
              <a:off x="6015641" y="1915921"/>
              <a:ext cx="2204306" cy="1714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6100952" y="2217673"/>
              <a:ext cx="2118994" cy="2141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6188923" y="2519426"/>
              <a:ext cx="1980733" cy="25907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6127539" y="2869946"/>
              <a:ext cx="2092408" cy="2430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6269873" y="3221227"/>
              <a:ext cx="1799198" cy="21564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6256824" y="3522217"/>
              <a:ext cx="1861777" cy="25755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5854700" y="1816100"/>
              <a:ext cx="2667000" cy="2057400"/>
            </a:xfrm>
            <a:custGeom>
              <a:rect b="b" l="l" r="r" t="t"/>
              <a:pathLst>
                <a:path extrusionOk="0" h="2057400" w="2667000">
                  <a:moveTo>
                    <a:pt x="0" y="0"/>
                  </a:moveTo>
                  <a:lnTo>
                    <a:pt x="0" y="2057400"/>
                  </a:lnTo>
                  <a:lnTo>
                    <a:pt x="2667000" y="2057400"/>
                  </a:lnTo>
                  <a:lnTo>
                    <a:pt x="2667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8293100" y="1816100"/>
              <a:ext cx="457200" cy="1905000"/>
            </a:xfrm>
            <a:custGeom>
              <a:rect b="b" l="l" r="r" t="t"/>
              <a:pathLst>
                <a:path extrusionOk="0" h="1905000" w="457200">
                  <a:moveTo>
                    <a:pt x="0" y="130302"/>
                  </a:moveTo>
                  <a:lnTo>
                    <a:pt x="118872" y="304800"/>
                  </a:lnTo>
                  <a:lnTo>
                    <a:pt x="457200" y="0"/>
                  </a:lnTo>
                </a:path>
                <a:path extrusionOk="0" h="1905000" w="457200">
                  <a:moveTo>
                    <a:pt x="0" y="435102"/>
                  </a:moveTo>
                  <a:lnTo>
                    <a:pt x="118872" y="609600"/>
                  </a:lnTo>
                  <a:lnTo>
                    <a:pt x="457200" y="304800"/>
                  </a:lnTo>
                </a:path>
                <a:path extrusionOk="0" h="1905000" w="457200">
                  <a:moveTo>
                    <a:pt x="0" y="739902"/>
                  </a:moveTo>
                  <a:lnTo>
                    <a:pt x="118872" y="914400"/>
                  </a:lnTo>
                  <a:lnTo>
                    <a:pt x="457200" y="609600"/>
                  </a:lnTo>
                </a:path>
                <a:path extrusionOk="0" h="1905000" w="457200">
                  <a:moveTo>
                    <a:pt x="0" y="1120902"/>
                  </a:moveTo>
                  <a:lnTo>
                    <a:pt x="118872" y="1295400"/>
                  </a:lnTo>
                  <a:lnTo>
                    <a:pt x="457200" y="990600"/>
                  </a:lnTo>
                </a:path>
                <a:path extrusionOk="0" h="1905000" w="457200">
                  <a:moveTo>
                    <a:pt x="0" y="1425702"/>
                  </a:moveTo>
                  <a:lnTo>
                    <a:pt x="118872" y="1600200"/>
                  </a:lnTo>
                  <a:lnTo>
                    <a:pt x="457200" y="1295400"/>
                  </a:lnTo>
                </a:path>
                <a:path extrusionOk="0" h="1905000" w="457200">
                  <a:moveTo>
                    <a:pt x="0" y="1730502"/>
                  </a:moveTo>
                  <a:lnTo>
                    <a:pt x="118872" y="1905000"/>
                  </a:lnTo>
                  <a:lnTo>
                    <a:pt x="457200" y="1600200"/>
                  </a:ln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25"/>
          <p:cNvSpPr/>
          <p:nvPr/>
        </p:nvSpPr>
        <p:spPr>
          <a:xfrm>
            <a:off x="390052" y="2587684"/>
            <a:ext cx="5098894" cy="26922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1209861" y="3352517"/>
            <a:ext cx="2903666" cy="260467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575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six hypotheses 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25"/>
          <p:cNvGrpSpPr/>
          <p:nvPr/>
        </p:nvGrpSpPr>
        <p:grpSpPr>
          <a:xfrm>
            <a:off x="5871009" y="4423283"/>
            <a:ext cx="2827253" cy="2065048"/>
            <a:chOff x="5854700" y="4406900"/>
            <a:chExt cx="2819400" cy="2057400"/>
          </a:xfrm>
        </p:grpSpPr>
        <p:sp>
          <p:nvSpPr>
            <p:cNvPr id="376" name="Google Shape;376;p25"/>
            <p:cNvSpPr/>
            <p:nvPr/>
          </p:nvSpPr>
          <p:spPr>
            <a:xfrm>
              <a:off x="8216900" y="4406900"/>
              <a:ext cx="381000" cy="304800"/>
            </a:xfrm>
            <a:custGeom>
              <a:rect b="b" l="l" r="r" t="t"/>
              <a:pathLst>
                <a:path extrusionOk="0" h="304800" w="381000">
                  <a:moveTo>
                    <a:pt x="0" y="244601"/>
                  </a:moveTo>
                  <a:lnTo>
                    <a:pt x="381000" y="0"/>
                  </a:lnTo>
                </a:path>
                <a:path extrusionOk="0" h="304800" w="381000">
                  <a:moveTo>
                    <a:pt x="54101" y="0"/>
                  </a:moveTo>
                  <a:lnTo>
                    <a:pt x="381000" y="304800"/>
                  </a:ln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6005576" y="4506721"/>
              <a:ext cx="2214372" cy="1714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6100952" y="4808473"/>
              <a:ext cx="2118994" cy="2141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6188923" y="5110226"/>
              <a:ext cx="1980733" cy="25907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6127539" y="5460746"/>
              <a:ext cx="2092408" cy="2430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6269873" y="5812027"/>
              <a:ext cx="1799198" cy="21564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6256824" y="6113017"/>
              <a:ext cx="1861777" cy="25755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5854700" y="4406900"/>
              <a:ext cx="2667000" cy="2057400"/>
            </a:xfrm>
            <a:custGeom>
              <a:rect b="b" l="l" r="r" t="t"/>
              <a:pathLst>
                <a:path extrusionOk="0" h="2057400" w="2667000">
                  <a:moveTo>
                    <a:pt x="0" y="0"/>
                  </a:moveTo>
                  <a:lnTo>
                    <a:pt x="0" y="2057400"/>
                  </a:lnTo>
                  <a:lnTo>
                    <a:pt x="2667000" y="2057400"/>
                  </a:lnTo>
                  <a:lnTo>
                    <a:pt x="2667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5"/>
            <p:cNvSpPr/>
            <p:nvPr/>
          </p:nvSpPr>
          <p:spPr>
            <a:xfrm>
              <a:off x="8140700" y="4711700"/>
              <a:ext cx="533400" cy="1752600"/>
            </a:xfrm>
            <a:custGeom>
              <a:rect b="b" l="l" r="r" t="t"/>
              <a:pathLst>
                <a:path extrusionOk="0" h="1752600" w="533400">
                  <a:moveTo>
                    <a:pt x="152400" y="244601"/>
                  </a:moveTo>
                  <a:lnTo>
                    <a:pt x="533400" y="0"/>
                  </a:lnTo>
                </a:path>
                <a:path extrusionOk="0" h="1752600" w="533400">
                  <a:moveTo>
                    <a:pt x="206501" y="0"/>
                  </a:moveTo>
                  <a:lnTo>
                    <a:pt x="533400" y="304800"/>
                  </a:lnTo>
                </a:path>
                <a:path extrusionOk="0" h="1752600" w="533400">
                  <a:moveTo>
                    <a:pt x="152400" y="625601"/>
                  </a:moveTo>
                  <a:lnTo>
                    <a:pt x="533400" y="381000"/>
                  </a:lnTo>
                </a:path>
                <a:path extrusionOk="0" h="1752600" w="533400">
                  <a:moveTo>
                    <a:pt x="206501" y="381000"/>
                  </a:moveTo>
                  <a:lnTo>
                    <a:pt x="533400" y="685800"/>
                  </a:lnTo>
                </a:path>
                <a:path extrusionOk="0" h="1752600" w="533400">
                  <a:moveTo>
                    <a:pt x="76200" y="1006601"/>
                  </a:moveTo>
                  <a:lnTo>
                    <a:pt x="457200" y="762000"/>
                  </a:lnTo>
                </a:path>
                <a:path extrusionOk="0" h="1752600" w="533400">
                  <a:moveTo>
                    <a:pt x="130301" y="762000"/>
                  </a:moveTo>
                  <a:lnTo>
                    <a:pt x="457200" y="1066800"/>
                  </a:lnTo>
                </a:path>
                <a:path extrusionOk="0" h="1752600" w="533400">
                  <a:moveTo>
                    <a:pt x="0" y="1311402"/>
                  </a:moveTo>
                  <a:lnTo>
                    <a:pt x="381000" y="1066800"/>
                  </a:lnTo>
                </a:path>
                <a:path extrusionOk="0" h="1752600" w="533400">
                  <a:moveTo>
                    <a:pt x="54101" y="1066800"/>
                  </a:moveTo>
                  <a:lnTo>
                    <a:pt x="381000" y="1371600"/>
                  </a:lnTo>
                </a:path>
                <a:path extrusionOk="0" h="1752600" w="533400">
                  <a:moveTo>
                    <a:pt x="76200" y="1692402"/>
                  </a:moveTo>
                  <a:lnTo>
                    <a:pt x="457200" y="1447800"/>
                  </a:lnTo>
                </a:path>
                <a:path extrusionOk="0" h="1752600" w="533400">
                  <a:moveTo>
                    <a:pt x="130301" y="1447800"/>
                  </a:moveTo>
                  <a:lnTo>
                    <a:pt x="457200" y="1752600"/>
                  </a:ln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25"/>
          <p:cNvSpPr/>
          <p:nvPr/>
        </p:nvSpPr>
        <p:spPr>
          <a:xfrm>
            <a:off x="389995" y="4882183"/>
            <a:ext cx="5022539" cy="22791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1209861" y="5494049"/>
            <a:ext cx="2903666" cy="260467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575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six hypotheses dissatisfied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/>
          <p:nvPr>
            <p:ph type="title"/>
          </p:nvPr>
        </p:nvSpPr>
        <p:spPr>
          <a:xfrm>
            <a:off x="610278" y="197072"/>
            <a:ext cx="7922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25">
            <a:spAutoFit/>
          </a:bodyPr>
          <a:lstStyle/>
          <a:p>
            <a:pPr indent="-1261835" lvl="0" marL="1273937" marR="50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dk1"/>
                </a:solidFill>
              </a:rPr>
              <a:t>Remarks on Version Spaces and  Candidate-Elimination</a:t>
            </a:r>
            <a:endParaRPr sz="4000">
              <a:solidFill>
                <a:schemeClr val="dk1"/>
              </a:solidFill>
            </a:endParaRPr>
          </a:p>
        </p:txBody>
      </p:sp>
      <p:grpSp>
        <p:nvGrpSpPr>
          <p:cNvPr id="392" name="Google Shape;392;p26"/>
          <p:cNvGrpSpPr/>
          <p:nvPr/>
        </p:nvGrpSpPr>
        <p:grpSpPr>
          <a:xfrm>
            <a:off x="5871008" y="1822851"/>
            <a:ext cx="2903666" cy="2065048"/>
            <a:chOff x="5854700" y="1816100"/>
            <a:chExt cx="2895600" cy="2057400"/>
          </a:xfrm>
        </p:grpSpPr>
        <p:sp>
          <p:nvSpPr>
            <p:cNvPr id="393" name="Google Shape;393;p26"/>
            <p:cNvSpPr/>
            <p:nvPr/>
          </p:nvSpPr>
          <p:spPr>
            <a:xfrm>
              <a:off x="6015641" y="1915921"/>
              <a:ext cx="2204306" cy="1714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6100952" y="2217673"/>
              <a:ext cx="2118994" cy="2141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6188923" y="2519426"/>
              <a:ext cx="1980733" cy="25907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6127539" y="2869946"/>
              <a:ext cx="2092408" cy="2430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6269873" y="3221227"/>
              <a:ext cx="1799198" cy="21564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6256824" y="3522217"/>
              <a:ext cx="1861777" cy="25755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5854700" y="1816100"/>
              <a:ext cx="2667000" cy="2057400"/>
            </a:xfrm>
            <a:custGeom>
              <a:rect b="b" l="l" r="r" t="t"/>
              <a:pathLst>
                <a:path extrusionOk="0" h="2057400" w="2667000">
                  <a:moveTo>
                    <a:pt x="0" y="0"/>
                  </a:moveTo>
                  <a:lnTo>
                    <a:pt x="0" y="2057400"/>
                  </a:lnTo>
                  <a:lnTo>
                    <a:pt x="2667000" y="2057400"/>
                  </a:lnTo>
                  <a:lnTo>
                    <a:pt x="2667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8293100" y="2425700"/>
              <a:ext cx="457200" cy="1295400"/>
            </a:xfrm>
            <a:custGeom>
              <a:rect b="b" l="l" r="r" t="t"/>
              <a:pathLst>
                <a:path extrusionOk="0" h="1295400" w="457200">
                  <a:moveTo>
                    <a:pt x="0" y="130302"/>
                  </a:moveTo>
                  <a:lnTo>
                    <a:pt x="118872" y="304800"/>
                  </a:lnTo>
                  <a:lnTo>
                    <a:pt x="457200" y="0"/>
                  </a:lnTo>
                </a:path>
                <a:path extrusionOk="0" h="1295400" w="457200">
                  <a:moveTo>
                    <a:pt x="0" y="816101"/>
                  </a:moveTo>
                  <a:lnTo>
                    <a:pt x="118872" y="990600"/>
                  </a:lnTo>
                  <a:lnTo>
                    <a:pt x="457200" y="685800"/>
                  </a:lnTo>
                </a:path>
                <a:path extrusionOk="0" h="1295400" w="457200">
                  <a:moveTo>
                    <a:pt x="0" y="1120902"/>
                  </a:moveTo>
                  <a:lnTo>
                    <a:pt x="118872" y="1295400"/>
                  </a:lnTo>
                  <a:lnTo>
                    <a:pt x="457200" y="990600"/>
                  </a:ln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8216900" y="1892300"/>
              <a:ext cx="457200" cy="1219200"/>
            </a:xfrm>
            <a:custGeom>
              <a:rect b="b" l="l" r="r" t="t"/>
              <a:pathLst>
                <a:path extrusionOk="0" h="1219200" w="457200">
                  <a:moveTo>
                    <a:pt x="0" y="244602"/>
                  </a:moveTo>
                  <a:lnTo>
                    <a:pt x="381000" y="0"/>
                  </a:lnTo>
                </a:path>
                <a:path extrusionOk="0" h="1219200" w="457200">
                  <a:moveTo>
                    <a:pt x="54101" y="0"/>
                  </a:moveTo>
                  <a:lnTo>
                    <a:pt x="381000" y="304800"/>
                  </a:lnTo>
                </a:path>
                <a:path extrusionOk="0" h="1219200" w="457200">
                  <a:moveTo>
                    <a:pt x="0" y="549402"/>
                  </a:moveTo>
                  <a:lnTo>
                    <a:pt x="381000" y="304800"/>
                  </a:lnTo>
                </a:path>
                <a:path extrusionOk="0" h="1219200" w="457200">
                  <a:moveTo>
                    <a:pt x="54101" y="304800"/>
                  </a:moveTo>
                  <a:lnTo>
                    <a:pt x="381000" y="609600"/>
                  </a:lnTo>
                </a:path>
                <a:path extrusionOk="0" h="1219200" w="457200">
                  <a:moveTo>
                    <a:pt x="76200" y="1159002"/>
                  </a:moveTo>
                  <a:lnTo>
                    <a:pt x="457200" y="914400"/>
                  </a:lnTo>
                </a:path>
                <a:path extrusionOk="0" h="1219200" w="457200">
                  <a:moveTo>
                    <a:pt x="130301" y="914400"/>
                  </a:moveTo>
                  <a:lnTo>
                    <a:pt x="457200" y="1219200"/>
                  </a:ln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26"/>
          <p:cNvSpPr/>
          <p:nvPr/>
        </p:nvSpPr>
        <p:spPr>
          <a:xfrm>
            <a:off x="380107" y="2358234"/>
            <a:ext cx="5185252" cy="22639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1286273" y="2970100"/>
            <a:ext cx="2903666" cy="578503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575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hypotheses 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6819" marR="0" rtl="0" algn="l">
              <a:lnSpc>
                <a:spcPct val="100000"/>
              </a:lnSpc>
              <a:spcBef>
                <a:spcPts val="8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hypotheses not 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" name="Google Shape;404;p26"/>
          <p:cNvGrpSpPr/>
          <p:nvPr/>
        </p:nvGrpSpPr>
        <p:grpSpPr>
          <a:xfrm>
            <a:off x="5871008" y="4423283"/>
            <a:ext cx="2827254" cy="2065048"/>
            <a:chOff x="5854700" y="4406900"/>
            <a:chExt cx="2819400" cy="2057400"/>
          </a:xfrm>
        </p:grpSpPr>
        <p:sp>
          <p:nvSpPr>
            <p:cNvPr id="405" name="Google Shape;405;p26"/>
            <p:cNvSpPr/>
            <p:nvPr/>
          </p:nvSpPr>
          <p:spPr>
            <a:xfrm>
              <a:off x="8216900" y="4406900"/>
              <a:ext cx="381000" cy="304800"/>
            </a:xfrm>
            <a:custGeom>
              <a:rect b="b" l="l" r="r" t="t"/>
              <a:pathLst>
                <a:path extrusionOk="0" h="304800" w="381000">
                  <a:moveTo>
                    <a:pt x="0" y="244601"/>
                  </a:moveTo>
                  <a:lnTo>
                    <a:pt x="381000" y="0"/>
                  </a:lnTo>
                </a:path>
                <a:path extrusionOk="0" h="304800" w="381000">
                  <a:moveTo>
                    <a:pt x="54101" y="0"/>
                  </a:moveTo>
                  <a:lnTo>
                    <a:pt x="381000" y="304800"/>
                  </a:ln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6005576" y="4506721"/>
              <a:ext cx="2214372" cy="17145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6100952" y="4808473"/>
              <a:ext cx="2118994" cy="2141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6188923" y="5110226"/>
              <a:ext cx="1980733" cy="25907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6127539" y="5460746"/>
              <a:ext cx="2092408" cy="2430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6269873" y="5812027"/>
              <a:ext cx="1799198" cy="21564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6256824" y="6113017"/>
              <a:ext cx="1861777" cy="25755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5854700" y="4406900"/>
              <a:ext cx="2667000" cy="2057400"/>
            </a:xfrm>
            <a:custGeom>
              <a:rect b="b" l="l" r="r" t="t"/>
              <a:pathLst>
                <a:path extrusionOk="0" h="2057400" w="2667000">
                  <a:moveTo>
                    <a:pt x="0" y="0"/>
                  </a:moveTo>
                  <a:lnTo>
                    <a:pt x="0" y="2057400"/>
                  </a:lnTo>
                  <a:lnTo>
                    <a:pt x="2667000" y="2057400"/>
                  </a:lnTo>
                  <a:lnTo>
                    <a:pt x="26670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8216900" y="5092700"/>
              <a:ext cx="457200" cy="1371600"/>
            </a:xfrm>
            <a:custGeom>
              <a:rect b="b" l="l" r="r" t="t"/>
              <a:pathLst>
                <a:path extrusionOk="0" h="1371600" w="457200">
                  <a:moveTo>
                    <a:pt x="76200" y="244601"/>
                  </a:moveTo>
                  <a:lnTo>
                    <a:pt x="457200" y="0"/>
                  </a:lnTo>
                </a:path>
                <a:path extrusionOk="0" h="1371600" w="457200">
                  <a:moveTo>
                    <a:pt x="130301" y="0"/>
                  </a:moveTo>
                  <a:lnTo>
                    <a:pt x="457200" y="304800"/>
                  </a:lnTo>
                </a:path>
                <a:path extrusionOk="0" h="1371600" w="457200">
                  <a:moveTo>
                    <a:pt x="0" y="625601"/>
                  </a:moveTo>
                  <a:lnTo>
                    <a:pt x="381000" y="381000"/>
                  </a:lnTo>
                </a:path>
                <a:path extrusionOk="0" h="1371600" w="457200">
                  <a:moveTo>
                    <a:pt x="54101" y="381000"/>
                  </a:moveTo>
                  <a:lnTo>
                    <a:pt x="381000" y="685800"/>
                  </a:lnTo>
                </a:path>
                <a:path extrusionOk="0" h="1371600" w="457200">
                  <a:moveTo>
                    <a:pt x="0" y="1311402"/>
                  </a:moveTo>
                  <a:lnTo>
                    <a:pt x="381000" y="1066800"/>
                  </a:lnTo>
                </a:path>
                <a:path extrusionOk="0" h="1371600" w="457200">
                  <a:moveTo>
                    <a:pt x="54101" y="1066800"/>
                  </a:moveTo>
                  <a:lnTo>
                    <a:pt x="381000" y="1371600"/>
                  </a:ln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8216900" y="4711700"/>
              <a:ext cx="457200" cy="1295400"/>
            </a:xfrm>
            <a:custGeom>
              <a:rect b="b" l="l" r="r" t="t"/>
              <a:pathLst>
                <a:path extrusionOk="0" h="1295400" w="457200">
                  <a:moveTo>
                    <a:pt x="0" y="130301"/>
                  </a:moveTo>
                  <a:lnTo>
                    <a:pt x="118872" y="304800"/>
                  </a:lnTo>
                  <a:lnTo>
                    <a:pt x="457200" y="0"/>
                  </a:lnTo>
                </a:path>
                <a:path extrusionOk="0" h="1295400" w="457200">
                  <a:moveTo>
                    <a:pt x="0" y="1120902"/>
                  </a:moveTo>
                  <a:lnTo>
                    <a:pt x="118872" y="1295400"/>
                  </a:lnTo>
                  <a:lnTo>
                    <a:pt x="457200" y="990600"/>
                  </a:ln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26"/>
          <p:cNvSpPr txBox="1"/>
          <p:nvPr/>
        </p:nvSpPr>
        <p:spPr>
          <a:xfrm>
            <a:off x="1286273" y="5494048"/>
            <a:ext cx="2903666" cy="578503"/>
          </a:xfrm>
          <a:prstGeom prst="rect">
            <a:avLst/>
          </a:prstGeom>
          <a:solidFill>
            <a:srgbClr val="EFF7A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575">
            <a:spAutoFit/>
          </a:bodyPr>
          <a:lstStyle/>
          <a:p>
            <a:pPr indent="0" lvl="0" marL="968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hypotheses 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6819" marR="0" rtl="0" algn="l">
              <a:lnSpc>
                <a:spcPct val="100000"/>
              </a:lnSpc>
              <a:spcBef>
                <a:spcPts val="8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hypotheses not satisfied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390622" y="4805699"/>
            <a:ext cx="5174737" cy="24551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 txBox="1"/>
          <p:nvPr>
            <p:ph idx="1" type="body"/>
          </p:nvPr>
        </p:nvSpPr>
        <p:spPr>
          <a:xfrm>
            <a:off x="457200" y="1295399"/>
            <a:ext cx="822960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t/>
            </a:r>
            <a:endParaRPr sz="7200">
              <a:solidFill>
                <a:srgbClr val="02406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024069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024069"/>
                </a:solidFill>
              </a:rPr>
              <a:t>Thank You</a:t>
            </a:r>
            <a:endParaRPr/>
          </a:p>
        </p:txBody>
      </p:sp>
      <p:grpSp>
        <p:nvGrpSpPr>
          <p:cNvPr id="422" name="Google Shape;422;p27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23" name="Google Shape;423;p2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27"/>
          <p:cNvGrpSpPr/>
          <p:nvPr/>
        </p:nvGrpSpPr>
        <p:grpSpPr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30" name="Google Shape;430;p27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27"/>
          <p:cNvGrpSpPr/>
          <p:nvPr/>
        </p:nvGrpSpPr>
        <p:grpSpPr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37" name="Google Shape;437;p27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27"/>
          <p:cNvGrpSpPr/>
          <p:nvPr/>
        </p:nvGrpSpPr>
        <p:grpSpPr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44" name="Google Shape;444;p27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27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2015-05-03T19:01:06Z</dcterms:created>
  <dc:creator>Windows User</dc:creator>
</cp:coreProperties>
</file>