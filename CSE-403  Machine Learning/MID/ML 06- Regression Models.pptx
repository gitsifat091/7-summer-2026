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9144000"/>
  <p:notesSz cx="6858000" cy="9144000"/>
  <p:embeddedFontLst>
    <p:embeddedFont>
      <p:font typeface="Raleway"/>
      <p:regular r:id="rId41"/>
      <p:bold r:id="rId42"/>
      <p:italic r:id="rId43"/>
      <p:boldItalic r:id="rId44"/>
    </p:embeddedFont>
    <p:embeddedFont>
      <p:font typeface="Lat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446ED6-0B7A-441E-B34A-2B8055A339F8}">
  <a:tblStyle styleId="{5E446ED6-0B7A-441E-B34A-2B8055A339F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694A9E0-6B95-4370-AB2E-98FAD7E9ECE4}" styleName="Table_1">
    <a:wholeTbl>
      <a:tcTxStyle b="off" i="off">
        <a:font>
          <a:latin typeface="Arial"/>
          <a:ea typeface="Arial"/>
          <a:cs typeface="Arial"/>
        </a:font>
        <a:schemeClr val="dk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chemeClr val="accent2"/>
              </a:solidFill>
              <a:prstDash val="solid"/>
              <a:round/>
              <a:headEnd len="sm" w="sm" type="none"/>
              <a:tailEnd len="sm" w="sm" type="none"/>
            </a:ln>
          </a:insideV>
        </a:tcBdr>
        <a:fill>
          <a:solidFill>
            <a:srgbClr val="FFFFFF">
              <a:alpha val="0"/>
            </a:srgbClr>
          </a:solidFill>
        </a:fill>
      </a:tcStyle>
    </a:wholeTbl>
    <a:band1H>
      <a:tcTxStyle/>
      <a:tcStyle>
        <a:fill>
          <a:solidFill>
            <a:schemeClr val="accent2">
              <a:alpha val="40000"/>
            </a:schemeClr>
          </a:solidFill>
        </a:fill>
      </a:tcStyle>
    </a:band1H>
    <a:band2H>
      <a:tcTxStyle/>
    </a:band2H>
    <a:band1V>
      <a:tcTxStyle/>
      <a:tcStyle>
        <a:tcBdr>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tcBdr>
        <a:fill>
          <a:solidFill>
            <a:schemeClr val="accent2">
              <a:alpha val="40000"/>
            </a:schemeClr>
          </a:solidFill>
        </a:fill>
      </a:tcStyle>
    </a:band1V>
    <a:band2V>
      <a:tcTxStyle/>
    </a:band2V>
    <a:la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2"/>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Raleway-bold.fntdata"/><Relationship Id="rId41" Type="http://schemas.openxmlformats.org/officeDocument/2006/relationships/font" Target="fonts/Raleway-regular.fntdata"/><Relationship Id="rId22" Type="http://schemas.openxmlformats.org/officeDocument/2006/relationships/slide" Target="slides/slide16.xml"/><Relationship Id="rId44" Type="http://schemas.openxmlformats.org/officeDocument/2006/relationships/font" Target="fonts/Raleway-boldItalic.fntdata"/><Relationship Id="rId21" Type="http://schemas.openxmlformats.org/officeDocument/2006/relationships/slide" Target="slides/slide15.xml"/><Relationship Id="rId43" Type="http://schemas.openxmlformats.org/officeDocument/2006/relationships/font" Target="fonts/Raleway-italic.fntdata"/><Relationship Id="rId24" Type="http://schemas.openxmlformats.org/officeDocument/2006/relationships/slide" Target="slides/slide18.xml"/><Relationship Id="rId46" Type="http://schemas.openxmlformats.org/officeDocument/2006/relationships/font" Target="fonts/Lato-bold.fntdata"/><Relationship Id="rId23" Type="http://schemas.openxmlformats.org/officeDocument/2006/relationships/slide" Target="slides/slide17.xml"/><Relationship Id="rId45"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Lato-boldItalic.fntdata"/><Relationship Id="rId25" Type="http://schemas.openxmlformats.org/officeDocument/2006/relationships/slide" Target="slides/slide19.xml"/><Relationship Id="rId47" Type="http://schemas.openxmlformats.org/officeDocument/2006/relationships/font" Target="fonts/Lato-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20ed02262_0_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f20ed02262_0_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3f20ed02262_0_1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 name="Google Shape;312;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f20ed02262_0_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g3f20ed02262_0_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g3f20ed02262_0_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f20ed02262_0_1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g3f20ed02262_0_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g3f20ed02262_0_1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f20ed02262_0_1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3f20ed02262_0_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g3f20ed02262_0_1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f20ed02262_0_1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g3f20ed02262_0_1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g3f20ed02262_0_1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f20ed02262_0_1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g3f20ed02262_0_1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g3f20ed02262_0_1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f20ed02262_0_2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g3f20ed02262_0_2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g3f20ed02262_0_2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f20ed02262_0_2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3f20ed02262_0_2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3f20ed02262_0_2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f20ed02262_0_2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g3f20ed02262_0_2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g3f20ed02262_0_2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f20ed02262_0_2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g3f20ed02262_0_2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g3f20ed02262_0_2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20ed02262_0_2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3f20ed02262_0_2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g3f20ed02262_0_2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f20ed02262_0_3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g3f20ed02262_0_3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g3f20ed02262_0_3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f20ed02262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g3f20ed02262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g3f20ed02262_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f20ed02262_1_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g3f20ed02262_1_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g3f20ed02262_1_9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f20ed02262_1_1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g3f20ed02262_1_1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g3f20ed02262_1_1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f20ed02262_1_2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f20ed02262_1_2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g3f20ed02262_1_29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20ed02262_1_3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g3f20ed02262_1_3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g3f20ed02262_1_3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f20ed02262_1_4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g3f20ed02262_1_4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g3f20ed02262_1_4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f20ed02262_1_5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f20ed02262_1_5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g3f20ed02262_1_59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3" name="Shape 13"/>
        <p:cNvGrpSpPr/>
        <p:nvPr/>
      </p:nvGrpSpPr>
      <p:grpSpPr>
        <a:xfrm>
          <a:off x="0" y="0"/>
          <a:ext cx="0" cy="0"/>
          <a:chOff x="0" y="0"/>
          <a:chExt cx="0" cy="0"/>
        </a:xfrm>
      </p:grpSpPr>
      <p:sp>
        <p:nvSpPr>
          <p:cNvPr id="14" name="Google Shape;14;p2"/>
          <p:cNvSpPr/>
          <p:nvPr/>
        </p:nvSpPr>
        <p:spPr>
          <a:xfrm>
            <a:off x="0" y="0"/>
            <a:ext cx="9144000" cy="65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 name="Google Shape;15;p2"/>
          <p:cNvGrpSpPr/>
          <p:nvPr/>
        </p:nvGrpSpPr>
        <p:grpSpPr>
          <a:xfrm>
            <a:off x="830392" y="1588427"/>
            <a:ext cx="745763" cy="61102"/>
            <a:chOff x="4580561" y="2589004"/>
            <a:chExt cx="1064464" cy="25200"/>
          </a:xfrm>
        </p:grpSpPr>
        <p:sp>
          <p:nvSpPr>
            <p:cNvPr id="16" name="Google Shape;16;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Google Shape;18;p2"/>
          <p:cNvSpPr txBox="1"/>
          <p:nvPr>
            <p:ph type="ctrTitle"/>
          </p:nvPr>
        </p:nvSpPr>
        <p:spPr>
          <a:xfrm>
            <a:off x="729450" y="1763267"/>
            <a:ext cx="7688100" cy="2219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9" name="Google Shape;19;p2"/>
          <p:cNvSpPr txBox="1"/>
          <p:nvPr>
            <p:ph idx="1" type="subTitle"/>
          </p:nvPr>
        </p:nvSpPr>
        <p:spPr>
          <a:xfrm>
            <a:off x="729627" y="4230533"/>
            <a:ext cx="7688100" cy="721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20" name="Google Shape;20;p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1" name="Shape 21"/>
        <p:cNvGrpSpPr/>
        <p:nvPr/>
      </p:nvGrpSpPr>
      <p:grpSpPr>
        <a:xfrm>
          <a:off x="0" y="0"/>
          <a:ext cx="0" cy="0"/>
          <a:chOff x="0" y="0"/>
          <a:chExt cx="0" cy="0"/>
        </a:xfrm>
      </p:grpSpPr>
      <p:grpSp>
        <p:nvGrpSpPr>
          <p:cNvPr id="22" name="Google Shape;22;p3"/>
          <p:cNvGrpSpPr/>
          <p:nvPr/>
        </p:nvGrpSpPr>
        <p:grpSpPr>
          <a:xfrm>
            <a:off x="830392" y="1588427"/>
            <a:ext cx="745763" cy="61102"/>
            <a:chOff x="4580561" y="2589004"/>
            <a:chExt cx="1064464" cy="25200"/>
          </a:xfrm>
        </p:grpSpPr>
        <p:sp>
          <p:nvSpPr>
            <p:cNvPr id="23" name="Google Shape;23;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3"/>
          <p:cNvSpPr txBox="1"/>
          <p:nvPr>
            <p:ph type="title"/>
          </p:nvPr>
        </p:nvSpPr>
        <p:spPr>
          <a:xfrm>
            <a:off x="729450" y="1763267"/>
            <a:ext cx="7688400" cy="202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6" name="Google Shape;26;p3"/>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4"/>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 name="Google Shape;29;p4"/>
          <p:cNvGrpSpPr/>
          <p:nvPr/>
        </p:nvGrpSpPr>
        <p:grpSpPr>
          <a:xfrm>
            <a:off x="830392" y="1588427"/>
            <a:ext cx="745763" cy="61102"/>
            <a:chOff x="4580561" y="2589004"/>
            <a:chExt cx="1064464" cy="25200"/>
          </a:xfrm>
        </p:grpSpPr>
        <p:sp>
          <p:nvSpPr>
            <p:cNvPr id="30" name="Google Shape;30;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4"/>
          <p:cNvSpPr txBox="1"/>
          <p:nvPr>
            <p:ph type="title"/>
          </p:nvPr>
        </p:nvSpPr>
        <p:spPr>
          <a:xfrm>
            <a:off x="729450" y="1758200"/>
            <a:ext cx="76887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3" name="Google Shape;33;p4"/>
          <p:cNvSpPr txBox="1"/>
          <p:nvPr>
            <p:ph idx="1" type="body"/>
          </p:nvPr>
        </p:nvSpPr>
        <p:spPr>
          <a:xfrm>
            <a:off x="729450" y="2771833"/>
            <a:ext cx="76887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4" name="Google Shape;34;p4"/>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 name="Shape 35"/>
        <p:cNvGrpSpPr/>
        <p:nvPr/>
      </p:nvGrpSpPr>
      <p:grpSpPr>
        <a:xfrm>
          <a:off x="0" y="0"/>
          <a:ext cx="0" cy="0"/>
          <a:chOff x="0" y="0"/>
          <a:chExt cx="0" cy="0"/>
        </a:xfrm>
      </p:grpSpPr>
      <p:sp>
        <p:nvSpPr>
          <p:cNvPr id="36" name="Google Shape;36;p5"/>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5"/>
          <p:cNvGrpSpPr/>
          <p:nvPr/>
        </p:nvGrpSpPr>
        <p:grpSpPr>
          <a:xfrm>
            <a:off x="830392" y="1588427"/>
            <a:ext cx="745763" cy="61102"/>
            <a:chOff x="4580561" y="2589004"/>
            <a:chExt cx="1064464" cy="25200"/>
          </a:xfrm>
        </p:grpSpPr>
        <p:sp>
          <p:nvSpPr>
            <p:cNvPr id="38" name="Google Shape;38;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5"/>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1" name="Google Shape;41;p5"/>
          <p:cNvSpPr txBox="1"/>
          <p:nvPr>
            <p:ph idx="1" type="body"/>
          </p:nvPr>
        </p:nvSpPr>
        <p:spPr>
          <a:xfrm>
            <a:off x="729325"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2" name="Google Shape;42;p5"/>
          <p:cNvSpPr txBox="1"/>
          <p:nvPr>
            <p:ph idx="2" type="body"/>
          </p:nvPr>
        </p:nvSpPr>
        <p:spPr>
          <a:xfrm>
            <a:off x="4643604"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3" name="Google Shape;43;p5"/>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6"/>
          <p:cNvGrpSpPr/>
          <p:nvPr/>
        </p:nvGrpSpPr>
        <p:grpSpPr>
          <a:xfrm>
            <a:off x="830392" y="1588427"/>
            <a:ext cx="745763" cy="61102"/>
            <a:chOff x="4580561" y="2589004"/>
            <a:chExt cx="1064464" cy="25200"/>
          </a:xfrm>
        </p:grpSpPr>
        <p:sp>
          <p:nvSpPr>
            <p:cNvPr id="47" name="Google Shape;47;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6"/>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0" name="Google Shape;50;p6"/>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7"/>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 name="Google Shape;53;p7"/>
          <p:cNvGrpSpPr/>
          <p:nvPr/>
        </p:nvGrpSpPr>
        <p:grpSpPr>
          <a:xfrm>
            <a:off x="830392" y="1588427"/>
            <a:ext cx="745763" cy="61102"/>
            <a:chOff x="4580561" y="2589004"/>
            <a:chExt cx="1064464" cy="25200"/>
          </a:xfrm>
        </p:grpSpPr>
        <p:sp>
          <p:nvSpPr>
            <p:cNvPr id="54" name="Google Shape;54;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7"/>
          <p:cNvSpPr txBox="1"/>
          <p:nvPr>
            <p:ph type="title"/>
          </p:nvPr>
        </p:nvSpPr>
        <p:spPr>
          <a:xfrm>
            <a:off x="730000" y="1758200"/>
            <a:ext cx="3300900" cy="18420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7" name="Google Shape;57;p7"/>
          <p:cNvSpPr txBox="1"/>
          <p:nvPr>
            <p:ph idx="1" type="body"/>
          </p:nvPr>
        </p:nvSpPr>
        <p:spPr>
          <a:xfrm>
            <a:off x="721225" y="3708967"/>
            <a:ext cx="3300900" cy="2130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 name="Google Shape;58;p7"/>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9" name="Shape 59"/>
        <p:cNvGrpSpPr/>
        <p:nvPr/>
      </p:nvGrpSpPr>
      <p:grpSpPr>
        <a:xfrm>
          <a:off x="0" y="0"/>
          <a:ext cx="0" cy="0"/>
          <a:chOff x="0" y="0"/>
          <a:chExt cx="0" cy="0"/>
        </a:xfrm>
      </p:grpSpPr>
      <p:grpSp>
        <p:nvGrpSpPr>
          <p:cNvPr id="60" name="Google Shape;60;p8"/>
          <p:cNvGrpSpPr/>
          <p:nvPr/>
        </p:nvGrpSpPr>
        <p:grpSpPr>
          <a:xfrm>
            <a:off x="830392" y="5558926"/>
            <a:ext cx="745763" cy="61102"/>
            <a:chOff x="4580561" y="2589004"/>
            <a:chExt cx="1064464" cy="25200"/>
          </a:xfrm>
        </p:grpSpPr>
        <p:sp>
          <p:nvSpPr>
            <p:cNvPr id="61" name="Google Shape;61;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8"/>
          <p:cNvSpPr txBox="1"/>
          <p:nvPr>
            <p:ph type="title"/>
          </p:nvPr>
        </p:nvSpPr>
        <p:spPr>
          <a:xfrm>
            <a:off x="729450" y="1152400"/>
            <a:ext cx="7021200" cy="3980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4" name="Google Shape;64;p8"/>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5" name="Shape 65"/>
        <p:cNvGrpSpPr/>
        <p:nvPr/>
      </p:nvGrpSpPr>
      <p:grpSpPr>
        <a:xfrm>
          <a:off x="0" y="0"/>
          <a:ext cx="0" cy="0"/>
          <a:chOff x="0" y="0"/>
          <a:chExt cx="0" cy="0"/>
        </a:xfrm>
      </p:grpSpPr>
      <p:sp>
        <p:nvSpPr>
          <p:cNvPr id="66" name="Google Shape;66;p9"/>
          <p:cNvSpPr/>
          <p:nvPr/>
        </p:nvSpPr>
        <p:spPr>
          <a:xfrm>
            <a:off x="0" y="0"/>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9"/>
          <p:cNvGrpSpPr/>
          <p:nvPr/>
        </p:nvGrpSpPr>
        <p:grpSpPr>
          <a:xfrm>
            <a:off x="830392" y="1588427"/>
            <a:ext cx="745763" cy="61102"/>
            <a:chOff x="4580561" y="2589004"/>
            <a:chExt cx="1064464" cy="25200"/>
          </a:xfrm>
        </p:grpSpPr>
        <p:sp>
          <p:nvSpPr>
            <p:cNvPr id="68" name="Google Shape;68;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9"/>
          <p:cNvSpPr txBox="1"/>
          <p:nvPr>
            <p:ph type="title"/>
          </p:nvPr>
        </p:nvSpPr>
        <p:spPr>
          <a:xfrm>
            <a:off x="730000" y="1758200"/>
            <a:ext cx="3300900" cy="2249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1" name="Google Shape;71;p9"/>
          <p:cNvSpPr txBox="1"/>
          <p:nvPr>
            <p:ph idx="1" type="subTitle"/>
          </p:nvPr>
        </p:nvSpPr>
        <p:spPr>
          <a:xfrm>
            <a:off x="724950" y="4215367"/>
            <a:ext cx="3300900" cy="1011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72" name="Google Shape;72;p9"/>
          <p:cNvSpPr txBox="1"/>
          <p:nvPr>
            <p:ph idx="2" type="body"/>
          </p:nvPr>
        </p:nvSpPr>
        <p:spPr>
          <a:xfrm>
            <a:off x="5174225" y="1803500"/>
            <a:ext cx="3374400" cy="4034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3" name="Google Shape;73;p9"/>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p10"/>
          <p:cNvSpPr txBox="1"/>
          <p:nvPr>
            <p:ph idx="1" type="body"/>
          </p:nvPr>
        </p:nvSpPr>
        <p:spPr>
          <a:xfrm>
            <a:off x="724950" y="5830068"/>
            <a:ext cx="7697400" cy="614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6" name="Google Shape;76;p10"/>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7" name="Shape 77"/>
        <p:cNvGrpSpPr/>
        <p:nvPr/>
      </p:nvGrpSpPr>
      <p:grpSpPr>
        <a:xfrm>
          <a:off x="0" y="0"/>
          <a:ext cx="0" cy="0"/>
          <a:chOff x="0" y="0"/>
          <a:chExt cx="0" cy="0"/>
        </a:xfrm>
      </p:grpSpPr>
      <p:grpSp>
        <p:nvGrpSpPr>
          <p:cNvPr id="78" name="Google Shape;78;p11"/>
          <p:cNvGrpSpPr/>
          <p:nvPr/>
        </p:nvGrpSpPr>
        <p:grpSpPr>
          <a:xfrm>
            <a:off x="830392" y="5558926"/>
            <a:ext cx="745763" cy="61102"/>
            <a:chOff x="4580561" y="2589004"/>
            <a:chExt cx="1064464" cy="25200"/>
          </a:xfrm>
        </p:grpSpPr>
        <p:sp>
          <p:nvSpPr>
            <p:cNvPr id="79" name="Google Shape;79;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1"/>
          <p:cNvSpPr txBox="1"/>
          <p:nvPr>
            <p:ph hasCustomPrompt="1" type="title"/>
          </p:nvPr>
        </p:nvSpPr>
        <p:spPr>
          <a:xfrm>
            <a:off x="729450" y="978600"/>
            <a:ext cx="7688400" cy="165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82" name="Google Shape;82;p11"/>
          <p:cNvSpPr txBox="1"/>
          <p:nvPr>
            <p:ph idx="1" type="body"/>
          </p:nvPr>
        </p:nvSpPr>
        <p:spPr>
          <a:xfrm>
            <a:off x="729450" y="3030517"/>
            <a:ext cx="7688400" cy="2107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83" name="Google Shape;83;p11"/>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p1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6" name="Shape 86"/>
        <p:cNvGrpSpPr/>
        <p:nvPr/>
      </p:nvGrpSpPr>
      <p:grpSpPr>
        <a:xfrm>
          <a:off x="0" y="0"/>
          <a:ext cx="0" cy="0"/>
          <a:chOff x="0" y="0"/>
          <a:chExt cx="0" cy="0"/>
        </a:xfrm>
      </p:grpSpPr>
      <p:sp>
        <p:nvSpPr>
          <p:cNvPr id="87" name="Google Shape;87;p13"/>
          <p:cNvSpPr txBox="1"/>
          <p:nvPr>
            <p:ph type="title"/>
          </p:nvPr>
        </p:nvSpPr>
        <p:spPr>
          <a:xfrm>
            <a:off x="457200" y="188913"/>
            <a:ext cx="8218500" cy="565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3"/>
          <p:cNvSpPr txBox="1"/>
          <p:nvPr>
            <p:ph idx="1" type="body"/>
          </p:nvPr>
        </p:nvSpPr>
        <p:spPr>
          <a:xfrm>
            <a:off x="457200" y="1052513"/>
            <a:ext cx="8229600" cy="5073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9" name="Google Shape;89;p13"/>
          <p:cNvSpPr txBox="1"/>
          <p:nvPr>
            <p:ph idx="10" type="dt"/>
          </p:nvPr>
        </p:nvSpPr>
        <p:spPr>
          <a:xfrm>
            <a:off x="6553200" y="6248400"/>
            <a:ext cx="21336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3"/>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3"/>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11" name="Google Shape;11;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12" name="Google Shape;12;p1"/>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colab.research.google.com/drive/1Fw5zTVn8AEu9eX5QGcVpOVqNciNjXbJj?usp=sharin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ctrTitle"/>
          </p:nvPr>
        </p:nvSpPr>
        <p:spPr>
          <a:xfrm>
            <a:off x="685800" y="1894975"/>
            <a:ext cx="7772400" cy="2634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br>
              <a:rPr lang="en-US" sz="4400">
                <a:latin typeface="Times New Roman"/>
                <a:ea typeface="Times New Roman"/>
                <a:cs typeface="Times New Roman"/>
                <a:sym typeface="Times New Roman"/>
              </a:rPr>
            </a:br>
            <a:r>
              <a:rPr lang="en-US" sz="4400">
                <a:latin typeface="Times New Roman"/>
                <a:ea typeface="Times New Roman"/>
                <a:cs typeface="Times New Roman"/>
                <a:sym typeface="Times New Roman"/>
              </a:rPr>
              <a:t>Machine Learning</a:t>
            </a:r>
            <a:br>
              <a:rPr lang="en-US" sz="4400">
                <a:latin typeface="Times New Roman"/>
                <a:ea typeface="Times New Roman"/>
                <a:cs typeface="Times New Roman"/>
                <a:sym typeface="Times New Roman"/>
              </a:rPr>
            </a:br>
            <a:r>
              <a:rPr lang="en-US" sz="4400">
                <a:latin typeface="Times New Roman"/>
                <a:ea typeface="Times New Roman"/>
                <a:cs typeface="Times New Roman"/>
                <a:sym typeface="Times New Roman"/>
              </a:rPr>
              <a:t>CSE - 403</a:t>
            </a:r>
            <a:br>
              <a:rPr lang="en-US" sz="4400">
                <a:latin typeface="Times New Roman"/>
                <a:ea typeface="Times New Roman"/>
                <a:cs typeface="Times New Roman"/>
                <a:sym typeface="Times New Roman"/>
              </a:rPr>
            </a:br>
            <a:br>
              <a:rPr lang="en-US" sz="4400">
                <a:latin typeface="Times New Roman"/>
                <a:ea typeface="Times New Roman"/>
                <a:cs typeface="Times New Roman"/>
                <a:sym typeface="Times New Roman"/>
              </a:rPr>
            </a:br>
            <a:r>
              <a:rPr lang="en-US" sz="2800">
                <a:latin typeface="Times New Roman"/>
                <a:ea typeface="Times New Roman"/>
                <a:cs typeface="Times New Roman"/>
                <a:sym typeface="Times New Roman"/>
              </a:rPr>
              <a:t>Lecture - 06</a:t>
            </a:r>
            <a:br>
              <a:rPr lang="en-US" sz="3200">
                <a:latin typeface="Times New Roman"/>
                <a:ea typeface="Times New Roman"/>
                <a:cs typeface="Times New Roman"/>
                <a:sym typeface="Times New Roman"/>
              </a:rPr>
            </a:br>
            <a:endParaRPr sz="3200">
              <a:latin typeface="Times New Roman"/>
              <a:ea typeface="Times New Roman"/>
              <a:cs typeface="Times New Roman"/>
              <a:sym typeface="Times New Roman"/>
            </a:endParaRPr>
          </a:p>
        </p:txBody>
      </p:sp>
      <p:sp>
        <p:nvSpPr>
          <p:cNvPr id="97" name="Google Shape;97;p14"/>
          <p:cNvSpPr/>
          <p:nvPr/>
        </p:nvSpPr>
        <p:spPr>
          <a:xfrm>
            <a:off x="468313" y="6367463"/>
            <a:ext cx="958850" cy="981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8" name="Google Shape;98;p14"/>
          <p:cNvGrpSpPr/>
          <p:nvPr/>
        </p:nvGrpSpPr>
        <p:grpSpPr>
          <a:xfrm>
            <a:off x="228600" y="1371600"/>
            <a:ext cx="431800" cy="430213"/>
            <a:chOff x="5129" y="3937"/>
            <a:chExt cx="349" cy="348"/>
          </a:xfrm>
        </p:grpSpPr>
        <p:sp>
          <p:nvSpPr>
            <p:cNvPr id="99" name="Google Shape;99;p14"/>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0" name="Google Shape;100;p14"/>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 name="Google Shape;101;p14"/>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 name="Google Shape;102;p14"/>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3" name="Google Shape;103;p14"/>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 name="Google Shape;104;p14"/>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05" name="Google Shape;105;p14"/>
          <p:cNvGrpSpPr/>
          <p:nvPr/>
        </p:nvGrpSpPr>
        <p:grpSpPr>
          <a:xfrm>
            <a:off x="457200" y="1143000"/>
            <a:ext cx="219075" cy="219075"/>
            <a:chOff x="5114" y="3685"/>
            <a:chExt cx="246" cy="246"/>
          </a:xfrm>
        </p:grpSpPr>
        <p:sp>
          <p:nvSpPr>
            <p:cNvPr id="106" name="Google Shape;106;p14"/>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 name="Google Shape;107;p14"/>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8" name="Google Shape;108;p14"/>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 name="Google Shape;109;p14"/>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 name="Google Shape;110;p14"/>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 name="Google Shape;111;p14"/>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par>
                                <p:cTn fill="hold" nodeType="withEffect" presetClass="emph" presetID="8" presetSubtype="0">
                                  <p:stCondLst>
                                    <p:cond delay="0"/>
                                  </p:stCondLst>
                                  <p:childTnLst>
                                    <p:animRot by="-21600000">
                                      <p:cBhvr>
                                        <p:cTn dur="1000" fill="hold"/>
                                        <p:tgtEl>
                                          <p:spTgt spid="98"/>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0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5"/>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Supervised Learning</a:t>
            </a:r>
            <a:endParaRPr sz="4400">
              <a:solidFill>
                <a:schemeClr val="accent6"/>
              </a:solidFill>
            </a:endParaRPr>
          </a:p>
        </p:txBody>
      </p:sp>
      <p:sp>
        <p:nvSpPr>
          <p:cNvPr id="118" name="Google Shape;118;p15"/>
          <p:cNvSpPr txBox="1"/>
          <p:nvPr>
            <p:ph idx="1" type="body"/>
          </p:nvPr>
        </p:nvSpPr>
        <p:spPr>
          <a:xfrm>
            <a:off x="457200" y="1606225"/>
            <a:ext cx="8382000" cy="4185000"/>
          </a:xfrm>
          <a:prstGeom prst="rect">
            <a:avLst/>
          </a:prstGeom>
          <a:noFill/>
          <a:ln>
            <a:noFill/>
          </a:ln>
        </p:spPr>
        <p:txBody>
          <a:bodyPr anchorCtr="0" anchor="t" bIns="45700" lIns="91425" spcFirstLastPara="1" rIns="91425" wrap="square" tIns="45700">
            <a:noAutofit/>
          </a:bodyPr>
          <a:lstStyle/>
          <a:p>
            <a:pPr indent="-336550" lvl="0" marL="342900" rtl="0" algn="just">
              <a:lnSpc>
                <a:spcPct val="100000"/>
              </a:lnSpc>
              <a:spcBef>
                <a:spcPts val="0"/>
              </a:spcBef>
              <a:spcAft>
                <a:spcPts val="0"/>
              </a:spcAft>
              <a:buSzPts val="2700"/>
              <a:buChar char="•"/>
            </a:pPr>
            <a:r>
              <a:rPr lang="en-US" sz="2700">
                <a:solidFill>
                  <a:schemeClr val="dk1"/>
                </a:solidFill>
              </a:rPr>
              <a:t>Regression</a:t>
            </a:r>
            <a:endParaRPr sz="1200">
              <a:solidFill>
                <a:schemeClr val="dk1"/>
              </a:solidFill>
            </a:endParaRPr>
          </a:p>
          <a:p>
            <a:pPr indent="0" lvl="0" marL="0" rtl="0" algn="l">
              <a:lnSpc>
                <a:spcPct val="100000"/>
              </a:lnSpc>
              <a:spcBef>
                <a:spcPts val="360"/>
              </a:spcBef>
              <a:spcAft>
                <a:spcPts val="0"/>
              </a:spcAft>
              <a:buClr>
                <a:schemeClr val="dk1"/>
              </a:buClr>
              <a:buSzPts val="2800"/>
              <a:buFont typeface="Arial"/>
              <a:buNone/>
            </a:pPr>
            <a:r>
              <a:rPr lang="en-US" sz="2300"/>
              <a:t>Regression algorithms are used if there is a relationship between the input variable and the output variable. It is used for the prediction of continuous variables, such as Weather forecasting, Market Trends, etc. </a:t>
            </a:r>
            <a:endParaRPr sz="2300"/>
          </a:p>
          <a:p>
            <a:pPr indent="-336550" lvl="0" marL="342900" rtl="0" algn="just">
              <a:lnSpc>
                <a:spcPct val="100000"/>
              </a:lnSpc>
              <a:spcBef>
                <a:spcPts val="560"/>
              </a:spcBef>
              <a:spcAft>
                <a:spcPts val="0"/>
              </a:spcAft>
              <a:buSzPts val="2700"/>
              <a:buChar char="•"/>
            </a:pPr>
            <a:r>
              <a:rPr lang="en-US" sz="2700">
                <a:solidFill>
                  <a:schemeClr val="dk1"/>
                </a:solidFill>
              </a:rPr>
              <a:t>Classification</a:t>
            </a:r>
            <a:endParaRPr sz="2700">
              <a:solidFill>
                <a:schemeClr val="dk1"/>
              </a:solidFill>
            </a:endParaRPr>
          </a:p>
          <a:p>
            <a:pPr indent="0" lvl="0" marL="0" rtl="0" algn="l">
              <a:lnSpc>
                <a:spcPct val="100000"/>
              </a:lnSpc>
              <a:spcBef>
                <a:spcPts val="360"/>
              </a:spcBef>
              <a:spcAft>
                <a:spcPts val="0"/>
              </a:spcAft>
              <a:buSzPts val="1800"/>
              <a:buNone/>
            </a:pPr>
            <a:r>
              <a:rPr lang="en-US" sz="2300"/>
              <a:t>Classification algorithms are used when the output variable is categorical, which means there are two classes such as Yes-No, Male-Female, True-false, etc.</a:t>
            </a:r>
            <a:endParaRPr sz="2300"/>
          </a:p>
          <a:p>
            <a:pPr indent="0" lvl="0" marL="742950" rtl="0" algn="just">
              <a:lnSpc>
                <a:spcPct val="100000"/>
              </a:lnSpc>
              <a:spcBef>
                <a:spcPts val="480"/>
              </a:spcBef>
              <a:spcAft>
                <a:spcPts val="0"/>
              </a:spcAft>
              <a:buSzPts val="1800"/>
              <a:buNone/>
            </a:pPr>
            <a:r>
              <a:t/>
            </a:r>
            <a:endParaRPr sz="1200"/>
          </a:p>
          <a:p>
            <a:pPr indent="-165100" lvl="0" marL="342900" rtl="0" algn="just">
              <a:lnSpc>
                <a:spcPct val="100000"/>
              </a:lnSpc>
              <a:spcBef>
                <a:spcPts val="560"/>
              </a:spcBef>
              <a:spcAft>
                <a:spcPts val="0"/>
              </a:spcAft>
              <a:buClr>
                <a:schemeClr val="dk1"/>
              </a:buClr>
              <a:buSzPts val="2800"/>
              <a:buFont typeface="Arial"/>
              <a:buNone/>
            </a:pPr>
            <a:r>
              <a:t/>
            </a:r>
            <a:endParaRPr sz="2700"/>
          </a:p>
        </p:txBody>
      </p:sp>
      <p:grpSp>
        <p:nvGrpSpPr>
          <p:cNvPr id="119" name="Google Shape;119;p15"/>
          <p:cNvGrpSpPr/>
          <p:nvPr/>
        </p:nvGrpSpPr>
        <p:grpSpPr>
          <a:xfrm>
            <a:off x="609600" y="533400"/>
            <a:ext cx="303213" cy="303213"/>
            <a:chOff x="703" y="300"/>
            <a:chExt cx="181" cy="181"/>
          </a:xfrm>
        </p:grpSpPr>
        <p:sp>
          <p:nvSpPr>
            <p:cNvPr id="120" name="Google Shape;120;p1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1" name="Google Shape;121;p1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 name="Google Shape;122;p1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 name="Google Shape;123;p1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 name="Google Shape;124;p1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5" name="Google Shape;125;p1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26" name="Google Shape;126;p15"/>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600"/>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par>
                                <p:cTn fill="hold" nodeType="withEffect" presetClass="emph" presetID="8" presetSubtype="0">
                                  <p:stCondLst>
                                    <p:cond delay="500"/>
                                  </p:stCondLst>
                                  <p:childTnLst>
                                    <p:animRot by="-21600000">
                                      <p:cBhvr>
                                        <p:cTn dur="500" fill="hold"/>
                                        <p:tgtEl>
                                          <p:spTgt spid="11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6"/>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lang="en-US" sz="4400">
                <a:solidFill>
                  <a:schemeClr val="accent6"/>
                </a:solidFill>
              </a:rPr>
              <a:t>Regression analysis</a:t>
            </a:r>
            <a:endParaRPr sz="4400">
              <a:solidFill>
                <a:schemeClr val="accent6"/>
              </a:solidFill>
            </a:endParaRPr>
          </a:p>
        </p:txBody>
      </p:sp>
      <p:sp>
        <p:nvSpPr>
          <p:cNvPr id="133" name="Google Shape;133;p16"/>
          <p:cNvSpPr txBox="1"/>
          <p:nvPr>
            <p:ph idx="1" type="body"/>
          </p:nvPr>
        </p:nvSpPr>
        <p:spPr>
          <a:xfrm>
            <a:off x="457200" y="1552075"/>
            <a:ext cx="8382000" cy="4239000"/>
          </a:xfrm>
          <a:prstGeom prst="rect">
            <a:avLst/>
          </a:prstGeom>
          <a:noFill/>
          <a:ln>
            <a:noFill/>
          </a:ln>
        </p:spPr>
        <p:txBody>
          <a:bodyPr anchorCtr="0" anchor="t" bIns="45700" lIns="91425" spcFirstLastPara="1" rIns="91425" wrap="square" tIns="45700">
            <a:noAutofit/>
          </a:bodyPr>
          <a:lstStyle/>
          <a:p>
            <a:pPr indent="-374650" lvl="0" marL="457200" rtl="0" algn="just">
              <a:lnSpc>
                <a:spcPct val="100000"/>
              </a:lnSpc>
              <a:spcBef>
                <a:spcPts val="360"/>
              </a:spcBef>
              <a:spcAft>
                <a:spcPts val="0"/>
              </a:spcAft>
              <a:buClr>
                <a:schemeClr val="accent6"/>
              </a:buClr>
              <a:buSzPts val="2300"/>
              <a:buChar char="•"/>
            </a:pPr>
            <a:r>
              <a:rPr lang="en-US" sz="2300"/>
              <a:t>Regression analysis is a statistical method to model the relationship between a dependent (target) and independent (predictor) variables with one or more independent variables. </a:t>
            </a:r>
            <a:endParaRPr sz="2300"/>
          </a:p>
          <a:p>
            <a:pPr indent="-374650" lvl="0" marL="457200" rtl="0" algn="just">
              <a:lnSpc>
                <a:spcPct val="100000"/>
              </a:lnSpc>
              <a:spcBef>
                <a:spcPts val="0"/>
              </a:spcBef>
              <a:spcAft>
                <a:spcPts val="0"/>
              </a:spcAft>
              <a:buClr>
                <a:schemeClr val="accent6"/>
              </a:buClr>
              <a:buSzPts val="2300"/>
              <a:buChar char="•"/>
            </a:pPr>
            <a:r>
              <a:rPr lang="en-US" sz="2300"/>
              <a:t>More specifically, Regression analysis helps us to understand how the value of the dependent variable is changing corresponding to an independent variable when other independent variables are held fixed.</a:t>
            </a:r>
            <a:endParaRPr sz="2300"/>
          </a:p>
          <a:p>
            <a:pPr indent="-374650" lvl="0" marL="457200" rtl="0" algn="just">
              <a:lnSpc>
                <a:spcPct val="100000"/>
              </a:lnSpc>
              <a:spcBef>
                <a:spcPts val="0"/>
              </a:spcBef>
              <a:spcAft>
                <a:spcPts val="0"/>
              </a:spcAft>
              <a:buClr>
                <a:schemeClr val="accent6"/>
              </a:buClr>
              <a:buSzPts val="2300"/>
              <a:buChar char="•"/>
            </a:pPr>
            <a:r>
              <a:rPr lang="en-US" sz="2300"/>
              <a:t>It predicts continuous/real values such as temperature, age, salary, price, etc.</a:t>
            </a:r>
            <a:endParaRPr sz="2300"/>
          </a:p>
        </p:txBody>
      </p:sp>
      <p:grpSp>
        <p:nvGrpSpPr>
          <p:cNvPr id="134" name="Google Shape;134;p16"/>
          <p:cNvGrpSpPr/>
          <p:nvPr/>
        </p:nvGrpSpPr>
        <p:grpSpPr>
          <a:xfrm>
            <a:off x="609600" y="533400"/>
            <a:ext cx="303213" cy="303213"/>
            <a:chOff x="703" y="300"/>
            <a:chExt cx="181" cy="181"/>
          </a:xfrm>
        </p:grpSpPr>
        <p:sp>
          <p:nvSpPr>
            <p:cNvPr id="135" name="Google Shape;135;p16"/>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6" name="Google Shape;136;p16"/>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7" name="Google Shape;137;p16"/>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8" name="Google Shape;138;p16"/>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9" name="Google Shape;139;p16"/>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0" name="Google Shape;140;p16"/>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41" name="Google Shape;141;p16"/>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par>
                                <p:cTn fill="hold" nodeType="withEffect" presetClass="emph" presetID="8" presetSubtype="0">
                                  <p:stCondLst>
                                    <p:cond delay="500"/>
                                  </p:stCondLst>
                                  <p:childTnLst>
                                    <p:animRot by="-21600000">
                                      <p:cBhvr>
                                        <p:cTn dur="500" fill="hold"/>
                                        <p:tgtEl>
                                          <p:spTgt spid="134"/>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7"/>
          <p:cNvSpPr txBox="1"/>
          <p:nvPr>
            <p:ph type="title"/>
          </p:nvPr>
        </p:nvSpPr>
        <p:spPr>
          <a:xfrm>
            <a:off x="710100" y="188925"/>
            <a:ext cx="7965600" cy="565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lang="en-US" sz="4400">
                <a:solidFill>
                  <a:schemeClr val="accent6"/>
                </a:solidFill>
              </a:rPr>
              <a:t>Regression analysis</a:t>
            </a:r>
            <a:endParaRPr/>
          </a:p>
        </p:txBody>
      </p:sp>
      <p:sp>
        <p:nvSpPr>
          <p:cNvPr id="148" name="Google Shape;148;p17"/>
          <p:cNvSpPr txBox="1"/>
          <p:nvPr>
            <p:ph idx="1" type="body"/>
          </p:nvPr>
        </p:nvSpPr>
        <p:spPr>
          <a:xfrm>
            <a:off x="457200" y="1136975"/>
            <a:ext cx="8229600" cy="4989300"/>
          </a:xfrm>
          <a:prstGeom prst="rect">
            <a:avLst/>
          </a:prstGeom>
          <a:noFill/>
          <a:ln>
            <a:noFill/>
          </a:ln>
        </p:spPr>
        <p:txBody>
          <a:bodyPr anchorCtr="0" anchor="t" bIns="45700" lIns="91425" spcFirstLastPara="1" rIns="91425" wrap="square" tIns="45700">
            <a:noAutofit/>
          </a:bodyPr>
          <a:lstStyle/>
          <a:p>
            <a:pPr indent="-368300" lvl="0" marL="457200" rtl="0" algn="just">
              <a:lnSpc>
                <a:spcPct val="100000"/>
              </a:lnSpc>
              <a:spcBef>
                <a:spcPts val="360"/>
              </a:spcBef>
              <a:spcAft>
                <a:spcPts val="0"/>
              </a:spcAft>
              <a:buSzPts val="2200"/>
              <a:buChar char="•"/>
            </a:pPr>
            <a:r>
              <a:rPr lang="en-US" sz="2200"/>
              <a:t>In Regression, we plot a graph between the variables which best fits the given </a:t>
            </a:r>
            <a:r>
              <a:rPr lang="en-US" sz="2200"/>
              <a:t>data points</a:t>
            </a:r>
            <a:r>
              <a:rPr lang="en-US" sz="2200"/>
              <a:t>, using this plot, the machine learning model can make predictions about the data. </a:t>
            </a:r>
            <a:endParaRPr sz="2200"/>
          </a:p>
          <a:p>
            <a:pPr indent="-368300" lvl="0" marL="457200" rtl="0" algn="just">
              <a:lnSpc>
                <a:spcPct val="100000"/>
              </a:lnSpc>
              <a:spcBef>
                <a:spcPts val="0"/>
              </a:spcBef>
              <a:spcAft>
                <a:spcPts val="0"/>
              </a:spcAft>
              <a:buSzPts val="2200"/>
              <a:buChar char="•"/>
            </a:pPr>
            <a:r>
              <a:rPr lang="en-US" sz="2200"/>
              <a:t>In simple words, "Regression shows a line or curve that passes through all the data points on target-predictor graph in such a way that the vertical distance between the data points and the regression line is minimum."</a:t>
            </a:r>
            <a:endParaRPr sz="2200"/>
          </a:p>
          <a:p>
            <a:pPr indent="-368300" lvl="0" marL="457200" rtl="0" algn="just">
              <a:lnSpc>
                <a:spcPct val="100000"/>
              </a:lnSpc>
              <a:spcBef>
                <a:spcPts val="0"/>
              </a:spcBef>
              <a:spcAft>
                <a:spcPts val="0"/>
              </a:spcAft>
              <a:buSzPts val="2200"/>
              <a:buChar char="•"/>
            </a:pPr>
            <a:r>
              <a:rPr lang="en-US" sz="2200"/>
              <a:t>Some examples of regression can be as:</a:t>
            </a:r>
            <a:endParaRPr sz="2200"/>
          </a:p>
          <a:p>
            <a:pPr indent="-368300" lvl="0" marL="914400" rtl="0" algn="just">
              <a:lnSpc>
                <a:spcPct val="100000"/>
              </a:lnSpc>
              <a:spcBef>
                <a:spcPts val="0"/>
              </a:spcBef>
              <a:spcAft>
                <a:spcPts val="0"/>
              </a:spcAft>
              <a:buSzPts val="2200"/>
              <a:buAutoNum type="arabicPeriod"/>
            </a:pPr>
            <a:r>
              <a:rPr lang="en-US" sz="2200"/>
              <a:t>Prediction of rain using temperature and other factors</a:t>
            </a:r>
            <a:endParaRPr sz="2200"/>
          </a:p>
          <a:p>
            <a:pPr indent="-368300" lvl="0" marL="914400" rtl="0" algn="just">
              <a:lnSpc>
                <a:spcPct val="100000"/>
              </a:lnSpc>
              <a:spcBef>
                <a:spcPts val="0"/>
              </a:spcBef>
              <a:spcAft>
                <a:spcPts val="0"/>
              </a:spcAft>
              <a:buSzPts val="2200"/>
              <a:buAutoNum type="arabicPeriod"/>
            </a:pPr>
            <a:r>
              <a:rPr lang="en-US" sz="2200"/>
              <a:t>Determining Market trends</a:t>
            </a:r>
            <a:endParaRPr sz="2200"/>
          </a:p>
          <a:p>
            <a:pPr indent="-368300" lvl="0" marL="914400" rtl="0" algn="just">
              <a:lnSpc>
                <a:spcPct val="100000"/>
              </a:lnSpc>
              <a:spcBef>
                <a:spcPts val="0"/>
              </a:spcBef>
              <a:spcAft>
                <a:spcPts val="0"/>
              </a:spcAft>
              <a:buSzPts val="2200"/>
              <a:buAutoNum type="arabicPeriod"/>
            </a:pPr>
            <a:r>
              <a:rPr lang="en-US" sz="2200"/>
              <a:t>Prediction of road accidents due to rash driving.</a:t>
            </a:r>
            <a:endParaRPr sz="2200"/>
          </a:p>
        </p:txBody>
      </p:sp>
      <p:sp>
        <p:nvSpPr>
          <p:cNvPr id="149" name="Google Shape;149;p17"/>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pSp>
        <p:nvGrpSpPr>
          <p:cNvPr id="150" name="Google Shape;150;p17"/>
          <p:cNvGrpSpPr/>
          <p:nvPr/>
        </p:nvGrpSpPr>
        <p:grpSpPr>
          <a:xfrm>
            <a:off x="230150" y="319825"/>
            <a:ext cx="303246" cy="303397"/>
            <a:chOff x="703" y="300"/>
            <a:chExt cx="181" cy="181"/>
          </a:xfrm>
        </p:grpSpPr>
        <p:sp>
          <p:nvSpPr>
            <p:cNvPr id="151" name="Google Shape;151;p17"/>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2" name="Google Shape;152;p17"/>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3" name="Google Shape;153;p17"/>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4" name="Google Shape;154;p17"/>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5" name="Google Shape;155;p17"/>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6" name="Google Shape;156;p17"/>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4400">
              <a:solidFill>
                <a:schemeClr val="accent6"/>
              </a:solidFill>
            </a:endParaRPr>
          </a:p>
          <a:p>
            <a:pPr indent="0" lvl="0" marL="0" rtl="0" algn="l">
              <a:lnSpc>
                <a:spcPct val="100000"/>
              </a:lnSpc>
              <a:spcBef>
                <a:spcPts val="0"/>
              </a:spcBef>
              <a:spcAft>
                <a:spcPts val="0"/>
              </a:spcAft>
              <a:buClr>
                <a:schemeClr val="dk1"/>
              </a:buClr>
              <a:buSzPts val="1100"/>
              <a:buFont typeface="Arial"/>
              <a:buNone/>
            </a:pPr>
            <a:r>
              <a:rPr lang="en-US" sz="3600">
                <a:solidFill>
                  <a:schemeClr val="accent6"/>
                </a:solidFill>
              </a:rPr>
              <a:t>Types of Regression</a:t>
            </a:r>
            <a:endParaRPr sz="3600">
              <a:solidFill>
                <a:schemeClr val="accent6"/>
              </a:solidFill>
              <a:highlight>
                <a:srgbClr val="FFFFFF"/>
              </a:highlight>
            </a:endParaRPr>
          </a:p>
          <a:p>
            <a:pPr indent="0" lvl="0" marL="0" rtl="0" algn="l">
              <a:lnSpc>
                <a:spcPct val="100000"/>
              </a:lnSpc>
              <a:spcBef>
                <a:spcPts val="0"/>
              </a:spcBef>
              <a:spcAft>
                <a:spcPts val="0"/>
              </a:spcAft>
              <a:buSzPts val="1400"/>
              <a:buNone/>
            </a:pPr>
            <a:r>
              <a:t/>
            </a:r>
            <a:endParaRPr sz="4400">
              <a:solidFill>
                <a:schemeClr val="accent6"/>
              </a:solidFill>
            </a:endParaRPr>
          </a:p>
        </p:txBody>
      </p:sp>
      <p:grpSp>
        <p:nvGrpSpPr>
          <p:cNvPr id="163" name="Google Shape;163;p18"/>
          <p:cNvGrpSpPr/>
          <p:nvPr/>
        </p:nvGrpSpPr>
        <p:grpSpPr>
          <a:xfrm>
            <a:off x="609600" y="533400"/>
            <a:ext cx="303246" cy="303397"/>
            <a:chOff x="703" y="300"/>
            <a:chExt cx="181" cy="181"/>
          </a:xfrm>
        </p:grpSpPr>
        <p:sp>
          <p:nvSpPr>
            <p:cNvPr id="164" name="Google Shape;164;p18"/>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5" name="Google Shape;165;p18"/>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6" name="Google Shape;166;p18"/>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7" name="Google Shape;167;p18"/>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8" name="Google Shape;168;p18"/>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9" name="Google Shape;169;p18"/>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70" name="Google Shape;170;p18"/>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
        <p:nvSpPr>
          <p:cNvPr id="171" name="Google Shape;171;p18"/>
          <p:cNvSpPr txBox="1"/>
          <p:nvPr/>
        </p:nvSpPr>
        <p:spPr>
          <a:xfrm>
            <a:off x="1046450" y="1999475"/>
            <a:ext cx="7325100" cy="2493600"/>
          </a:xfrm>
          <a:prstGeom prst="rect">
            <a:avLst/>
          </a:prstGeom>
          <a:noFill/>
          <a:ln>
            <a:noFill/>
          </a:ln>
        </p:spPr>
        <p:txBody>
          <a:bodyPr anchorCtr="0" anchor="ctr" bIns="91425" lIns="91425" spcFirstLastPara="1" rIns="91425" wrap="square" tIns="91425">
            <a:spAutoFit/>
          </a:bodyPr>
          <a:lstStyle/>
          <a:p>
            <a:pPr indent="-387350" lvl="0" marL="457200" rtl="0" algn="l">
              <a:spcBef>
                <a:spcPts val="0"/>
              </a:spcBef>
              <a:spcAft>
                <a:spcPts val="0"/>
              </a:spcAft>
              <a:buClr>
                <a:schemeClr val="dk1"/>
              </a:buClr>
              <a:buSzPts val="2500"/>
              <a:buFont typeface="Lato"/>
              <a:buChar char="●"/>
            </a:pPr>
            <a:r>
              <a:rPr lang="en-US" sz="2500">
                <a:solidFill>
                  <a:schemeClr val="accent1"/>
                </a:solidFill>
                <a:latin typeface="Lato"/>
                <a:ea typeface="Lato"/>
                <a:cs typeface="Lato"/>
                <a:sym typeface="Lato"/>
              </a:rPr>
              <a:t>Linear Regression</a:t>
            </a:r>
            <a:endParaRPr sz="2500">
              <a:solidFill>
                <a:schemeClr val="accent1"/>
              </a:solidFill>
              <a:latin typeface="Lato"/>
              <a:ea typeface="Lato"/>
              <a:cs typeface="Lato"/>
              <a:sym typeface="Lato"/>
            </a:endParaRPr>
          </a:p>
          <a:p>
            <a:pPr indent="-387350" lvl="0" marL="457200" rtl="0" algn="l">
              <a:spcBef>
                <a:spcPts val="0"/>
              </a:spcBef>
              <a:spcAft>
                <a:spcPts val="0"/>
              </a:spcAft>
              <a:buClr>
                <a:schemeClr val="dk1"/>
              </a:buClr>
              <a:buSzPts val="2500"/>
              <a:buFont typeface="Lato"/>
              <a:buChar char="●"/>
            </a:pPr>
            <a:r>
              <a:rPr lang="en-US" sz="2500">
                <a:solidFill>
                  <a:schemeClr val="accent1"/>
                </a:solidFill>
                <a:latin typeface="Lato"/>
                <a:ea typeface="Lato"/>
                <a:cs typeface="Lato"/>
                <a:sym typeface="Lato"/>
              </a:rPr>
              <a:t>Logistic Regression</a:t>
            </a:r>
            <a:endParaRPr sz="2500">
              <a:solidFill>
                <a:schemeClr val="accent1"/>
              </a:solidFill>
              <a:latin typeface="Lato"/>
              <a:ea typeface="Lato"/>
              <a:cs typeface="Lato"/>
              <a:sym typeface="Lato"/>
            </a:endParaRPr>
          </a:p>
          <a:p>
            <a:pPr indent="-387350" lvl="0" marL="457200" rtl="0" algn="l">
              <a:spcBef>
                <a:spcPts val="0"/>
              </a:spcBef>
              <a:spcAft>
                <a:spcPts val="0"/>
              </a:spcAft>
              <a:buClr>
                <a:schemeClr val="dk1"/>
              </a:buClr>
              <a:buSzPts val="2500"/>
              <a:buFont typeface="Lato"/>
              <a:buChar char="●"/>
            </a:pPr>
            <a:r>
              <a:rPr lang="en-US" sz="2500">
                <a:solidFill>
                  <a:schemeClr val="accent1"/>
                </a:solidFill>
                <a:latin typeface="Lato"/>
                <a:ea typeface="Lato"/>
                <a:cs typeface="Lato"/>
                <a:sym typeface="Lato"/>
              </a:rPr>
              <a:t>Polynomial Regression</a:t>
            </a:r>
            <a:endParaRPr sz="2500">
              <a:solidFill>
                <a:schemeClr val="accent1"/>
              </a:solidFill>
              <a:latin typeface="Lato"/>
              <a:ea typeface="Lato"/>
              <a:cs typeface="Lato"/>
              <a:sym typeface="Lato"/>
            </a:endParaRPr>
          </a:p>
          <a:p>
            <a:pPr indent="-387350" lvl="0" marL="457200" rtl="0" algn="l">
              <a:spcBef>
                <a:spcPts val="0"/>
              </a:spcBef>
              <a:spcAft>
                <a:spcPts val="0"/>
              </a:spcAft>
              <a:buClr>
                <a:schemeClr val="dk1"/>
              </a:buClr>
              <a:buSzPts val="2500"/>
              <a:buFont typeface="Lato"/>
              <a:buChar char="●"/>
            </a:pPr>
            <a:r>
              <a:rPr lang="en-US" sz="2500">
                <a:solidFill>
                  <a:schemeClr val="accent1"/>
                </a:solidFill>
                <a:latin typeface="Lato"/>
                <a:ea typeface="Lato"/>
                <a:cs typeface="Lato"/>
                <a:sym typeface="Lato"/>
              </a:rPr>
              <a:t>Ridge Regression</a:t>
            </a:r>
            <a:endParaRPr sz="2500">
              <a:solidFill>
                <a:schemeClr val="accent1"/>
              </a:solidFill>
              <a:latin typeface="Lato"/>
              <a:ea typeface="Lato"/>
              <a:cs typeface="Lato"/>
              <a:sym typeface="Lato"/>
            </a:endParaRPr>
          </a:p>
          <a:p>
            <a:pPr indent="-387350" lvl="0" marL="457200" rtl="0" algn="l">
              <a:spcBef>
                <a:spcPts val="0"/>
              </a:spcBef>
              <a:spcAft>
                <a:spcPts val="0"/>
              </a:spcAft>
              <a:buClr>
                <a:schemeClr val="dk1"/>
              </a:buClr>
              <a:buSzPts val="2500"/>
              <a:buFont typeface="Lato"/>
              <a:buChar char="●"/>
            </a:pPr>
            <a:r>
              <a:rPr lang="en-US" sz="2500">
                <a:solidFill>
                  <a:schemeClr val="accent1"/>
                </a:solidFill>
                <a:latin typeface="Lato"/>
                <a:ea typeface="Lato"/>
                <a:cs typeface="Lato"/>
                <a:sym typeface="Lato"/>
              </a:rPr>
              <a:t>Lasso Regression:</a:t>
            </a:r>
            <a:endParaRPr sz="2500">
              <a:solidFill>
                <a:schemeClr val="accent1"/>
              </a:solidFill>
              <a:latin typeface="Lato"/>
              <a:ea typeface="Lato"/>
              <a:cs typeface="Lato"/>
              <a:sym typeface="Lato"/>
            </a:endParaRPr>
          </a:p>
          <a:p>
            <a:pPr indent="0" lvl="0" marL="0" rtl="0" algn="l">
              <a:spcBef>
                <a:spcPts val="0"/>
              </a:spcBef>
              <a:spcAft>
                <a:spcPts val="0"/>
              </a:spcAft>
              <a:buClr>
                <a:srgbClr val="000000"/>
              </a:buClr>
              <a:buSzPts val="1400"/>
              <a:buFont typeface="Arial"/>
              <a:buNone/>
            </a:pPr>
            <a:r>
              <a:t/>
            </a:r>
            <a:endParaRPr sz="2500">
              <a:latin typeface="Lato"/>
              <a:ea typeface="Lato"/>
              <a:cs typeface="Lato"/>
              <a:sym typeface="Lato"/>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par>
                                <p:cTn fill="hold" nodeType="withEffect" presetClass="emph" presetID="8" presetSubtype="0">
                                  <p:stCondLst>
                                    <p:cond delay="500"/>
                                  </p:stCondLst>
                                  <p:childTnLst>
                                    <p:animRot by="-21600000">
                                      <p:cBhvr>
                                        <p:cTn dur="500" fill="hold"/>
                                        <p:tgtEl>
                                          <p:spTgt spid="16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ph type="title"/>
          </p:nvPr>
        </p:nvSpPr>
        <p:spPr>
          <a:xfrm>
            <a:off x="990600" y="533400"/>
            <a:ext cx="7651800" cy="1217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3200">
                <a:solidFill>
                  <a:schemeClr val="accent6"/>
                </a:solidFill>
              </a:rPr>
              <a:t>Terminologies Related to the Regression Analysis:</a:t>
            </a:r>
            <a:endParaRPr sz="3200">
              <a:solidFill>
                <a:schemeClr val="accent6"/>
              </a:solidFill>
              <a:highlight>
                <a:srgbClr val="FFFFFF"/>
              </a:highlight>
            </a:endParaRPr>
          </a:p>
          <a:p>
            <a:pPr indent="0" lvl="0" marL="0" rtl="0" algn="l">
              <a:lnSpc>
                <a:spcPct val="100000"/>
              </a:lnSpc>
              <a:spcBef>
                <a:spcPts val="0"/>
              </a:spcBef>
              <a:spcAft>
                <a:spcPts val="0"/>
              </a:spcAft>
              <a:buSzPts val="1400"/>
              <a:buNone/>
            </a:pPr>
            <a:r>
              <a:t/>
            </a:r>
            <a:endParaRPr/>
          </a:p>
        </p:txBody>
      </p:sp>
      <p:sp>
        <p:nvSpPr>
          <p:cNvPr id="178" name="Google Shape;178;p19"/>
          <p:cNvSpPr txBox="1"/>
          <p:nvPr>
            <p:ph idx="1" type="body"/>
          </p:nvPr>
        </p:nvSpPr>
        <p:spPr>
          <a:xfrm>
            <a:off x="457200" y="2292025"/>
            <a:ext cx="8382000" cy="3499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360"/>
              </a:spcBef>
              <a:spcAft>
                <a:spcPts val="0"/>
              </a:spcAft>
              <a:buSzPts val="2400"/>
              <a:buChar char="•"/>
            </a:pPr>
            <a:r>
              <a:rPr b="1" lang="en-US" sz="2400"/>
              <a:t>Dependent Variable:</a:t>
            </a:r>
            <a:r>
              <a:rPr lang="en-US" sz="2400"/>
              <a:t> The main factor in Regression analysis which we want to predict or understand is called the dependent variable. It is also called target variable.</a:t>
            </a:r>
            <a:endParaRPr sz="2400"/>
          </a:p>
          <a:p>
            <a:pPr indent="0" lvl="0" marL="342900" rtl="0" algn="l">
              <a:lnSpc>
                <a:spcPct val="100000"/>
              </a:lnSpc>
              <a:spcBef>
                <a:spcPts val="360"/>
              </a:spcBef>
              <a:spcAft>
                <a:spcPts val="0"/>
              </a:spcAft>
              <a:buSzPts val="1800"/>
              <a:buNone/>
            </a:pPr>
            <a:r>
              <a:t/>
            </a:r>
            <a:endParaRPr sz="2400"/>
          </a:p>
          <a:p>
            <a:pPr indent="-342900" lvl="0" marL="342900" rtl="0" algn="l">
              <a:lnSpc>
                <a:spcPct val="100000"/>
              </a:lnSpc>
              <a:spcBef>
                <a:spcPts val="360"/>
              </a:spcBef>
              <a:spcAft>
                <a:spcPts val="0"/>
              </a:spcAft>
              <a:buSzPts val="2400"/>
              <a:buChar char="•"/>
            </a:pPr>
            <a:r>
              <a:rPr b="1" lang="en-US" sz="2400"/>
              <a:t>Independent Variable:</a:t>
            </a:r>
            <a:r>
              <a:rPr lang="en-US" sz="2400"/>
              <a:t> The factors which affect the dependent variables or which are used to predict the values of the dependent variables are called independent variable, also called as a predictor.</a:t>
            </a:r>
            <a:endParaRPr sz="2400"/>
          </a:p>
          <a:p>
            <a:pPr indent="0" lvl="0" marL="342900" rtl="0" algn="just">
              <a:lnSpc>
                <a:spcPct val="100000"/>
              </a:lnSpc>
              <a:spcBef>
                <a:spcPts val="440"/>
              </a:spcBef>
              <a:spcAft>
                <a:spcPts val="0"/>
              </a:spcAft>
              <a:buSzPts val="1800"/>
              <a:buNone/>
            </a:pPr>
            <a:r>
              <a:t/>
            </a:r>
            <a:endParaRPr sz="2200"/>
          </a:p>
          <a:p>
            <a:pPr indent="-203200" lvl="0" marL="342900" rtl="0" algn="just">
              <a:lnSpc>
                <a:spcPct val="100000"/>
              </a:lnSpc>
              <a:spcBef>
                <a:spcPts val="440"/>
              </a:spcBef>
              <a:spcAft>
                <a:spcPts val="0"/>
              </a:spcAft>
              <a:buClr>
                <a:schemeClr val="dk1"/>
              </a:buClr>
              <a:buSzPts val="2200"/>
              <a:buFont typeface="Arial"/>
              <a:buNone/>
            </a:pPr>
            <a:r>
              <a:t/>
            </a:r>
            <a:endParaRPr sz="2200"/>
          </a:p>
          <a:p>
            <a:pPr indent="-203200" lvl="0" marL="342900" rtl="0" algn="just">
              <a:lnSpc>
                <a:spcPct val="100000"/>
              </a:lnSpc>
              <a:spcBef>
                <a:spcPts val="440"/>
              </a:spcBef>
              <a:spcAft>
                <a:spcPts val="0"/>
              </a:spcAft>
              <a:buClr>
                <a:schemeClr val="dk1"/>
              </a:buClr>
              <a:buSzPts val="2200"/>
              <a:buFont typeface="Arial"/>
              <a:buNone/>
            </a:pPr>
            <a:r>
              <a:t/>
            </a:r>
            <a:endParaRPr sz="2200"/>
          </a:p>
        </p:txBody>
      </p:sp>
      <p:grpSp>
        <p:nvGrpSpPr>
          <p:cNvPr id="179" name="Google Shape;179;p19"/>
          <p:cNvGrpSpPr/>
          <p:nvPr/>
        </p:nvGrpSpPr>
        <p:grpSpPr>
          <a:xfrm>
            <a:off x="436575" y="533400"/>
            <a:ext cx="429700" cy="476250"/>
            <a:chOff x="703" y="300"/>
            <a:chExt cx="181" cy="181"/>
          </a:xfrm>
        </p:grpSpPr>
        <p:sp>
          <p:nvSpPr>
            <p:cNvPr id="180" name="Google Shape;180;p19"/>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71775" lIns="143600" spcFirstLastPara="1" rIns="143600" wrap="square" tIns="71775">
              <a:noAutofit/>
            </a:bodyPr>
            <a:lstStyle/>
            <a:p>
              <a:pPr indent="0" lvl="0" marL="0" marR="0" rtl="0" algn="l">
                <a:lnSpc>
                  <a:spcPct val="100000"/>
                </a:lnSpc>
                <a:spcBef>
                  <a:spcPts val="0"/>
                </a:spcBef>
                <a:spcAft>
                  <a:spcPts val="0"/>
                </a:spcAft>
                <a:buClr>
                  <a:srgbClr val="000000"/>
                </a:buClr>
                <a:buSzPts val="2827"/>
                <a:buFont typeface="Arial"/>
                <a:buNone/>
              </a:pPr>
              <a:r>
                <a:t/>
              </a:r>
              <a:endParaRPr b="0" i="0" sz="2827" u="none" cap="none" strike="noStrike">
                <a:solidFill>
                  <a:schemeClr val="dk1"/>
                </a:solidFill>
                <a:latin typeface="Arial"/>
                <a:ea typeface="Arial"/>
                <a:cs typeface="Arial"/>
                <a:sym typeface="Arial"/>
              </a:endParaRPr>
            </a:p>
          </p:txBody>
        </p:sp>
        <p:sp>
          <p:nvSpPr>
            <p:cNvPr id="181" name="Google Shape;181;p19"/>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71775" lIns="143600" spcFirstLastPara="1" rIns="143600" wrap="square" tIns="71775">
              <a:noAutofit/>
            </a:bodyPr>
            <a:lstStyle/>
            <a:p>
              <a:pPr indent="0" lvl="0" marL="0" marR="0" rtl="0" algn="l">
                <a:lnSpc>
                  <a:spcPct val="100000"/>
                </a:lnSpc>
                <a:spcBef>
                  <a:spcPts val="0"/>
                </a:spcBef>
                <a:spcAft>
                  <a:spcPts val="0"/>
                </a:spcAft>
                <a:buClr>
                  <a:srgbClr val="000000"/>
                </a:buClr>
                <a:buSzPts val="2827"/>
                <a:buFont typeface="Arial"/>
                <a:buNone/>
              </a:pPr>
              <a:r>
                <a:t/>
              </a:r>
              <a:endParaRPr b="0" i="0" sz="2827" u="none" cap="none" strike="noStrike">
                <a:solidFill>
                  <a:schemeClr val="dk1"/>
                </a:solidFill>
                <a:latin typeface="Arial"/>
                <a:ea typeface="Arial"/>
                <a:cs typeface="Arial"/>
                <a:sym typeface="Arial"/>
              </a:endParaRPr>
            </a:p>
          </p:txBody>
        </p:sp>
        <p:sp>
          <p:nvSpPr>
            <p:cNvPr id="182" name="Google Shape;182;p19"/>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71775" lIns="143600" spcFirstLastPara="1" rIns="143600" wrap="square" tIns="71775">
              <a:noAutofit/>
            </a:bodyPr>
            <a:lstStyle/>
            <a:p>
              <a:pPr indent="0" lvl="0" marL="0" marR="0" rtl="0" algn="l">
                <a:lnSpc>
                  <a:spcPct val="100000"/>
                </a:lnSpc>
                <a:spcBef>
                  <a:spcPts val="0"/>
                </a:spcBef>
                <a:spcAft>
                  <a:spcPts val="0"/>
                </a:spcAft>
                <a:buClr>
                  <a:srgbClr val="000000"/>
                </a:buClr>
                <a:buSzPts val="2827"/>
                <a:buFont typeface="Arial"/>
                <a:buNone/>
              </a:pPr>
              <a:r>
                <a:t/>
              </a:r>
              <a:endParaRPr b="0" i="0" sz="2827" u="none" cap="none" strike="noStrike">
                <a:solidFill>
                  <a:schemeClr val="dk1"/>
                </a:solidFill>
                <a:latin typeface="Arial"/>
                <a:ea typeface="Arial"/>
                <a:cs typeface="Arial"/>
                <a:sym typeface="Arial"/>
              </a:endParaRPr>
            </a:p>
          </p:txBody>
        </p:sp>
        <p:sp>
          <p:nvSpPr>
            <p:cNvPr id="183" name="Google Shape;183;p19"/>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71775" lIns="143600" spcFirstLastPara="1" rIns="143600" wrap="square" tIns="71775">
              <a:noAutofit/>
            </a:bodyPr>
            <a:lstStyle/>
            <a:p>
              <a:pPr indent="0" lvl="0" marL="0" marR="0" rtl="0" algn="l">
                <a:lnSpc>
                  <a:spcPct val="100000"/>
                </a:lnSpc>
                <a:spcBef>
                  <a:spcPts val="0"/>
                </a:spcBef>
                <a:spcAft>
                  <a:spcPts val="0"/>
                </a:spcAft>
                <a:buClr>
                  <a:srgbClr val="000000"/>
                </a:buClr>
                <a:buSzPts val="2827"/>
                <a:buFont typeface="Arial"/>
                <a:buNone/>
              </a:pPr>
              <a:r>
                <a:t/>
              </a:r>
              <a:endParaRPr b="0" i="0" sz="2827" u="none" cap="none" strike="noStrike">
                <a:solidFill>
                  <a:schemeClr val="dk1"/>
                </a:solidFill>
                <a:latin typeface="Arial"/>
                <a:ea typeface="Arial"/>
                <a:cs typeface="Arial"/>
                <a:sym typeface="Arial"/>
              </a:endParaRPr>
            </a:p>
          </p:txBody>
        </p:sp>
        <p:sp>
          <p:nvSpPr>
            <p:cNvPr id="184" name="Google Shape;184;p19"/>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71775" lIns="143600" spcFirstLastPara="1" rIns="143600" wrap="square" tIns="71775">
              <a:noAutofit/>
            </a:bodyPr>
            <a:lstStyle/>
            <a:p>
              <a:pPr indent="0" lvl="0" marL="0" marR="0" rtl="0" algn="l">
                <a:lnSpc>
                  <a:spcPct val="100000"/>
                </a:lnSpc>
                <a:spcBef>
                  <a:spcPts val="0"/>
                </a:spcBef>
                <a:spcAft>
                  <a:spcPts val="0"/>
                </a:spcAft>
                <a:buClr>
                  <a:srgbClr val="000000"/>
                </a:buClr>
                <a:buSzPts val="2827"/>
                <a:buFont typeface="Arial"/>
                <a:buNone/>
              </a:pPr>
              <a:r>
                <a:t/>
              </a:r>
              <a:endParaRPr b="0" i="0" sz="2827" u="none" cap="none" strike="noStrike">
                <a:solidFill>
                  <a:schemeClr val="dk1"/>
                </a:solidFill>
                <a:latin typeface="Arial"/>
                <a:ea typeface="Arial"/>
                <a:cs typeface="Arial"/>
                <a:sym typeface="Arial"/>
              </a:endParaRPr>
            </a:p>
          </p:txBody>
        </p:sp>
        <p:sp>
          <p:nvSpPr>
            <p:cNvPr id="185" name="Google Shape;185;p19"/>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71775" lIns="143600" spcFirstLastPara="1" rIns="143600" wrap="square" tIns="71775">
              <a:noAutofit/>
            </a:bodyPr>
            <a:lstStyle/>
            <a:p>
              <a:pPr indent="0" lvl="0" marL="0" marR="0" rtl="0" algn="l">
                <a:lnSpc>
                  <a:spcPct val="100000"/>
                </a:lnSpc>
                <a:spcBef>
                  <a:spcPts val="0"/>
                </a:spcBef>
                <a:spcAft>
                  <a:spcPts val="0"/>
                </a:spcAft>
                <a:buClr>
                  <a:srgbClr val="000000"/>
                </a:buClr>
                <a:buSzPts val="2827"/>
                <a:buFont typeface="Arial"/>
                <a:buNone/>
              </a:pPr>
              <a:r>
                <a:t/>
              </a:r>
              <a:endParaRPr b="0" i="0" sz="2827" u="none" cap="none" strike="noStrike">
                <a:solidFill>
                  <a:schemeClr val="dk1"/>
                </a:solidFill>
                <a:latin typeface="Arial"/>
                <a:ea typeface="Arial"/>
                <a:cs typeface="Arial"/>
                <a:sym typeface="Arial"/>
              </a:endParaRPr>
            </a:p>
          </p:txBody>
        </p:sp>
      </p:grpSp>
      <p:sp>
        <p:nvSpPr>
          <p:cNvPr id="186" name="Google Shape;186;p19"/>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par>
                                <p:cTn fill="hold" nodeType="withEffect" presetClass="emph" presetID="8" presetSubtype="0">
                                  <p:stCondLst>
                                    <p:cond delay="500"/>
                                  </p:stCondLst>
                                  <p:childTnLst>
                                    <p:animRot by="-21600000">
                                      <p:cBhvr>
                                        <p:cTn dur="500" fill="hold"/>
                                        <p:tgtEl>
                                          <p:spTgt spid="17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0"/>
          <p:cNvSpPr txBox="1"/>
          <p:nvPr>
            <p:ph type="title"/>
          </p:nvPr>
        </p:nvSpPr>
        <p:spPr>
          <a:xfrm>
            <a:off x="990600" y="533400"/>
            <a:ext cx="7651800" cy="1217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3200">
                <a:solidFill>
                  <a:schemeClr val="accent6"/>
                </a:solidFill>
              </a:rPr>
              <a:t>Terminologies Related to the Regression Analysis:</a:t>
            </a:r>
            <a:endParaRPr sz="3200">
              <a:solidFill>
                <a:schemeClr val="accent6"/>
              </a:solidFill>
              <a:highlight>
                <a:srgbClr val="FFFFFF"/>
              </a:highlight>
            </a:endParaRPr>
          </a:p>
          <a:p>
            <a:pPr indent="0" lvl="0" marL="0" rtl="0" algn="l">
              <a:lnSpc>
                <a:spcPct val="100000"/>
              </a:lnSpc>
              <a:spcBef>
                <a:spcPts val="0"/>
              </a:spcBef>
              <a:spcAft>
                <a:spcPts val="0"/>
              </a:spcAft>
              <a:buSzPts val="1400"/>
              <a:buNone/>
            </a:pPr>
            <a:r>
              <a:t/>
            </a:r>
            <a:endParaRPr/>
          </a:p>
        </p:txBody>
      </p:sp>
      <p:grpSp>
        <p:nvGrpSpPr>
          <p:cNvPr id="193" name="Google Shape;193;p20"/>
          <p:cNvGrpSpPr/>
          <p:nvPr/>
        </p:nvGrpSpPr>
        <p:grpSpPr>
          <a:xfrm>
            <a:off x="436575" y="533400"/>
            <a:ext cx="429747" cy="476539"/>
            <a:chOff x="703" y="300"/>
            <a:chExt cx="181" cy="181"/>
          </a:xfrm>
        </p:grpSpPr>
        <p:sp>
          <p:nvSpPr>
            <p:cNvPr id="194" name="Google Shape;194;p20"/>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71775" lIns="143600" spcFirstLastPara="1" rIns="143600" wrap="square" tIns="71775">
              <a:noAutofit/>
            </a:bodyPr>
            <a:lstStyle/>
            <a:p>
              <a:pPr indent="0" lvl="0" marL="0" marR="0" rtl="0" algn="l">
                <a:lnSpc>
                  <a:spcPct val="100000"/>
                </a:lnSpc>
                <a:spcBef>
                  <a:spcPts val="0"/>
                </a:spcBef>
                <a:spcAft>
                  <a:spcPts val="0"/>
                </a:spcAft>
                <a:buClr>
                  <a:srgbClr val="000000"/>
                </a:buClr>
                <a:buSzPts val="2827"/>
                <a:buFont typeface="Arial"/>
                <a:buNone/>
              </a:pPr>
              <a:r>
                <a:t/>
              </a:r>
              <a:endParaRPr b="0" i="0" sz="2827" u="none" cap="none" strike="noStrike">
                <a:solidFill>
                  <a:schemeClr val="dk1"/>
                </a:solidFill>
                <a:latin typeface="Arial"/>
                <a:ea typeface="Arial"/>
                <a:cs typeface="Arial"/>
                <a:sym typeface="Arial"/>
              </a:endParaRPr>
            </a:p>
          </p:txBody>
        </p:sp>
        <p:sp>
          <p:nvSpPr>
            <p:cNvPr id="195" name="Google Shape;195;p20"/>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71775" lIns="143600" spcFirstLastPara="1" rIns="143600" wrap="square" tIns="71775">
              <a:noAutofit/>
            </a:bodyPr>
            <a:lstStyle/>
            <a:p>
              <a:pPr indent="0" lvl="0" marL="0" marR="0" rtl="0" algn="l">
                <a:lnSpc>
                  <a:spcPct val="100000"/>
                </a:lnSpc>
                <a:spcBef>
                  <a:spcPts val="0"/>
                </a:spcBef>
                <a:spcAft>
                  <a:spcPts val="0"/>
                </a:spcAft>
                <a:buClr>
                  <a:srgbClr val="000000"/>
                </a:buClr>
                <a:buSzPts val="2827"/>
                <a:buFont typeface="Arial"/>
                <a:buNone/>
              </a:pPr>
              <a:r>
                <a:t/>
              </a:r>
              <a:endParaRPr b="0" i="0" sz="2827" u="none" cap="none" strike="noStrike">
                <a:solidFill>
                  <a:schemeClr val="dk1"/>
                </a:solidFill>
                <a:latin typeface="Arial"/>
                <a:ea typeface="Arial"/>
                <a:cs typeface="Arial"/>
                <a:sym typeface="Arial"/>
              </a:endParaRPr>
            </a:p>
          </p:txBody>
        </p:sp>
        <p:sp>
          <p:nvSpPr>
            <p:cNvPr id="196" name="Google Shape;196;p20"/>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71775" lIns="143600" spcFirstLastPara="1" rIns="143600" wrap="square" tIns="71775">
              <a:noAutofit/>
            </a:bodyPr>
            <a:lstStyle/>
            <a:p>
              <a:pPr indent="0" lvl="0" marL="0" marR="0" rtl="0" algn="l">
                <a:lnSpc>
                  <a:spcPct val="100000"/>
                </a:lnSpc>
                <a:spcBef>
                  <a:spcPts val="0"/>
                </a:spcBef>
                <a:spcAft>
                  <a:spcPts val="0"/>
                </a:spcAft>
                <a:buClr>
                  <a:srgbClr val="000000"/>
                </a:buClr>
                <a:buSzPts val="2827"/>
                <a:buFont typeface="Arial"/>
                <a:buNone/>
              </a:pPr>
              <a:r>
                <a:t/>
              </a:r>
              <a:endParaRPr b="0" i="0" sz="2827" u="none" cap="none" strike="noStrike">
                <a:solidFill>
                  <a:schemeClr val="dk1"/>
                </a:solidFill>
                <a:latin typeface="Arial"/>
                <a:ea typeface="Arial"/>
                <a:cs typeface="Arial"/>
                <a:sym typeface="Arial"/>
              </a:endParaRPr>
            </a:p>
          </p:txBody>
        </p:sp>
        <p:sp>
          <p:nvSpPr>
            <p:cNvPr id="197" name="Google Shape;197;p20"/>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71775" lIns="143600" spcFirstLastPara="1" rIns="143600" wrap="square" tIns="71775">
              <a:noAutofit/>
            </a:bodyPr>
            <a:lstStyle/>
            <a:p>
              <a:pPr indent="0" lvl="0" marL="0" marR="0" rtl="0" algn="l">
                <a:lnSpc>
                  <a:spcPct val="100000"/>
                </a:lnSpc>
                <a:spcBef>
                  <a:spcPts val="0"/>
                </a:spcBef>
                <a:spcAft>
                  <a:spcPts val="0"/>
                </a:spcAft>
                <a:buClr>
                  <a:srgbClr val="000000"/>
                </a:buClr>
                <a:buSzPts val="2827"/>
                <a:buFont typeface="Arial"/>
                <a:buNone/>
              </a:pPr>
              <a:r>
                <a:t/>
              </a:r>
              <a:endParaRPr b="0" i="0" sz="2827" u="none" cap="none" strike="noStrike">
                <a:solidFill>
                  <a:schemeClr val="dk1"/>
                </a:solidFill>
                <a:latin typeface="Arial"/>
                <a:ea typeface="Arial"/>
                <a:cs typeface="Arial"/>
                <a:sym typeface="Arial"/>
              </a:endParaRPr>
            </a:p>
          </p:txBody>
        </p:sp>
        <p:sp>
          <p:nvSpPr>
            <p:cNvPr id="198" name="Google Shape;198;p20"/>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71775" lIns="143600" spcFirstLastPara="1" rIns="143600" wrap="square" tIns="71775">
              <a:noAutofit/>
            </a:bodyPr>
            <a:lstStyle/>
            <a:p>
              <a:pPr indent="0" lvl="0" marL="0" marR="0" rtl="0" algn="l">
                <a:lnSpc>
                  <a:spcPct val="100000"/>
                </a:lnSpc>
                <a:spcBef>
                  <a:spcPts val="0"/>
                </a:spcBef>
                <a:spcAft>
                  <a:spcPts val="0"/>
                </a:spcAft>
                <a:buClr>
                  <a:srgbClr val="000000"/>
                </a:buClr>
                <a:buSzPts val="2827"/>
                <a:buFont typeface="Arial"/>
                <a:buNone/>
              </a:pPr>
              <a:r>
                <a:t/>
              </a:r>
              <a:endParaRPr b="0" i="0" sz="2827" u="none" cap="none" strike="noStrike">
                <a:solidFill>
                  <a:schemeClr val="dk1"/>
                </a:solidFill>
                <a:latin typeface="Arial"/>
                <a:ea typeface="Arial"/>
                <a:cs typeface="Arial"/>
                <a:sym typeface="Arial"/>
              </a:endParaRPr>
            </a:p>
          </p:txBody>
        </p:sp>
        <p:sp>
          <p:nvSpPr>
            <p:cNvPr id="199" name="Google Shape;199;p20"/>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71775" lIns="143600" spcFirstLastPara="1" rIns="143600" wrap="square" tIns="71775">
              <a:noAutofit/>
            </a:bodyPr>
            <a:lstStyle/>
            <a:p>
              <a:pPr indent="0" lvl="0" marL="0" marR="0" rtl="0" algn="l">
                <a:lnSpc>
                  <a:spcPct val="100000"/>
                </a:lnSpc>
                <a:spcBef>
                  <a:spcPts val="0"/>
                </a:spcBef>
                <a:spcAft>
                  <a:spcPts val="0"/>
                </a:spcAft>
                <a:buClr>
                  <a:srgbClr val="000000"/>
                </a:buClr>
                <a:buSzPts val="2827"/>
                <a:buFont typeface="Arial"/>
                <a:buNone/>
              </a:pPr>
              <a:r>
                <a:t/>
              </a:r>
              <a:endParaRPr b="0" i="0" sz="2827" u="none" cap="none" strike="noStrike">
                <a:solidFill>
                  <a:schemeClr val="dk1"/>
                </a:solidFill>
                <a:latin typeface="Arial"/>
                <a:ea typeface="Arial"/>
                <a:cs typeface="Arial"/>
                <a:sym typeface="Arial"/>
              </a:endParaRPr>
            </a:p>
          </p:txBody>
        </p:sp>
      </p:grpSp>
      <p:sp>
        <p:nvSpPr>
          <p:cNvPr id="200" name="Google Shape;200;p20"/>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201" name="Google Shape;201;p20"/>
          <p:cNvPicPr preferRelativeResize="0"/>
          <p:nvPr/>
        </p:nvPicPr>
        <p:blipFill>
          <a:blip r:embed="rId3">
            <a:alphaModFix/>
          </a:blip>
          <a:stretch>
            <a:fillRect/>
          </a:stretch>
        </p:blipFill>
        <p:spPr>
          <a:xfrm>
            <a:off x="776025" y="1880900"/>
            <a:ext cx="7387074" cy="42151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par>
                                <p:cTn fill="hold" nodeType="withEffect" presetClass="emph" presetID="8" presetSubtype="0">
                                  <p:stCondLst>
                                    <p:cond delay="500"/>
                                  </p:stCondLst>
                                  <p:childTnLst>
                                    <p:animRot by="-21600000">
                                      <p:cBhvr>
                                        <p:cTn dur="500" fill="hold"/>
                                        <p:tgtEl>
                                          <p:spTgt spid="19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1"/>
          <p:cNvSpPr txBox="1"/>
          <p:nvPr>
            <p:ph type="title"/>
          </p:nvPr>
        </p:nvSpPr>
        <p:spPr>
          <a:xfrm>
            <a:off x="721900" y="361175"/>
            <a:ext cx="7953900" cy="153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3200">
                <a:solidFill>
                  <a:schemeClr val="accent6"/>
                </a:solidFill>
              </a:rPr>
              <a:t>Terminologies Related to the Regression Analysis:</a:t>
            </a:r>
            <a:endParaRPr>
              <a:solidFill>
                <a:schemeClr val="dk1"/>
              </a:solidFill>
            </a:endParaRPr>
          </a:p>
          <a:p>
            <a:pPr indent="0" lvl="0" marL="0" rtl="0" algn="l">
              <a:lnSpc>
                <a:spcPct val="100000"/>
              </a:lnSpc>
              <a:spcBef>
                <a:spcPts val="0"/>
              </a:spcBef>
              <a:spcAft>
                <a:spcPts val="0"/>
              </a:spcAft>
              <a:buSzPts val="1400"/>
              <a:buNone/>
            </a:pPr>
            <a:r>
              <a:t/>
            </a:r>
            <a:endParaRPr/>
          </a:p>
        </p:txBody>
      </p:sp>
      <p:sp>
        <p:nvSpPr>
          <p:cNvPr id="208" name="Google Shape;208;p21"/>
          <p:cNvSpPr txBox="1"/>
          <p:nvPr>
            <p:ph idx="1" type="body"/>
          </p:nvPr>
        </p:nvSpPr>
        <p:spPr>
          <a:xfrm>
            <a:off x="457200" y="2018148"/>
            <a:ext cx="8229600" cy="4107900"/>
          </a:xfrm>
          <a:prstGeom prst="rect">
            <a:avLst/>
          </a:prstGeom>
          <a:noFill/>
          <a:ln>
            <a:noFill/>
          </a:ln>
        </p:spPr>
        <p:txBody>
          <a:bodyPr anchorCtr="0" anchor="t" bIns="45700" lIns="91425" spcFirstLastPara="1" rIns="91425" wrap="square" tIns="45700">
            <a:noAutofit/>
          </a:bodyPr>
          <a:lstStyle/>
          <a:p>
            <a:pPr indent="-381000" lvl="0" marL="457200" rtl="0" algn="l">
              <a:lnSpc>
                <a:spcPct val="100000"/>
              </a:lnSpc>
              <a:spcBef>
                <a:spcPts val="360"/>
              </a:spcBef>
              <a:spcAft>
                <a:spcPts val="0"/>
              </a:spcAft>
              <a:buSzPts val="2400"/>
              <a:buChar char="●"/>
            </a:pPr>
            <a:r>
              <a:rPr b="1" lang="en-US" sz="2400"/>
              <a:t>Outliers:</a:t>
            </a:r>
            <a:r>
              <a:rPr lang="en-US" sz="2400"/>
              <a:t> Outlier is an observation which contains either very low value or very high value in comparison to other observed values. An outlier may hamper the result, so it should be avoided.</a:t>
            </a:r>
            <a:endParaRPr sz="2400"/>
          </a:p>
          <a:p>
            <a:pPr indent="0" lvl="0" marL="457200" rtl="0" algn="l">
              <a:lnSpc>
                <a:spcPct val="100000"/>
              </a:lnSpc>
              <a:spcBef>
                <a:spcPts val="360"/>
              </a:spcBef>
              <a:spcAft>
                <a:spcPts val="0"/>
              </a:spcAft>
              <a:buSzPts val="1800"/>
              <a:buNone/>
            </a:pPr>
            <a:r>
              <a:t/>
            </a:r>
            <a:endParaRPr sz="2400"/>
          </a:p>
          <a:p>
            <a:pPr indent="-381000" lvl="0" marL="457200" rtl="0" algn="l">
              <a:lnSpc>
                <a:spcPct val="100000"/>
              </a:lnSpc>
              <a:spcBef>
                <a:spcPts val="360"/>
              </a:spcBef>
              <a:spcAft>
                <a:spcPts val="0"/>
              </a:spcAft>
              <a:buSzPts val="2400"/>
              <a:buChar char="●"/>
            </a:pPr>
            <a:r>
              <a:rPr b="1" lang="en-US" sz="2400"/>
              <a:t>Underfitting and Overfitting:</a:t>
            </a:r>
            <a:r>
              <a:rPr lang="en-US" sz="2400"/>
              <a:t> If our algorithm works well with the training dataset but not well with test dataset, then such problem is called Overfitting. And if our algorithm does not perform well even with training dataset, then such problem is called underfitting.</a:t>
            </a:r>
            <a:endParaRPr sz="2400"/>
          </a:p>
          <a:p>
            <a:pPr indent="0" lvl="0" marL="0" rtl="0" algn="l">
              <a:lnSpc>
                <a:spcPct val="100000"/>
              </a:lnSpc>
              <a:spcBef>
                <a:spcPts val="360"/>
              </a:spcBef>
              <a:spcAft>
                <a:spcPts val="0"/>
              </a:spcAft>
              <a:buSzPts val="1800"/>
              <a:buNone/>
            </a:pPr>
            <a:r>
              <a:t/>
            </a:r>
            <a:endParaRPr/>
          </a:p>
        </p:txBody>
      </p:sp>
      <p:sp>
        <p:nvSpPr>
          <p:cNvPr id="209" name="Google Shape;209;p21"/>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pSp>
        <p:nvGrpSpPr>
          <p:cNvPr id="210" name="Google Shape;210;p21"/>
          <p:cNvGrpSpPr/>
          <p:nvPr/>
        </p:nvGrpSpPr>
        <p:grpSpPr>
          <a:xfrm>
            <a:off x="216575" y="361175"/>
            <a:ext cx="505325" cy="476400"/>
            <a:chOff x="703" y="300"/>
            <a:chExt cx="181" cy="181"/>
          </a:xfrm>
        </p:grpSpPr>
        <p:sp>
          <p:nvSpPr>
            <p:cNvPr id="211" name="Google Shape;211;p21"/>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98625" lIns="197325" spcFirstLastPara="1" rIns="197325" wrap="square" tIns="98625">
              <a:noAutofit/>
            </a:bodyPr>
            <a:lstStyle/>
            <a:p>
              <a:pPr indent="0" lvl="0" marL="0" marR="0" rtl="0" algn="l">
                <a:lnSpc>
                  <a:spcPct val="100000"/>
                </a:lnSpc>
                <a:spcBef>
                  <a:spcPts val="0"/>
                </a:spcBef>
                <a:spcAft>
                  <a:spcPts val="0"/>
                </a:spcAft>
                <a:buClr>
                  <a:srgbClr val="000000"/>
                </a:buClr>
                <a:buSzPts val="3885"/>
                <a:buFont typeface="Arial"/>
                <a:buNone/>
              </a:pPr>
              <a:r>
                <a:t/>
              </a:r>
              <a:endParaRPr b="0" i="0" sz="3885" u="none" cap="none" strike="noStrike">
                <a:solidFill>
                  <a:schemeClr val="dk1"/>
                </a:solidFill>
                <a:latin typeface="Arial"/>
                <a:ea typeface="Arial"/>
                <a:cs typeface="Arial"/>
                <a:sym typeface="Arial"/>
              </a:endParaRPr>
            </a:p>
          </p:txBody>
        </p:sp>
        <p:sp>
          <p:nvSpPr>
            <p:cNvPr id="212" name="Google Shape;212;p21"/>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98625" lIns="197325" spcFirstLastPara="1" rIns="197325" wrap="square" tIns="98625">
              <a:noAutofit/>
            </a:bodyPr>
            <a:lstStyle/>
            <a:p>
              <a:pPr indent="0" lvl="0" marL="0" marR="0" rtl="0" algn="l">
                <a:lnSpc>
                  <a:spcPct val="100000"/>
                </a:lnSpc>
                <a:spcBef>
                  <a:spcPts val="0"/>
                </a:spcBef>
                <a:spcAft>
                  <a:spcPts val="0"/>
                </a:spcAft>
                <a:buClr>
                  <a:srgbClr val="000000"/>
                </a:buClr>
                <a:buSzPts val="3885"/>
                <a:buFont typeface="Arial"/>
                <a:buNone/>
              </a:pPr>
              <a:r>
                <a:t/>
              </a:r>
              <a:endParaRPr b="0" i="0" sz="3885" u="none" cap="none" strike="noStrike">
                <a:solidFill>
                  <a:schemeClr val="dk1"/>
                </a:solidFill>
                <a:latin typeface="Arial"/>
                <a:ea typeface="Arial"/>
                <a:cs typeface="Arial"/>
                <a:sym typeface="Arial"/>
              </a:endParaRPr>
            </a:p>
          </p:txBody>
        </p:sp>
        <p:sp>
          <p:nvSpPr>
            <p:cNvPr id="213" name="Google Shape;213;p21"/>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98625" lIns="197325" spcFirstLastPara="1" rIns="197325" wrap="square" tIns="98625">
              <a:noAutofit/>
            </a:bodyPr>
            <a:lstStyle/>
            <a:p>
              <a:pPr indent="0" lvl="0" marL="0" marR="0" rtl="0" algn="l">
                <a:lnSpc>
                  <a:spcPct val="100000"/>
                </a:lnSpc>
                <a:spcBef>
                  <a:spcPts val="0"/>
                </a:spcBef>
                <a:spcAft>
                  <a:spcPts val="0"/>
                </a:spcAft>
                <a:buClr>
                  <a:srgbClr val="000000"/>
                </a:buClr>
                <a:buSzPts val="3885"/>
                <a:buFont typeface="Arial"/>
                <a:buNone/>
              </a:pPr>
              <a:r>
                <a:t/>
              </a:r>
              <a:endParaRPr b="0" i="0" sz="3885" u="none" cap="none" strike="noStrike">
                <a:solidFill>
                  <a:schemeClr val="dk1"/>
                </a:solidFill>
                <a:latin typeface="Arial"/>
                <a:ea typeface="Arial"/>
                <a:cs typeface="Arial"/>
                <a:sym typeface="Arial"/>
              </a:endParaRPr>
            </a:p>
          </p:txBody>
        </p:sp>
        <p:sp>
          <p:nvSpPr>
            <p:cNvPr id="214" name="Google Shape;214;p21"/>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98625" lIns="197325" spcFirstLastPara="1" rIns="197325" wrap="square" tIns="98625">
              <a:noAutofit/>
            </a:bodyPr>
            <a:lstStyle/>
            <a:p>
              <a:pPr indent="0" lvl="0" marL="0" marR="0" rtl="0" algn="l">
                <a:lnSpc>
                  <a:spcPct val="100000"/>
                </a:lnSpc>
                <a:spcBef>
                  <a:spcPts val="0"/>
                </a:spcBef>
                <a:spcAft>
                  <a:spcPts val="0"/>
                </a:spcAft>
                <a:buClr>
                  <a:srgbClr val="000000"/>
                </a:buClr>
                <a:buSzPts val="3885"/>
                <a:buFont typeface="Arial"/>
                <a:buNone/>
              </a:pPr>
              <a:r>
                <a:t/>
              </a:r>
              <a:endParaRPr b="0" i="0" sz="3885" u="none" cap="none" strike="noStrike">
                <a:solidFill>
                  <a:schemeClr val="dk1"/>
                </a:solidFill>
                <a:latin typeface="Arial"/>
                <a:ea typeface="Arial"/>
                <a:cs typeface="Arial"/>
                <a:sym typeface="Arial"/>
              </a:endParaRPr>
            </a:p>
          </p:txBody>
        </p:sp>
        <p:sp>
          <p:nvSpPr>
            <p:cNvPr id="215" name="Google Shape;215;p21"/>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98625" lIns="197325" spcFirstLastPara="1" rIns="197325" wrap="square" tIns="98625">
              <a:noAutofit/>
            </a:bodyPr>
            <a:lstStyle/>
            <a:p>
              <a:pPr indent="0" lvl="0" marL="0" marR="0" rtl="0" algn="l">
                <a:lnSpc>
                  <a:spcPct val="100000"/>
                </a:lnSpc>
                <a:spcBef>
                  <a:spcPts val="0"/>
                </a:spcBef>
                <a:spcAft>
                  <a:spcPts val="0"/>
                </a:spcAft>
                <a:buClr>
                  <a:srgbClr val="000000"/>
                </a:buClr>
                <a:buSzPts val="3885"/>
                <a:buFont typeface="Arial"/>
                <a:buNone/>
              </a:pPr>
              <a:r>
                <a:t/>
              </a:r>
              <a:endParaRPr b="0" i="0" sz="3885" u="none" cap="none" strike="noStrike">
                <a:solidFill>
                  <a:schemeClr val="dk1"/>
                </a:solidFill>
                <a:latin typeface="Arial"/>
                <a:ea typeface="Arial"/>
                <a:cs typeface="Arial"/>
                <a:sym typeface="Arial"/>
              </a:endParaRPr>
            </a:p>
          </p:txBody>
        </p:sp>
        <p:sp>
          <p:nvSpPr>
            <p:cNvPr id="216" name="Google Shape;216;p21"/>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98625" lIns="197325" spcFirstLastPara="1" rIns="197325" wrap="square" tIns="98625">
              <a:noAutofit/>
            </a:bodyPr>
            <a:lstStyle/>
            <a:p>
              <a:pPr indent="0" lvl="0" marL="0" marR="0" rtl="0" algn="l">
                <a:lnSpc>
                  <a:spcPct val="100000"/>
                </a:lnSpc>
                <a:spcBef>
                  <a:spcPts val="0"/>
                </a:spcBef>
                <a:spcAft>
                  <a:spcPts val="0"/>
                </a:spcAft>
                <a:buClr>
                  <a:srgbClr val="000000"/>
                </a:buClr>
                <a:buSzPts val="3885"/>
                <a:buFont typeface="Arial"/>
                <a:buNone/>
              </a:pPr>
              <a:r>
                <a:t/>
              </a:r>
              <a:endParaRPr b="0" i="0" sz="3885" u="none" cap="none" strike="noStrike">
                <a:solidFill>
                  <a:schemeClr val="dk1"/>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2"/>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Regression Model</a:t>
            </a:r>
            <a:endParaRPr sz="4400">
              <a:solidFill>
                <a:schemeClr val="accent6"/>
              </a:solidFill>
            </a:endParaRPr>
          </a:p>
        </p:txBody>
      </p:sp>
      <p:sp>
        <p:nvSpPr>
          <p:cNvPr id="223" name="Google Shape;223;p22"/>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Arial"/>
              <a:buChar char="•"/>
            </a:pPr>
            <a:r>
              <a:rPr lang="en-US" sz="2400"/>
              <a:t>A regression model is a statistical model for estimating the relationships between a dependent variable and one or more independent (explanatory) variables</a:t>
            </a:r>
            <a:endParaRPr/>
          </a:p>
          <a:p>
            <a:pPr indent="-190500" lvl="0" marL="342900" rtl="0" algn="just">
              <a:lnSpc>
                <a:spcPct val="100000"/>
              </a:lnSpc>
              <a:spcBef>
                <a:spcPts val="480"/>
              </a:spcBef>
              <a:spcAft>
                <a:spcPts val="0"/>
              </a:spcAft>
              <a:buClr>
                <a:schemeClr val="dk1"/>
              </a:buClr>
              <a:buSzPts val="2400"/>
              <a:buFont typeface="Arial"/>
              <a:buNone/>
            </a:pPr>
            <a:r>
              <a:t/>
            </a:r>
            <a:endParaRPr b="1" sz="2400"/>
          </a:p>
          <a:p>
            <a:pPr indent="-342900" lvl="0" marL="342900" rtl="0" algn="l">
              <a:lnSpc>
                <a:spcPct val="100000"/>
              </a:lnSpc>
              <a:spcBef>
                <a:spcPts val="480"/>
              </a:spcBef>
              <a:spcAft>
                <a:spcPts val="0"/>
              </a:spcAft>
              <a:buClr>
                <a:schemeClr val="dk1"/>
              </a:buClr>
              <a:buSzPts val="2400"/>
              <a:buFont typeface="Arial"/>
              <a:buChar char="•"/>
            </a:pPr>
            <a:r>
              <a:rPr b="1" lang="en-US" sz="2400"/>
              <a:t>Dependent Variable:</a:t>
            </a:r>
            <a:r>
              <a:rPr lang="en-US" sz="2400"/>
              <a:t> This is the main factor that we’re trying to understand or predict. Also called outcome variable</a:t>
            </a:r>
            <a:endParaRPr/>
          </a:p>
          <a:p>
            <a:pPr indent="-190500" lvl="0" marL="342900" rtl="0" algn="l">
              <a:lnSpc>
                <a:spcPct val="100000"/>
              </a:lnSpc>
              <a:spcBef>
                <a:spcPts val="480"/>
              </a:spcBef>
              <a:spcAft>
                <a:spcPts val="0"/>
              </a:spcAft>
              <a:buClr>
                <a:schemeClr val="dk1"/>
              </a:buClr>
              <a:buSzPts val="2400"/>
              <a:buFont typeface="Arial"/>
              <a:buNone/>
            </a:pPr>
            <a:r>
              <a:t/>
            </a:r>
            <a:endParaRPr sz="2400"/>
          </a:p>
          <a:p>
            <a:pPr indent="-342900" lvl="0" marL="342900" rtl="0" algn="l">
              <a:lnSpc>
                <a:spcPct val="100000"/>
              </a:lnSpc>
              <a:spcBef>
                <a:spcPts val="480"/>
              </a:spcBef>
              <a:spcAft>
                <a:spcPts val="0"/>
              </a:spcAft>
              <a:buClr>
                <a:schemeClr val="dk1"/>
              </a:buClr>
              <a:buSzPts val="2400"/>
              <a:buFont typeface="Arial"/>
              <a:buChar char="•"/>
            </a:pPr>
            <a:r>
              <a:rPr b="1" lang="en-US" sz="2400"/>
              <a:t>Independent Variables:</a:t>
            </a:r>
            <a:r>
              <a:rPr lang="en-US" sz="2400"/>
              <a:t> These are the factors that we hypothesize have an impact on our dependent variable. Also known as predictors, covariates or features</a:t>
            </a:r>
            <a:endParaRPr/>
          </a:p>
          <a:p>
            <a:pPr indent="-190500" lvl="0" marL="342900" rtl="0" algn="l">
              <a:lnSpc>
                <a:spcPct val="100000"/>
              </a:lnSpc>
              <a:spcBef>
                <a:spcPts val="480"/>
              </a:spcBef>
              <a:spcAft>
                <a:spcPts val="0"/>
              </a:spcAft>
              <a:buClr>
                <a:schemeClr val="dk1"/>
              </a:buClr>
              <a:buSzPts val="2400"/>
              <a:buFont typeface="Arial"/>
              <a:buNone/>
            </a:pPr>
            <a:r>
              <a:t/>
            </a:r>
            <a:endParaRPr sz="2400"/>
          </a:p>
          <a:p>
            <a:pPr indent="-190500" lvl="0" marL="342900" rtl="0" algn="just">
              <a:lnSpc>
                <a:spcPct val="100000"/>
              </a:lnSpc>
              <a:spcBef>
                <a:spcPts val="480"/>
              </a:spcBef>
              <a:spcAft>
                <a:spcPts val="0"/>
              </a:spcAft>
              <a:buClr>
                <a:schemeClr val="dk1"/>
              </a:buClr>
              <a:buSzPts val="2400"/>
              <a:buFont typeface="Arial"/>
              <a:buNone/>
            </a:pPr>
            <a:r>
              <a:t/>
            </a:r>
            <a:endParaRPr sz="2400"/>
          </a:p>
        </p:txBody>
      </p:sp>
      <p:grpSp>
        <p:nvGrpSpPr>
          <p:cNvPr id="224" name="Google Shape;224;p22"/>
          <p:cNvGrpSpPr/>
          <p:nvPr/>
        </p:nvGrpSpPr>
        <p:grpSpPr>
          <a:xfrm>
            <a:off x="609600" y="533400"/>
            <a:ext cx="303213" cy="303213"/>
            <a:chOff x="703" y="300"/>
            <a:chExt cx="181" cy="181"/>
          </a:xfrm>
        </p:grpSpPr>
        <p:sp>
          <p:nvSpPr>
            <p:cNvPr id="225" name="Google Shape;225;p22"/>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6" name="Google Shape;226;p22"/>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7" name="Google Shape;227;p22"/>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8" name="Google Shape;228;p22"/>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9" name="Google Shape;229;p22"/>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0" name="Google Shape;230;p22"/>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31" name="Google Shape;231;p22"/>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par>
                                <p:cTn fill="hold" nodeType="withEffect" presetClass="emph" presetID="8" presetSubtype="0">
                                  <p:stCondLst>
                                    <p:cond delay="500"/>
                                  </p:stCondLst>
                                  <p:childTnLst>
                                    <p:animRot by="-21600000">
                                      <p:cBhvr>
                                        <p:cTn dur="500" fill="hold"/>
                                        <p:tgtEl>
                                          <p:spTgt spid="224"/>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3"/>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Example: Regression Model</a:t>
            </a:r>
            <a:endParaRPr sz="4400">
              <a:solidFill>
                <a:schemeClr val="accent6"/>
              </a:solidFill>
            </a:endParaRPr>
          </a:p>
        </p:txBody>
      </p:sp>
      <p:sp>
        <p:nvSpPr>
          <p:cNvPr id="238" name="Google Shape;238;p23"/>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190500" lvl="0" marL="342900" rtl="0" algn="l">
              <a:lnSpc>
                <a:spcPct val="100000"/>
              </a:lnSpc>
              <a:spcBef>
                <a:spcPts val="0"/>
              </a:spcBef>
              <a:spcAft>
                <a:spcPts val="0"/>
              </a:spcAft>
              <a:buClr>
                <a:schemeClr val="dk1"/>
              </a:buClr>
              <a:buSzPts val="2400"/>
              <a:buFont typeface="Arial"/>
              <a:buNone/>
            </a:pPr>
            <a:r>
              <a:t/>
            </a:r>
            <a:endParaRPr sz="2400"/>
          </a:p>
          <a:p>
            <a:pPr indent="-190500" lvl="0" marL="342900" rtl="0" algn="l">
              <a:lnSpc>
                <a:spcPct val="100000"/>
              </a:lnSpc>
              <a:spcBef>
                <a:spcPts val="480"/>
              </a:spcBef>
              <a:spcAft>
                <a:spcPts val="0"/>
              </a:spcAft>
              <a:buClr>
                <a:schemeClr val="dk1"/>
              </a:buClr>
              <a:buSzPts val="2400"/>
              <a:buFont typeface="Arial"/>
              <a:buNone/>
            </a:pPr>
            <a:r>
              <a:t/>
            </a:r>
            <a:endParaRPr sz="2400"/>
          </a:p>
          <a:p>
            <a:pPr indent="-190500" lvl="0" marL="342900" rtl="0" algn="l">
              <a:lnSpc>
                <a:spcPct val="100000"/>
              </a:lnSpc>
              <a:spcBef>
                <a:spcPts val="480"/>
              </a:spcBef>
              <a:spcAft>
                <a:spcPts val="0"/>
              </a:spcAft>
              <a:buClr>
                <a:schemeClr val="dk1"/>
              </a:buClr>
              <a:buSzPts val="2400"/>
              <a:buFont typeface="Arial"/>
              <a:buNone/>
            </a:pPr>
            <a:r>
              <a:t/>
            </a:r>
            <a:endParaRPr sz="2400"/>
          </a:p>
          <a:p>
            <a:pPr indent="-190500" lvl="0" marL="342900" rtl="0" algn="l">
              <a:lnSpc>
                <a:spcPct val="100000"/>
              </a:lnSpc>
              <a:spcBef>
                <a:spcPts val="480"/>
              </a:spcBef>
              <a:spcAft>
                <a:spcPts val="0"/>
              </a:spcAft>
              <a:buClr>
                <a:schemeClr val="dk1"/>
              </a:buClr>
              <a:buSzPts val="2400"/>
              <a:buFont typeface="Arial"/>
              <a:buNone/>
            </a:pPr>
            <a:r>
              <a:t/>
            </a:r>
            <a:endParaRPr sz="2400"/>
          </a:p>
          <a:p>
            <a:pPr indent="-190500" lvl="0" marL="342900" rtl="0" algn="l">
              <a:lnSpc>
                <a:spcPct val="100000"/>
              </a:lnSpc>
              <a:spcBef>
                <a:spcPts val="480"/>
              </a:spcBef>
              <a:spcAft>
                <a:spcPts val="0"/>
              </a:spcAft>
              <a:buClr>
                <a:schemeClr val="dk1"/>
              </a:buClr>
              <a:buSzPts val="2400"/>
              <a:buFont typeface="Arial"/>
              <a:buNone/>
            </a:pPr>
            <a:r>
              <a:t/>
            </a:r>
            <a:endParaRPr sz="2400"/>
          </a:p>
          <a:p>
            <a:pPr indent="-190500" lvl="0" marL="342900" rtl="0" algn="l">
              <a:lnSpc>
                <a:spcPct val="100000"/>
              </a:lnSpc>
              <a:spcBef>
                <a:spcPts val="480"/>
              </a:spcBef>
              <a:spcAft>
                <a:spcPts val="0"/>
              </a:spcAft>
              <a:buClr>
                <a:schemeClr val="dk1"/>
              </a:buClr>
              <a:buSzPts val="2400"/>
              <a:buFont typeface="Arial"/>
              <a:buNone/>
            </a:pPr>
            <a:r>
              <a:t/>
            </a:r>
            <a:endParaRPr sz="2400"/>
          </a:p>
          <a:p>
            <a:pPr indent="-190500" lvl="0" marL="342900" rtl="0" algn="l">
              <a:lnSpc>
                <a:spcPct val="100000"/>
              </a:lnSpc>
              <a:spcBef>
                <a:spcPts val="480"/>
              </a:spcBef>
              <a:spcAft>
                <a:spcPts val="0"/>
              </a:spcAft>
              <a:buClr>
                <a:schemeClr val="dk1"/>
              </a:buClr>
              <a:buSzPts val="2400"/>
              <a:buFont typeface="Arial"/>
              <a:buNone/>
            </a:pPr>
            <a:r>
              <a:t/>
            </a:r>
            <a:endParaRPr sz="2400"/>
          </a:p>
          <a:p>
            <a:pPr indent="-342900" lvl="0" marL="342900" rtl="0" algn="l">
              <a:lnSpc>
                <a:spcPct val="100000"/>
              </a:lnSpc>
              <a:spcBef>
                <a:spcPts val="480"/>
              </a:spcBef>
              <a:spcAft>
                <a:spcPts val="0"/>
              </a:spcAft>
              <a:buClr>
                <a:schemeClr val="dk1"/>
              </a:buClr>
              <a:buSzPts val="2400"/>
              <a:buFont typeface="Arial"/>
              <a:buChar char="•"/>
            </a:pPr>
            <a:r>
              <a:rPr lang="en-US" sz="2400"/>
              <a:t>The regression line represents the relationship between independent and dependent variable. </a:t>
            </a:r>
            <a:endParaRPr/>
          </a:p>
          <a:p>
            <a:pPr indent="-342900" lvl="0" marL="342900" rtl="0" algn="l">
              <a:lnSpc>
                <a:spcPct val="100000"/>
              </a:lnSpc>
              <a:spcBef>
                <a:spcPts val="480"/>
              </a:spcBef>
              <a:spcAft>
                <a:spcPts val="0"/>
              </a:spcAft>
              <a:buClr>
                <a:schemeClr val="dk1"/>
              </a:buClr>
              <a:buSzPts val="2400"/>
              <a:buFont typeface="Arial"/>
              <a:buChar char="•"/>
            </a:pPr>
            <a:r>
              <a:rPr lang="en-US" sz="2400"/>
              <a:t>The formula for a regression line might look something like </a:t>
            </a:r>
            <a:r>
              <a:rPr b="1" i="1" lang="en-US" sz="2400"/>
              <a:t>Y = 100 + 7X + error term</a:t>
            </a:r>
            <a:r>
              <a:rPr i="1" lang="en-US" sz="2400"/>
              <a:t>.</a:t>
            </a:r>
            <a:endParaRPr/>
          </a:p>
        </p:txBody>
      </p:sp>
      <p:grpSp>
        <p:nvGrpSpPr>
          <p:cNvPr id="239" name="Google Shape;239;p23"/>
          <p:cNvGrpSpPr/>
          <p:nvPr/>
        </p:nvGrpSpPr>
        <p:grpSpPr>
          <a:xfrm>
            <a:off x="609600" y="533400"/>
            <a:ext cx="303213" cy="303213"/>
            <a:chOff x="703" y="300"/>
            <a:chExt cx="181" cy="181"/>
          </a:xfrm>
        </p:grpSpPr>
        <p:sp>
          <p:nvSpPr>
            <p:cNvPr id="240" name="Google Shape;240;p23"/>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1" name="Google Shape;241;p23"/>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2" name="Google Shape;242;p23"/>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3" name="Google Shape;243;p23"/>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4" name="Google Shape;244;p23"/>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5" name="Google Shape;245;p23"/>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46" name="Google Shape;246;p23"/>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Jubayer Al Mahmud\Desktop\regression-analysis-2.png" id="247" name="Google Shape;247;p23"/>
          <p:cNvPicPr preferRelativeResize="0"/>
          <p:nvPr/>
        </p:nvPicPr>
        <p:blipFill rotWithShape="1">
          <a:blip r:embed="rId3">
            <a:alphaModFix/>
          </a:blip>
          <a:srcRect b="0" l="0" r="0" t="0"/>
          <a:stretch/>
        </p:blipFill>
        <p:spPr>
          <a:xfrm>
            <a:off x="1676400" y="1524000"/>
            <a:ext cx="5715000" cy="2700337"/>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mph" presetID="8" presetSubtype="0">
                                  <p:stCondLst>
                                    <p:cond delay="500"/>
                                  </p:stCondLst>
                                  <p:childTnLst>
                                    <p:animRot by="-21600000">
                                      <p:cBhvr>
                                        <p:cTn dur="500" fill="hold"/>
                                        <p:tgtEl>
                                          <p:spTgt spid="23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Linear Regression (1/3)</a:t>
            </a:r>
            <a:endParaRPr sz="4400">
              <a:solidFill>
                <a:schemeClr val="accent6"/>
              </a:solidFill>
            </a:endParaRPr>
          </a:p>
        </p:txBody>
      </p:sp>
      <p:sp>
        <p:nvSpPr>
          <p:cNvPr id="254" name="Google Shape;254;p24"/>
          <p:cNvSpPr txBox="1"/>
          <p:nvPr>
            <p:ph idx="1" type="body"/>
          </p:nvPr>
        </p:nvSpPr>
        <p:spPr>
          <a:xfrm>
            <a:off x="457200" y="1295400"/>
            <a:ext cx="8382000" cy="5090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360"/>
              </a:spcBef>
              <a:spcAft>
                <a:spcPts val="0"/>
              </a:spcAft>
              <a:buSzPts val="1800"/>
              <a:buChar char="•"/>
            </a:pPr>
            <a:r>
              <a:rPr lang="en-US" sz="1800"/>
              <a:t>Linear regression algorithm shows a linear relationship between a dependent (y) and one or more independent (X) variables, hence called as linear regression.</a:t>
            </a:r>
            <a:endParaRPr sz="1800"/>
          </a:p>
          <a:p>
            <a:pPr indent="-342900" lvl="0" marL="342900" rtl="0" algn="l">
              <a:lnSpc>
                <a:spcPct val="100000"/>
              </a:lnSpc>
              <a:spcBef>
                <a:spcPts val="360"/>
              </a:spcBef>
              <a:spcAft>
                <a:spcPts val="0"/>
              </a:spcAft>
              <a:buSzPts val="1800"/>
              <a:buChar char="•"/>
            </a:pPr>
            <a:r>
              <a:rPr lang="en-US" sz="1800"/>
              <a:t>Since linear regression shows the linear relationship, which means it finds how the value of the dependent variable is changing according to the value of the independent variable.</a:t>
            </a:r>
            <a:endParaRPr sz="1800"/>
          </a:p>
          <a:p>
            <a:pPr indent="-342900" lvl="0" marL="342900" rtl="0" algn="l">
              <a:lnSpc>
                <a:spcPct val="100000"/>
              </a:lnSpc>
              <a:spcBef>
                <a:spcPts val="360"/>
              </a:spcBef>
              <a:spcAft>
                <a:spcPts val="0"/>
              </a:spcAft>
              <a:buSzPts val="1800"/>
              <a:buChar char="•"/>
            </a:pPr>
            <a:r>
              <a:rPr lang="en-US" sz="1800"/>
              <a:t>The linear regression model provides a sloped straight line representing the relationship between the variables</a:t>
            </a:r>
            <a:endParaRPr sz="2400"/>
          </a:p>
          <a:p>
            <a:pPr indent="0" lvl="0" marL="0" rtl="0" algn="l">
              <a:lnSpc>
                <a:spcPct val="100000"/>
              </a:lnSpc>
              <a:spcBef>
                <a:spcPts val="360"/>
              </a:spcBef>
              <a:spcAft>
                <a:spcPts val="0"/>
              </a:spcAft>
              <a:buClr>
                <a:schemeClr val="dk1"/>
              </a:buClr>
              <a:buSzPts val="2400"/>
              <a:buFont typeface="Arial"/>
              <a:buNone/>
            </a:pPr>
            <a:r>
              <a:t/>
            </a:r>
            <a:endParaRPr sz="2400"/>
          </a:p>
          <a:p>
            <a:pPr indent="0" lvl="0" marL="0" rtl="0" algn="l">
              <a:lnSpc>
                <a:spcPct val="100000"/>
              </a:lnSpc>
              <a:spcBef>
                <a:spcPts val="360"/>
              </a:spcBef>
              <a:spcAft>
                <a:spcPts val="0"/>
              </a:spcAft>
              <a:buClr>
                <a:schemeClr val="dk1"/>
              </a:buClr>
              <a:buSzPts val="2400"/>
              <a:buFont typeface="Arial"/>
              <a:buNone/>
            </a:pPr>
            <a:r>
              <a:t/>
            </a:r>
            <a:endParaRPr sz="2400"/>
          </a:p>
        </p:txBody>
      </p:sp>
      <p:grpSp>
        <p:nvGrpSpPr>
          <p:cNvPr id="255" name="Google Shape;255;p24"/>
          <p:cNvGrpSpPr/>
          <p:nvPr/>
        </p:nvGrpSpPr>
        <p:grpSpPr>
          <a:xfrm>
            <a:off x="609600" y="533400"/>
            <a:ext cx="303213" cy="303213"/>
            <a:chOff x="703" y="300"/>
            <a:chExt cx="181" cy="181"/>
          </a:xfrm>
        </p:grpSpPr>
        <p:sp>
          <p:nvSpPr>
            <p:cNvPr id="256" name="Google Shape;256;p24"/>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7" name="Google Shape;257;p24"/>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8" name="Google Shape;258;p24"/>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9" name="Google Shape;259;p24"/>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0" name="Google Shape;260;p24"/>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1" name="Google Shape;261;p24"/>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62" name="Google Shape;262;p24"/>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id="263" name="Google Shape;263;p24"/>
          <p:cNvPicPr preferRelativeResize="0"/>
          <p:nvPr/>
        </p:nvPicPr>
        <p:blipFill rotWithShape="1">
          <a:blip r:embed="rId3">
            <a:alphaModFix/>
          </a:blip>
          <a:srcRect b="0" l="0" r="0" t="0"/>
          <a:stretch/>
        </p:blipFill>
        <p:spPr>
          <a:xfrm>
            <a:off x="1870375" y="3777325"/>
            <a:ext cx="4060875" cy="2608775"/>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par>
                                <p:cTn fill="hold" nodeType="withEffect" presetClass="emph" presetID="8" presetSubtype="0">
                                  <p:stCondLst>
                                    <p:cond delay="500"/>
                                  </p:stCondLst>
                                  <p:childTnLst>
                                    <p:animRot by="-21600000">
                                      <p:cBhvr>
                                        <p:cTn dur="500" fill="hold"/>
                                        <p:tgtEl>
                                          <p:spTgt spid="25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5"/>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Linear Regression (2/3)</a:t>
            </a:r>
            <a:endParaRPr sz="4400">
              <a:solidFill>
                <a:schemeClr val="accent6"/>
              </a:solidFill>
            </a:endParaRPr>
          </a:p>
        </p:txBody>
      </p:sp>
      <p:sp>
        <p:nvSpPr>
          <p:cNvPr id="270" name="Google Shape;270;p25"/>
          <p:cNvSpPr txBox="1"/>
          <p:nvPr>
            <p:ph idx="1" type="body"/>
          </p:nvPr>
        </p:nvSpPr>
        <p:spPr>
          <a:xfrm>
            <a:off x="457200" y="1295400"/>
            <a:ext cx="8382000" cy="5090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chemeClr val="dk1"/>
              </a:buClr>
              <a:buSzPts val="2400"/>
              <a:buFont typeface="Arial"/>
              <a:buNone/>
            </a:pPr>
            <a:r>
              <a:rPr lang="en-US" sz="2400"/>
              <a:t>Mathematically, we can represent a linear regression as:</a:t>
            </a:r>
            <a:endParaRPr sz="2400"/>
          </a:p>
          <a:p>
            <a:pPr indent="0" lvl="0" marL="101600" rtl="0" algn="just">
              <a:lnSpc>
                <a:spcPct val="115000"/>
              </a:lnSpc>
              <a:spcBef>
                <a:spcPts val="400"/>
              </a:spcBef>
              <a:spcAft>
                <a:spcPts val="0"/>
              </a:spcAft>
              <a:buClr>
                <a:schemeClr val="dk1"/>
              </a:buClr>
              <a:buSzPts val="1100"/>
              <a:buFont typeface="Arial"/>
              <a:buNone/>
            </a:pPr>
            <a:r>
              <a:rPr lang="en-US" sz="2400">
                <a:solidFill>
                  <a:srgbClr val="333333"/>
                </a:solidFill>
              </a:rPr>
              <a:t>y= a</a:t>
            </a:r>
            <a:r>
              <a:rPr baseline="-25000" lang="en-US" sz="2400">
                <a:solidFill>
                  <a:srgbClr val="333333"/>
                </a:solidFill>
              </a:rPr>
              <a:t>0</a:t>
            </a:r>
            <a:r>
              <a:rPr lang="en-US" sz="2400">
                <a:solidFill>
                  <a:srgbClr val="333333"/>
                </a:solidFill>
              </a:rPr>
              <a:t>+a</a:t>
            </a:r>
            <a:r>
              <a:rPr baseline="-25000" lang="en-US" sz="2400">
                <a:solidFill>
                  <a:srgbClr val="333333"/>
                </a:solidFill>
              </a:rPr>
              <a:t>1</a:t>
            </a:r>
            <a:r>
              <a:rPr lang="en-US" sz="2400">
                <a:solidFill>
                  <a:srgbClr val="333333"/>
                </a:solidFill>
              </a:rPr>
              <a:t>x+ ε</a:t>
            </a:r>
            <a:endParaRPr sz="2400">
              <a:solidFill>
                <a:srgbClr val="333333"/>
              </a:solidFill>
            </a:endParaRPr>
          </a:p>
          <a:p>
            <a:pPr indent="0" lvl="0" marL="0" rtl="0" algn="l">
              <a:lnSpc>
                <a:spcPct val="100000"/>
              </a:lnSpc>
              <a:spcBef>
                <a:spcPts val="400"/>
              </a:spcBef>
              <a:spcAft>
                <a:spcPts val="0"/>
              </a:spcAft>
              <a:buClr>
                <a:schemeClr val="dk1"/>
              </a:buClr>
              <a:buSzPts val="1100"/>
              <a:buFont typeface="Arial"/>
              <a:buNone/>
            </a:pPr>
            <a:r>
              <a:rPr lang="en-US" sz="2400"/>
              <a:t>Here,</a:t>
            </a:r>
            <a:endParaRPr sz="2400"/>
          </a:p>
          <a:p>
            <a:pPr indent="0" lvl="0" marL="0" rtl="0" algn="l">
              <a:lnSpc>
                <a:spcPct val="100000"/>
              </a:lnSpc>
              <a:spcBef>
                <a:spcPts val="360"/>
              </a:spcBef>
              <a:spcAft>
                <a:spcPts val="0"/>
              </a:spcAft>
              <a:buClr>
                <a:schemeClr val="dk1"/>
              </a:buClr>
              <a:buSzPts val="1100"/>
              <a:buFont typeface="Arial"/>
              <a:buNone/>
            </a:pPr>
            <a:r>
              <a:rPr lang="en-US" sz="2400"/>
              <a:t>Y= Dependent Variable (Target Variable)</a:t>
            </a:r>
            <a:endParaRPr sz="2400"/>
          </a:p>
          <a:p>
            <a:pPr indent="0" lvl="0" marL="0" rtl="0" algn="l">
              <a:lnSpc>
                <a:spcPct val="100000"/>
              </a:lnSpc>
              <a:spcBef>
                <a:spcPts val="360"/>
              </a:spcBef>
              <a:spcAft>
                <a:spcPts val="0"/>
              </a:spcAft>
              <a:buClr>
                <a:schemeClr val="dk1"/>
              </a:buClr>
              <a:buSzPts val="1100"/>
              <a:buFont typeface="Arial"/>
              <a:buNone/>
            </a:pPr>
            <a:r>
              <a:rPr lang="en-US" sz="2400"/>
              <a:t>X= Independent Variable (predictor Variable)</a:t>
            </a:r>
            <a:endParaRPr sz="2400"/>
          </a:p>
          <a:p>
            <a:pPr indent="0" lvl="0" marL="0" rtl="0" algn="l">
              <a:lnSpc>
                <a:spcPct val="100000"/>
              </a:lnSpc>
              <a:spcBef>
                <a:spcPts val="360"/>
              </a:spcBef>
              <a:spcAft>
                <a:spcPts val="0"/>
              </a:spcAft>
              <a:buClr>
                <a:schemeClr val="dk1"/>
              </a:buClr>
              <a:buSzPts val="1100"/>
              <a:buFont typeface="Arial"/>
              <a:buNone/>
            </a:pPr>
            <a:r>
              <a:rPr lang="en-US" sz="2400"/>
              <a:t>a0= intercept of the line (Gives an additional degree of freedom)</a:t>
            </a:r>
            <a:endParaRPr sz="2400"/>
          </a:p>
          <a:p>
            <a:pPr indent="0" lvl="0" marL="0" rtl="0" algn="l">
              <a:lnSpc>
                <a:spcPct val="100000"/>
              </a:lnSpc>
              <a:spcBef>
                <a:spcPts val="360"/>
              </a:spcBef>
              <a:spcAft>
                <a:spcPts val="0"/>
              </a:spcAft>
              <a:buClr>
                <a:schemeClr val="dk1"/>
              </a:buClr>
              <a:buSzPts val="1100"/>
              <a:buFont typeface="Arial"/>
              <a:buNone/>
            </a:pPr>
            <a:r>
              <a:rPr lang="en-US" sz="2400"/>
              <a:t>a1 = Linear regression coefficient (scale factor to each input value).</a:t>
            </a:r>
            <a:endParaRPr sz="2400"/>
          </a:p>
          <a:p>
            <a:pPr indent="0" lvl="0" marL="0" rtl="0" algn="l">
              <a:lnSpc>
                <a:spcPct val="100000"/>
              </a:lnSpc>
              <a:spcBef>
                <a:spcPts val="360"/>
              </a:spcBef>
              <a:spcAft>
                <a:spcPts val="0"/>
              </a:spcAft>
              <a:buClr>
                <a:schemeClr val="dk1"/>
              </a:buClr>
              <a:buSzPts val="1100"/>
              <a:buFont typeface="Arial"/>
              <a:buNone/>
            </a:pPr>
            <a:r>
              <a:rPr lang="en-US" sz="2400"/>
              <a:t>ε = random error</a:t>
            </a:r>
            <a:endParaRPr sz="2400"/>
          </a:p>
          <a:p>
            <a:pPr indent="0" lvl="0" marL="0" rtl="0" algn="l">
              <a:lnSpc>
                <a:spcPct val="100000"/>
              </a:lnSpc>
              <a:spcBef>
                <a:spcPts val="360"/>
              </a:spcBef>
              <a:spcAft>
                <a:spcPts val="0"/>
              </a:spcAft>
              <a:buClr>
                <a:schemeClr val="dk1"/>
              </a:buClr>
              <a:buSzPts val="1100"/>
              <a:buFont typeface="Arial"/>
              <a:buNone/>
            </a:pPr>
            <a:r>
              <a:rPr lang="en-US" sz="2400"/>
              <a:t>The values for x and y variables are training datasets for Linear Regression model representation.</a:t>
            </a:r>
            <a:endParaRPr sz="2400"/>
          </a:p>
          <a:p>
            <a:pPr indent="0" lvl="0" marL="101600" rtl="0" algn="just">
              <a:lnSpc>
                <a:spcPct val="115000"/>
              </a:lnSpc>
              <a:spcBef>
                <a:spcPts val="400"/>
              </a:spcBef>
              <a:spcAft>
                <a:spcPts val="0"/>
              </a:spcAft>
              <a:buClr>
                <a:schemeClr val="dk1"/>
              </a:buClr>
              <a:buSzPts val="1100"/>
              <a:buFont typeface="Arial"/>
              <a:buNone/>
            </a:pPr>
            <a:r>
              <a:t/>
            </a:r>
            <a:endParaRPr sz="2400">
              <a:solidFill>
                <a:srgbClr val="333333"/>
              </a:solidFill>
            </a:endParaRPr>
          </a:p>
          <a:p>
            <a:pPr indent="0" lvl="0" marL="0" rtl="0" algn="l">
              <a:lnSpc>
                <a:spcPct val="100000"/>
              </a:lnSpc>
              <a:spcBef>
                <a:spcPts val="400"/>
              </a:spcBef>
              <a:spcAft>
                <a:spcPts val="0"/>
              </a:spcAft>
              <a:buClr>
                <a:schemeClr val="dk1"/>
              </a:buClr>
              <a:buSzPts val="2400"/>
              <a:buFont typeface="Arial"/>
              <a:buNone/>
            </a:pPr>
            <a:r>
              <a:t/>
            </a:r>
            <a:endParaRPr sz="2400"/>
          </a:p>
        </p:txBody>
      </p:sp>
      <p:grpSp>
        <p:nvGrpSpPr>
          <p:cNvPr id="271" name="Google Shape;271;p25"/>
          <p:cNvGrpSpPr/>
          <p:nvPr/>
        </p:nvGrpSpPr>
        <p:grpSpPr>
          <a:xfrm>
            <a:off x="609600" y="533400"/>
            <a:ext cx="303246" cy="303397"/>
            <a:chOff x="703" y="300"/>
            <a:chExt cx="181" cy="181"/>
          </a:xfrm>
        </p:grpSpPr>
        <p:sp>
          <p:nvSpPr>
            <p:cNvPr id="272" name="Google Shape;272;p2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3" name="Google Shape;273;p2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4" name="Google Shape;274;p2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5" name="Google Shape;275;p2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6" name="Google Shape;276;p2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7" name="Google Shape;277;p2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78" name="Google Shape;278;p25"/>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par>
                                <p:cTn fill="hold" nodeType="withEffect" presetClass="emph" presetID="8" presetSubtype="0">
                                  <p:stCondLst>
                                    <p:cond delay="500"/>
                                  </p:stCondLst>
                                  <p:childTnLst>
                                    <p:animRot by="-21600000">
                                      <p:cBhvr>
                                        <p:cTn dur="500" fill="hold"/>
                                        <p:tgtEl>
                                          <p:spTgt spid="27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6"/>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Linear Regression (3/3)</a:t>
            </a:r>
            <a:endParaRPr sz="4400">
              <a:solidFill>
                <a:schemeClr val="accent6"/>
              </a:solidFill>
            </a:endParaRPr>
          </a:p>
        </p:txBody>
      </p:sp>
      <p:sp>
        <p:nvSpPr>
          <p:cNvPr id="285" name="Google Shape;285;p26"/>
          <p:cNvSpPr txBox="1"/>
          <p:nvPr>
            <p:ph idx="1" type="body"/>
          </p:nvPr>
        </p:nvSpPr>
        <p:spPr>
          <a:xfrm>
            <a:off x="457200" y="1295400"/>
            <a:ext cx="8382000" cy="5429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lang="en-US" sz="2300"/>
              <a:t>Before you attempt to perform linear regression, you need to make sure that your data can be analyzed using this procedure. Your data must pass through certain required assumptions.</a:t>
            </a:r>
            <a:endParaRPr sz="2300"/>
          </a:p>
          <a:p>
            <a:pPr indent="0" lvl="0" marL="0" rtl="0" algn="l">
              <a:lnSpc>
                <a:spcPct val="100000"/>
              </a:lnSpc>
              <a:spcBef>
                <a:spcPts val="360"/>
              </a:spcBef>
              <a:spcAft>
                <a:spcPts val="0"/>
              </a:spcAft>
              <a:buSzPts val="1800"/>
              <a:buNone/>
            </a:pPr>
            <a:r>
              <a:rPr lang="en-US" sz="2300"/>
              <a:t>Here’s how you can check for these assumptions:</a:t>
            </a:r>
            <a:endParaRPr sz="2300"/>
          </a:p>
          <a:p>
            <a:pPr indent="-374650" lvl="0" marL="457200" rtl="0" algn="l">
              <a:lnSpc>
                <a:spcPct val="100000"/>
              </a:lnSpc>
              <a:spcBef>
                <a:spcPts val="360"/>
              </a:spcBef>
              <a:spcAft>
                <a:spcPts val="0"/>
              </a:spcAft>
              <a:buSzPts val="2300"/>
              <a:buAutoNum type="arabicPeriod"/>
            </a:pPr>
            <a:r>
              <a:rPr lang="en-US" sz="2300"/>
              <a:t>The variables should be measured at a continuous level. Examples of continuous variables are time, sales, weight and test scores. </a:t>
            </a:r>
            <a:endParaRPr sz="2300"/>
          </a:p>
          <a:p>
            <a:pPr indent="-374650" lvl="0" marL="457200" rtl="0" algn="l">
              <a:lnSpc>
                <a:spcPct val="100000"/>
              </a:lnSpc>
              <a:spcBef>
                <a:spcPts val="360"/>
              </a:spcBef>
              <a:spcAft>
                <a:spcPts val="0"/>
              </a:spcAft>
              <a:buSzPts val="2300"/>
              <a:buAutoNum type="arabicPeriod"/>
            </a:pPr>
            <a:r>
              <a:rPr lang="en-US" sz="2300"/>
              <a:t>Use a scatterplot to find out quickly if there is a linear relationship between those two variables.</a:t>
            </a:r>
            <a:endParaRPr sz="2300"/>
          </a:p>
          <a:p>
            <a:pPr indent="-374650" lvl="0" marL="457200" rtl="0" algn="l">
              <a:lnSpc>
                <a:spcPct val="100000"/>
              </a:lnSpc>
              <a:spcBef>
                <a:spcPts val="360"/>
              </a:spcBef>
              <a:spcAft>
                <a:spcPts val="0"/>
              </a:spcAft>
              <a:buSzPts val="2300"/>
              <a:buAutoNum type="arabicPeriod"/>
            </a:pPr>
            <a:r>
              <a:rPr lang="en-US" sz="2300"/>
              <a:t>The observations should be independent of each other (that is, there should be no dependency).</a:t>
            </a:r>
            <a:endParaRPr sz="2300"/>
          </a:p>
          <a:p>
            <a:pPr indent="-374650" lvl="0" marL="457200" rtl="0" algn="l">
              <a:lnSpc>
                <a:spcPct val="100000"/>
              </a:lnSpc>
              <a:spcBef>
                <a:spcPts val="360"/>
              </a:spcBef>
              <a:spcAft>
                <a:spcPts val="0"/>
              </a:spcAft>
              <a:buSzPts val="2300"/>
              <a:buAutoNum type="arabicPeriod"/>
            </a:pPr>
            <a:r>
              <a:rPr lang="en-US" sz="2300"/>
              <a:t>Your data should have no significant outliers. </a:t>
            </a:r>
            <a:endParaRPr sz="2300"/>
          </a:p>
          <a:p>
            <a:pPr indent="0" lvl="0" marL="0" rtl="0" algn="l">
              <a:lnSpc>
                <a:spcPct val="100000"/>
              </a:lnSpc>
              <a:spcBef>
                <a:spcPts val="360"/>
              </a:spcBef>
              <a:spcAft>
                <a:spcPts val="0"/>
              </a:spcAft>
              <a:buClr>
                <a:schemeClr val="dk1"/>
              </a:buClr>
              <a:buSzPts val="2400"/>
              <a:buFont typeface="Arial"/>
              <a:buNone/>
            </a:pPr>
            <a:r>
              <a:t/>
            </a:r>
            <a:endParaRPr sz="2300"/>
          </a:p>
        </p:txBody>
      </p:sp>
      <p:grpSp>
        <p:nvGrpSpPr>
          <p:cNvPr id="286" name="Google Shape;286;p26"/>
          <p:cNvGrpSpPr/>
          <p:nvPr/>
        </p:nvGrpSpPr>
        <p:grpSpPr>
          <a:xfrm>
            <a:off x="609600" y="533400"/>
            <a:ext cx="303246" cy="303397"/>
            <a:chOff x="703" y="300"/>
            <a:chExt cx="181" cy="181"/>
          </a:xfrm>
        </p:grpSpPr>
        <p:sp>
          <p:nvSpPr>
            <p:cNvPr id="287" name="Google Shape;287;p26"/>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8" name="Google Shape;288;p26"/>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9" name="Google Shape;289;p26"/>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0" name="Google Shape;290;p26"/>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1" name="Google Shape;291;p26"/>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2" name="Google Shape;292;p26"/>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93" name="Google Shape;293;p26"/>
          <p:cNvSpPr txBox="1"/>
          <p:nvPr>
            <p:ph idx="12" type="sldNum"/>
          </p:nvPr>
        </p:nvSpPr>
        <p:spPr>
          <a:xfrm>
            <a:off x="208550" y="63816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par>
                                <p:cTn fill="hold" nodeType="withEffect" presetClass="emph" presetID="8" presetSubtype="0">
                                  <p:stCondLst>
                                    <p:cond delay="500"/>
                                  </p:stCondLst>
                                  <p:childTnLst>
                                    <p:animRot by="-21600000">
                                      <p:cBhvr>
                                        <p:cTn dur="500" fill="hold"/>
                                        <p:tgtEl>
                                          <p:spTgt spid="28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7"/>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Types of Linear Regression (3/4)</a:t>
            </a:r>
            <a:endParaRPr sz="4000">
              <a:solidFill>
                <a:schemeClr val="accent6"/>
              </a:solidFill>
            </a:endParaRPr>
          </a:p>
        </p:txBody>
      </p:sp>
      <p:sp>
        <p:nvSpPr>
          <p:cNvPr id="300" name="Google Shape;300;p27"/>
          <p:cNvSpPr txBox="1"/>
          <p:nvPr>
            <p:ph idx="1" type="body"/>
          </p:nvPr>
        </p:nvSpPr>
        <p:spPr>
          <a:xfrm>
            <a:off x="457200" y="1624275"/>
            <a:ext cx="8382000" cy="4166700"/>
          </a:xfrm>
          <a:prstGeom prst="rect">
            <a:avLst/>
          </a:prstGeom>
          <a:noFill/>
          <a:ln>
            <a:noFill/>
          </a:ln>
        </p:spPr>
        <p:txBody>
          <a:bodyPr anchorCtr="0" anchor="t" bIns="45700" lIns="91425" spcFirstLastPara="1" rIns="91425" wrap="square" tIns="45700">
            <a:noAutofit/>
          </a:bodyPr>
          <a:lstStyle/>
          <a:p>
            <a:pPr indent="-381000" lvl="0" marL="457200" rtl="0" algn="l">
              <a:lnSpc>
                <a:spcPct val="100000"/>
              </a:lnSpc>
              <a:spcBef>
                <a:spcPts val="360"/>
              </a:spcBef>
              <a:spcAft>
                <a:spcPts val="0"/>
              </a:spcAft>
              <a:buSzPts val="2400"/>
              <a:buChar char="●"/>
            </a:pPr>
            <a:r>
              <a:rPr b="1" lang="en-US" sz="2400"/>
              <a:t>Simple Linear Regression:</a:t>
            </a:r>
            <a:r>
              <a:rPr lang="en-US" sz="2400"/>
              <a:t> If a single independent variable is used to predict the value of a numerical dependent variable, then such a Linear Regression algorithm is called Simple Linear Regression.</a:t>
            </a:r>
            <a:endParaRPr sz="2400"/>
          </a:p>
          <a:p>
            <a:pPr indent="-381000" lvl="0" marL="457200" rtl="0" algn="l">
              <a:lnSpc>
                <a:spcPct val="100000"/>
              </a:lnSpc>
              <a:spcBef>
                <a:spcPts val="360"/>
              </a:spcBef>
              <a:spcAft>
                <a:spcPts val="0"/>
              </a:spcAft>
              <a:buSzPts val="2400"/>
              <a:buChar char="●"/>
            </a:pPr>
            <a:r>
              <a:rPr b="1" lang="en-US" sz="2400"/>
              <a:t>Multiple Linear regression:</a:t>
            </a:r>
            <a:r>
              <a:rPr lang="en-US" sz="2400"/>
              <a:t> If more than one independent variable is used to predict the value of a numerical dependent variable, then such a Linear Regression algorithm is called Multiple Linear Regression.</a:t>
            </a:r>
            <a:endParaRPr sz="2800"/>
          </a:p>
        </p:txBody>
      </p:sp>
      <p:grpSp>
        <p:nvGrpSpPr>
          <p:cNvPr id="301" name="Google Shape;301;p27"/>
          <p:cNvGrpSpPr/>
          <p:nvPr/>
        </p:nvGrpSpPr>
        <p:grpSpPr>
          <a:xfrm>
            <a:off x="609600" y="533400"/>
            <a:ext cx="303213" cy="303213"/>
            <a:chOff x="703" y="300"/>
            <a:chExt cx="181" cy="181"/>
          </a:xfrm>
        </p:grpSpPr>
        <p:sp>
          <p:nvSpPr>
            <p:cNvPr id="302" name="Google Shape;302;p27"/>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3" name="Google Shape;303;p27"/>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4" name="Google Shape;304;p27"/>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5" name="Google Shape;305;p27"/>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6" name="Google Shape;306;p27"/>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7" name="Google Shape;307;p27"/>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08" name="Google Shape;308;p27"/>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par>
                                <p:cTn fill="hold" nodeType="withEffect" presetClass="emph" presetID="8" presetSubtype="0">
                                  <p:stCondLst>
                                    <p:cond delay="500"/>
                                  </p:stCondLst>
                                  <p:childTnLst>
                                    <p:animRot by="-21600000">
                                      <p:cBhvr>
                                        <p:cTn dur="500" fill="hold"/>
                                        <p:tgtEl>
                                          <p:spTgt spid="30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8"/>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Implementing Linear Regression (3/4)</a:t>
            </a:r>
            <a:endParaRPr sz="4000">
              <a:solidFill>
                <a:schemeClr val="accent6"/>
              </a:solidFill>
            </a:endParaRPr>
          </a:p>
        </p:txBody>
      </p:sp>
      <p:sp>
        <p:nvSpPr>
          <p:cNvPr id="315" name="Google Shape;315;p28"/>
          <p:cNvSpPr txBox="1"/>
          <p:nvPr>
            <p:ph idx="1" type="body"/>
          </p:nvPr>
        </p:nvSpPr>
        <p:spPr>
          <a:xfrm>
            <a:off x="457200" y="1617600"/>
            <a:ext cx="8382000" cy="4173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chemeClr val="dk1"/>
              </a:buClr>
              <a:buSzPts val="2400"/>
              <a:buFont typeface="Arial"/>
              <a:buNone/>
            </a:pPr>
            <a:r>
              <a:rPr lang="en-US" sz="2400"/>
              <a:t> </a:t>
            </a:r>
            <a:endParaRPr sz="2400"/>
          </a:p>
          <a:p>
            <a:pPr indent="0" lvl="0" marL="0" rtl="0" algn="l">
              <a:lnSpc>
                <a:spcPct val="100000"/>
              </a:lnSpc>
              <a:spcBef>
                <a:spcPts val="360"/>
              </a:spcBef>
              <a:spcAft>
                <a:spcPts val="0"/>
              </a:spcAft>
              <a:buClr>
                <a:schemeClr val="dk1"/>
              </a:buClr>
              <a:buSzPts val="2400"/>
              <a:buFont typeface="Arial"/>
              <a:buNone/>
            </a:pPr>
            <a:r>
              <a:rPr lang="en-US" sz="2400"/>
              <a:t>Implementing a simple linear regression model with the help of python library.</a:t>
            </a:r>
            <a:endParaRPr sz="2400"/>
          </a:p>
          <a:p>
            <a:pPr indent="0" lvl="0" marL="0" rtl="0" algn="l">
              <a:lnSpc>
                <a:spcPct val="100000"/>
              </a:lnSpc>
              <a:spcBef>
                <a:spcPts val="360"/>
              </a:spcBef>
              <a:spcAft>
                <a:spcPts val="0"/>
              </a:spcAft>
              <a:buClr>
                <a:schemeClr val="dk1"/>
              </a:buClr>
              <a:buSzPts val="2400"/>
              <a:buFont typeface="Arial"/>
              <a:buNone/>
            </a:pPr>
            <a:r>
              <a:t/>
            </a:r>
            <a:endParaRPr sz="2400"/>
          </a:p>
          <a:p>
            <a:pPr indent="0" lvl="0" marL="0" rtl="0" algn="l">
              <a:lnSpc>
                <a:spcPct val="100000"/>
              </a:lnSpc>
              <a:spcBef>
                <a:spcPts val="360"/>
              </a:spcBef>
              <a:spcAft>
                <a:spcPts val="0"/>
              </a:spcAft>
              <a:buClr>
                <a:schemeClr val="dk1"/>
              </a:buClr>
              <a:buSzPts val="2400"/>
              <a:buFont typeface="Arial"/>
              <a:buNone/>
            </a:pPr>
            <a:r>
              <a:rPr lang="en-US" sz="2400" u="sng">
                <a:solidFill>
                  <a:schemeClr val="hlink"/>
                </a:solidFill>
                <a:hlinkClick r:id="rId3"/>
              </a:rPr>
              <a:t>Simple Linear Regression</a:t>
            </a:r>
            <a:endParaRPr sz="2400"/>
          </a:p>
        </p:txBody>
      </p:sp>
      <p:grpSp>
        <p:nvGrpSpPr>
          <p:cNvPr id="316" name="Google Shape;316;p28"/>
          <p:cNvGrpSpPr/>
          <p:nvPr/>
        </p:nvGrpSpPr>
        <p:grpSpPr>
          <a:xfrm>
            <a:off x="609600" y="533400"/>
            <a:ext cx="303246" cy="303397"/>
            <a:chOff x="703" y="300"/>
            <a:chExt cx="181" cy="181"/>
          </a:xfrm>
        </p:grpSpPr>
        <p:sp>
          <p:nvSpPr>
            <p:cNvPr id="317" name="Google Shape;317;p28"/>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8" name="Google Shape;318;p28"/>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9" name="Google Shape;319;p28"/>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0" name="Google Shape;320;p28"/>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1" name="Google Shape;321;p28"/>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2" name="Google Shape;322;p28"/>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23" name="Google Shape;323;p28"/>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par>
                                <p:cTn fill="hold" nodeType="withEffect" presetClass="emph" presetID="8" presetSubtype="0">
                                  <p:stCondLst>
                                    <p:cond delay="500"/>
                                  </p:stCondLst>
                                  <p:childTnLst>
                                    <p:animRot by="-21600000">
                                      <p:cBhvr>
                                        <p:cTn dur="500" fill="hold"/>
                                        <p:tgtEl>
                                          <p:spTgt spid="31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9"/>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Implementing Linear Regression </a:t>
            </a:r>
            <a:endParaRPr sz="4000">
              <a:solidFill>
                <a:schemeClr val="accent6"/>
              </a:solidFill>
            </a:endParaRPr>
          </a:p>
        </p:txBody>
      </p:sp>
      <p:grpSp>
        <p:nvGrpSpPr>
          <p:cNvPr id="330" name="Google Shape;330;p29"/>
          <p:cNvGrpSpPr/>
          <p:nvPr/>
        </p:nvGrpSpPr>
        <p:grpSpPr>
          <a:xfrm>
            <a:off x="609600" y="533400"/>
            <a:ext cx="303280" cy="303581"/>
            <a:chOff x="703" y="300"/>
            <a:chExt cx="181" cy="181"/>
          </a:xfrm>
        </p:grpSpPr>
        <p:sp>
          <p:nvSpPr>
            <p:cNvPr id="331" name="Google Shape;331;p29"/>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2" name="Google Shape;332;p29"/>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3" name="Google Shape;333;p29"/>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4" name="Google Shape;334;p29"/>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5" name="Google Shape;335;p29"/>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6" name="Google Shape;336;p29"/>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37" name="Google Shape;337;p29"/>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338" name="Google Shape;338;p29"/>
          <p:cNvPicPr preferRelativeResize="0"/>
          <p:nvPr/>
        </p:nvPicPr>
        <p:blipFill>
          <a:blip r:embed="rId3">
            <a:alphaModFix/>
          </a:blip>
          <a:stretch>
            <a:fillRect/>
          </a:stretch>
        </p:blipFill>
        <p:spPr>
          <a:xfrm>
            <a:off x="533400" y="1524000"/>
            <a:ext cx="7629707" cy="45720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par>
                                <p:cTn fill="hold" nodeType="withEffect" presetClass="emph" presetID="8" presetSubtype="0">
                                  <p:stCondLst>
                                    <p:cond delay="500"/>
                                  </p:stCondLst>
                                  <p:childTnLst>
                                    <p:animRot by="-21600000">
                                      <p:cBhvr>
                                        <p:cTn dur="500" fill="hold"/>
                                        <p:tgtEl>
                                          <p:spTgt spid="33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0"/>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Implementing Linear Regression </a:t>
            </a:r>
            <a:endParaRPr sz="4000">
              <a:solidFill>
                <a:schemeClr val="accent6"/>
              </a:solidFill>
            </a:endParaRPr>
          </a:p>
        </p:txBody>
      </p:sp>
      <p:grpSp>
        <p:nvGrpSpPr>
          <p:cNvPr id="345" name="Google Shape;345;p30"/>
          <p:cNvGrpSpPr/>
          <p:nvPr/>
        </p:nvGrpSpPr>
        <p:grpSpPr>
          <a:xfrm>
            <a:off x="609600" y="533400"/>
            <a:ext cx="303280" cy="303581"/>
            <a:chOff x="703" y="300"/>
            <a:chExt cx="181" cy="181"/>
          </a:xfrm>
        </p:grpSpPr>
        <p:sp>
          <p:nvSpPr>
            <p:cNvPr id="346" name="Google Shape;346;p30"/>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7" name="Google Shape;347;p30"/>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8" name="Google Shape;348;p30"/>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9" name="Google Shape;349;p30"/>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0" name="Google Shape;350;p30"/>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1" name="Google Shape;351;p30"/>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52" name="Google Shape;352;p30"/>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353" name="Google Shape;353;p30"/>
          <p:cNvPicPr preferRelativeResize="0"/>
          <p:nvPr/>
        </p:nvPicPr>
        <p:blipFill>
          <a:blip r:embed="rId3">
            <a:alphaModFix/>
          </a:blip>
          <a:stretch>
            <a:fillRect/>
          </a:stretch>
        </p:blipFill>
        <p:spPr>
          <a:xfrm>
            <a:off x="609600" y="1596200"/>
            <a:ext cx="7406105" cy="45720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par>
                                <p:cTn fill="hold" nodeType="withEffect" presetClass="emph" presetID="8" presetSubtype="0">
                                  <p:stCondLst>
                                    <p:cond delay="500"/>
                                  </p:stCondLst>
                                  <p:childTnLst>
                                    <p:animRot by="-21600000">
                                      <p:cBhvr>
                                        <p:cTn dur="500" fill="hold"/>
                                        <p:tgtEl>
                                          <p:spTgt spid="34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1"/>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Implementing Linear Regression </a:t>
            </a:r>
            <a:endParaRPr sz="4000">
              <a:solidFill>
                <a:schemeClr val="accent6"/>
              </a:solidFill>
            </a:endParaRPr>
          </a:p>
        </p:txBody>
      </p:sp>
      <p:grpSp>
        <p:nvGrpSpPr>
          <p:cNvPr id="360" name="Google Shape;360;p31"/>
          <p:cNvGrpSpPr/>
          <p:nvPr/>
        </p:nvGrpSpPr>
        <p:grpSpPr>
          <a:xfrm>
            <a:off x="609600" y="533400"/>
            <a:ext cx="303280" cy="303581"/>
            <a:chOff x="703" y="300"/>
            <a:chExt cx="181" cy="181"/>
          </a:xfrm>
        </p:grpSpPr>
        <p:sp>
          <p:nvSpPr>
            <p:cNvPr id="361" name="Google Shape;361;p31"/>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2" name="Google Shape;362;p31"/>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3" name="Google Shape;363;p31"/>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4" name="Google Shape;364;p31"/>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5" name="Google Shape;365;p31"/>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6" name="Google Shape;366;p31"/>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67" name="Google Shape;367;p31"/>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368" name="Google Shape;368;p31"/>
          <p:cNvPicPr preferRelativeResize="0"/>
          <p:nvPr/>
        </p:nvPicPr>
        <p:blipFill>
          <a:blip r:embed="rId3">
            <a:alphaModFix/>
          </a:blip>
          <a:stretch>
            <a:fillRect/>
          </a:stretch>
        </p:blipFill>
        <p:spPr>
          <a:xfrm>
            <a:off x="503575" y="1732550"/>
            <a:ext cx="4144874" cy="3988474"/>
          </a:xfrm>
          <a:prstGeom prst="rect">
            <a:avLst/>
          </a:prstGeom>
          <a:noFill/>
          <a:ln>
            <a:noFill/>
          </a:ln>
        </p:spPr>
      </p:pic>
      <p:pic>
        <p:nvPicPr>
          <p:cNvPr id="369" name="Google Shape;369;p31"/>
          <p:cNvPicPr preferRelativeResize="0"/>
          <p:nvPr/>
        </p:nvPicPr>
        <p:blipFill>
          <a:blip r:embed="rId4">
            <a:alphaModFix/>
          </a:blip>
          <a:stretch>
            <a:fillRect/>
          </a:stretch>
        </p:blipFill>
        <p:spPr>
          <a:xfrm>
            <a:off x="4782550" y="1743350"/>
            <a:ext cx="4361450" cy="511465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par>
                                <p:cTn fill="hold" nodeType="withEffect" presetClass="emph" presetID="8" presetSubtype="0">
                                  <p:stCondLst>
                                    <p:cond delay="500"/>
                                  </p:stCondLst>
                                  <p:childTnLst>
                                    <p:animRot by="-21600000">
                                      <p:cBhvr>
                                        <p:cTn dur="500" fill="hold"/>
                                        <p:tgtEl>
                                          <p:spTgt spid="36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2"/>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Implementing Linear Regression </a:t>
            </a:r>
            <a:endParaRPr sz="4000">
              <a:solidFill>
                <a:schemeClr val="accent6"/>
              </a:solidFill>
            </a:endParaRPr>
          </a:p>
        </p:txBody>
      </p:sp>
      <p:grpSp>
        <p:nvGrpSpPr>
          <p:cNvPr id="376" name="Google Shape;376;p32"/>
          <p:cNvGrpSpPr/>
          <p:nvPr/>
        </p:nvGrpSpPr>
        <p:grpSpPr>
          <a:xfrm>
            <a:off x="609600" y="533400"/>
            <a:ext cx="303280" cy="303581"/>
            <a:chOff x="703" y="300"/>
            <a:chExt cx="181" cy="181"/>
          </a:xfrm>
        </p:grpSpPr>
        <p:sp>
          <p:nvSpPr>
            <p:cNvPr id="377" name="Google Shape;377;p32"/>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8" name="Google Shape;378;p32"/>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9" name="Google Shape;379;p32"/>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0" name="Google Shape;380;p32"/>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1" name="Google Shape;381;p32"/>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2" name="Google Shape;382;p32"/>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83" name="Google Shape;383;p32"/>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384" name="Google Shape;384;p32"/>
          <p:cNvPicPr preferRelativeResize="0"/>
          <p:nvPr/>
        </p:nvPicPr>
        <p:blipFill>
          <a:blip r:embed="rId3">
            <a:alphaModFix/>
          </a:blip>
          <a:stretch>
            <a:fillRect/>
          </a:stretch>
        </p:blipFill>
        <p:spPr>
          <a:xfrm>
            <a:off x="152400" y="1524000"/>
            <a:ext cx="8839198" cy="4405296"/>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par>
                                <p:cTn fill="hold" nodeType="withEffect" presetClass="emph" presetID="8" presetSubtype="0">
                                  <p:stCondLst>
                                    <p:cond delay="500"/>
                                  </p:stCondLst>
                                  <p:childTnLst>
                                    <p:animRot by="-21600000">
                                      <p:cBhvr>
                                        <p:cTn dur="500" fill="hold"/>
                                        <p:tgtEl>
                                          <p:spTgt spid="37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3"/>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Implementing Linear Regression </a:t>
            </a:r>
            <a:endParaRPr sz="4000">
              <a:solidFill>
                <a:schemeClr val="accent6"/>
              </a:solidFill>
            </a:endParaRPr>
          </a:p>
        </p:txBody>
      </p:sp>
      <p:grpSp>
        <p:nvGrpSpPr>
          <p:cNvPr id="391" name="Google Shape;391;p33"/>
          <p:cNvGrpSpPr/>
          <p:nvPr/>
        </p:nvGrpSpPr>
        <p:grpSpPr>
          <a:xfrm>
            <a:off x="609600" y="533400"/>
            <a:ext cx="303280" cy="303581"/>
            <a:chOff x="703" y="300"/>
            <a:chExt cx="181" cy="181"/>
          </a:xfrm>
        </p:grpSpPr>
        <p:sp>
          <p:nvSpPr>
            <p:cNvPr id="392" name="Google Shape;392;p33"/>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3" name="Google Shape;393;p33"/>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4" name="Google Shape;394;p33"/>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5" name="Google Shape;395;p33"/>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6" name="Google Shape;396;p33"/>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7" name="Google Shape;397;p33"/>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98" name="Google Shape;398;p33"/>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399" name="Google Shape;399;p33"/>
          <p:cNvPicPr preferRelativeResize="0"/>
          <p:nvPr/>
        </p:nvPicPr>
        <p:blipFill>
          <a:blip r:embed="rId3">
            <a:alphaModFix/>
          </a:blip>
          <a:stretch>
            <a:fillRect/>
          </a:stretch>
        </p:blipFill>
        <p:spPr>
          <a:xfrm>
            <a:off x="342900" y="1524000"/>
            <a:ext cx="7904750" cy="45018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par>
                                <p:cTn fill="hold" nodeType="withEffect" presetClass="emph" presetID="8" presetSubtype="0">
                                  <p:stCondLst>
                                    <p:cond delay="500"/>
                                  </p:stCondLst>
                                  <p:childTnLst>
                                    <p:animRot by="-21600000">
                                      <p:cBhvr>
                                        <p:cTn dur="500" fill="hold"/>
                                        <p:tgtEl>
                                          <p:spTgt spid="39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4"/>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Implementing Linear Regression </a:t>
            </a:r>
            <a:endParaRPr sz="4000">
              <a:solidFill>
                <a:schemeClr val="accent6"/>
              </a:solidFill>
            </a:endParaRPr>
          </a:p>
        </p:txBody>
      </p:sp>
      <p:grpSp>
        <p:nvGrpSpPr>
          <p:cNvPr id="406" name="Google Shape;406;p34"/>
          <p:cNvGrpSpPr/>
          <p:nvPr/>
        </p:nvGrpSpPr>
        <p:grpSpPr>
          <a:xfrm>
            <a:off x="609600" y="533400"/>
            <a:ext cx="303280" cy="303581"/>
            <a:chOff x="703" y="300"/>
            <a:chExt cx="181" cy="181"/>
          </a:xfrm>
        </p:grpSpPr>
        <p:sp>
          <p:nvSpPr>
            <p:cNvPr id="407" name="Google Shape;407;p34"/>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8" name="Google Shape;408;p34"/>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9" name="Google Shape;409;p34"/>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0" name="Google Shape;410;p34"/>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1" name="Google Shape;411;p34"/>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2" name="Google Shape;412;p34"/>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13" name="Google Shape;413;p34"/>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414" name="Google Shape;414;p34"/>
          <p:cNvPicPr preferRelativeResize="0"/>
          <p:nvPr/>
        </p:nvPicPr>
        <p:blipFill>
          <a:blip r:embed="rId3">
            <a:alphaModFix/>
          </a:blip>
          <a:stretch>
            <a:fillRect/>
          </a:stretch>
        </p:blipFill>
        <p:spPr>
          <a:xfrm>
            <a:off x="152400" y="1524000"/>
            <a:ext cx="8839200" cy="40811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par>
                                <p:cTn fill="hold" nodeType="withEffect" presetClass="emph" presetID="8" presetSubtype="0">
                                  <p:stCondLst>
                                    <p:cond delay="500"/>
                                  </p:stCondLst>
                                  <p:childTnLst>
                                    <p:animRot by="-21600000">
                                      <p:cBhvr>
                                        <p:cTn dur="500" fill="hold"/>
                                        <p:tgtEl>
                                          <p:spTgt spid="40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5"/>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Implementing Linear Regression </a:t>
            </a:r>
            <a:endParaRPr sz="4000">
              <a:solidFill>
                <a:schemeClr val="accent6"/>
              </a:solidFill>
            </a:endParaRPr>
          </a:p>
        </p:txBody>
      </p:sp>
      <p:grpSp>
        <p:nvGrpSpPr>
          <p:cNvPr id="421" name="Google Shape;421;p35"/>
          <p:cNvGrpSpPr/>
          <p:nvPr/>
        </p:nvGrpSpPr>
        <p:grpSpPr>
          <a:xfrm>
            <a:off x="609600" y="533400"/>
            <a:ext cx="303280" cy="303581"/>
            <a:chOff x="703" y="300"/>
            <a:chExt cx="181" cy="181"/>
          </a:xfrm>
        </p:grpSpPr>
        <p:sp>
          <p:nvSpPr>
            <p:cNvPr id="422" name="Google Shape;422;p3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3" name="Google Shape;423;p3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4" name="Google Shape;424;p3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5" name="Google Shape;425;p3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6" name="Google Shape;426;p3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7" name="Google Shape;427;p3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28" name="Google Shape;428;p35"/>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429" name="Google Shape;429;p35"/>
          <p:cNvPicPr preferRelativeResize="0"/>
          <p:nvPr/>
        </p:nvPicPr>
        <p:blipFill>
          <a:blip r:embed="rId3">
            <a:alphaModFix/>
          </a:blip>
          <a:stretch>
            <a:fillRect/>
          </a:stretch>
        </p:blipFill>
        <p:spPr>
          <a:xfrm>
            <a:off x="152400" y="1524000"/>
            <a:ext cx="8991601" cy="4564974"/>
          </a:xfrm>
          <a:prstGeom prst="rect">
            <a:avLst/>
          </a:prstGeom>
          <a:noFill/>
          <a:ln>
            <a:noFill/>
          </a:ln>
        </p:spPr>
      </p:pic>
      <p:pic>
        <p:nvPicPr>
          <p:cNvPr id="430" name="Google Shape;430;p35"/>
          <p:cNvPicPr preferRelativeResize="0"/>
          <p:nvPr/>
        </p:nvPicPr>
        <p:blipFill>
          <a:blip r:embed="rId4">
            <a:alphaModFix/>
          </a:blip>
          <a:stretch>
            <a:fillRect/>
          </a:stretch>
        </p:blipFill>
        <p:spPr>
          <a:xfrm>
            <a:off x="6429375" y="5581800"/>
            <a:ext cx="1808538" cy="11430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500"/>
                                        <p:tgtEl>
                                          <p:spTgt spid="421"/>
                                        </p:tgtEl>
                                      </p:cBhvr>
                                    </p:animEffect>
                                  </p:childTnLst>
                                </p:cTn>
                              </p:par>
                              <p:par>
                                <p:cTn fill="hold" nodeType="withEffect" presetClass="emph" presetID="8" presetSubtype="0">
                                  <p:stCondLst>
                                    <p:cond delay="500"/>
                                  </p:stCondLst>
                                  <p:childTnLst>
                                    <p:animRot by="-21600000">
                                      <p:cBhvr>
                                        <p:cTn dur="500" fill="hold"/>
                                        <p:tgtEl>
                                          <p:spTgt spid="42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6"/>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Implementing Linear Regression </a:t>
            </a:r>
            <a:endParaRPr sz="4000">
              <a:solidFill>
                <a:schemeClr val="accent6"/>
              </a:solidFill>
            </a:endParaRPr>
          </a:p>
        </p:txBody>
      </p:sp>
      <p:grpSp>
        <p:nvGrpSpPr>
          <p:cNvPr id="437" name="Google Shape;437;p36"/>
          <p:cNvGrpSpPr/>
          <p:nvPr/>
        </p:nvGrpSpPr>
        <p:grpSpPr>
          <a:xfrm>
            <a:off x="609600" y="533400"/>
            <a:ext cx="303280" cy="303581"/>
            <a:chOff x="703" y="300"/>
            <a:chExt cx="181" cy="181"/>
          </a:xfrm>
        </p:grpSpPr>
        <p:sp>
          <p:nvSpPr>
            <p:cNvPr id="438" name="Google Shape;438;p36"/>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9" name="Google Shape;439;p36"/>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0" name="Google Shape;440;p36"/>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1" name="Google Shape;441;p36"/>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2" name="Google Shape;442;p36"/>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3" name="Google Shape;443;p36"/>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44" name="Google Shape;444;p36"/>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445" name="Google Shape;445;p36"/>
          <p:cNvPicPr preferRelativeResize="0"/>
          <p:nvPr/>
        </p:nvPicPr>
        <p:blipFill>
          <a:blip r:embed="rId3">
            <a:alphaModFix/>
          </a:blip>
          <a:stretch>
            <a:fillRect/>
          </a:stretch>
        </p:blipFill>
        <p:spPr>
          <a:xfrm>
            <a:off x="533400" y="1809900"/>
            <a:ext cx="2606850" cy="1402525"/>
          </a:xfrm>
          <a:prstGeom prst="rect">
            <a:avLst/>
          </a:prstGeom>
          <a:noFill/>
          <a:ln>
            <a:noFill/>
          </a:ln>
        </p:spPr>
      </p:pic>
      <p:sp>
        <p:nvSpPr>
          <p:cNvPr id="446" name="Google Shape;446;p36"/>
          <p:cNvSpPr txBox="1"/>
          <p:nvPr/>
        </p:nvSpPr>
        <p:spPr>
          <a:xfrm>
            <a:off x="830175" y="3573375"/>
            <a:ext cx="6081900" cy="15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accent1"/>
                </a:solidFill>
                <a:latin typeface="Lato"/>
                <a:ea typeface="Lato"/>
                <a:cs typeface="Lato"/>
                <a:sym typeface="Lato"/>
              </a:rPr>
              <a:t>Now, Predict for X= 7, Y = ?</a:t>
            </a:r>
            <a:endParaRPr sz="2400">
              <a:solidFill>
                <a:schemeClr val="accent1"/>
              </a:solidFill>
              <a:latin typeface="Lato"/>
              <a:ea typeface="Lato"/>
              <a:cs typeface="Lato"/>
              <a:sym typeface="Lato"/>
            </a:endParaRPr>
          </a:p>
          <a:p>
            <a:pPr indent="0" lvl="0" marL="0" rtl="0" algn="l">
              <a:spcBef>
                <a:spcPts val="0"/>
              </a:spcBef>
              <a:spcAft>
                <a:spcPts val="0"/>
              </a:spcAft>
              <a:buNone/>
            </a:pPr>
            <a:r>
              <a:rPr lang="en-US" sz="2400">
                <a:solidFill>
                  <a:schemeClr val="accent1"/>
                </a:solidFill>
                <a:latin typeface="Lato"/>
                <a:ea typeface="Lato"/>
                <a:cs typeface="Lato"/>
                <a:sym typeface="Lato"/>
              </a:rPr>
              <a:t>y= 2.2+.6(7) = 6.4</a:t>
            </a:r>
            <a:endParaRPr sz="2400">
              <a:solidFill>
                <a:schemeClr val="accent1"/>
              </a:solidFill>
              <a:latin typeface="Lato"/>
              <a:ea typeface="Lato"/>
              <a:cs typeface="Lato"/>
              <a:sym typeface="Lato"/>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500"/>
                                        <p:tgtEl>
                                          <p:spTgt spid="437"/>
                                        </p:tgtEl>
                                      </p:cBhvr>
                                    </p:animEffect>
                                  </p:childTnLst>
                                </p:cTn>
                              </p:par>
                              <p:par>
                                <p:cTn fill="hold" nodeType="withEffect" presetClass="emph" presetID="8" presetSubtype="0">
                                  <p:stCondLst>
                                    <p:cond delay="500"/>
                                  </p:stCondLst>
                                  <p:childTnLst>
                                    <p:animRot by="-21600000">
                                      <p:cBhvr>
                                        <p:cTn dur="500" fill="hold"/>
                                        <p:tgtEl>
                                          <p:spTgt spid="43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7"/>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Task : </a:t>
            </a:r>
            <a:r>
              <a:rPr lang="en-US" sz="4000">
                <a:solidFill>
                  <a:schemeClr val="accent6"/>
                </a:solidFill>
              </a:rPr>
              <a:t>Implementing Linear Regression </a:t>
            </a:r>
            <a:endParaRPr sz="4000">
              <a:solidFill>
                <a:schemeClr val="accent6"/>
              </a:solidFill>
            </a:endParaRPr>
          </a:p>
        </p:txBody>
      </p:sp>
      <p:grpSp>
        <p:nvGrpSpPr>
          <p:cNvPr id="453" name="Google Shape;453;p37"/>
          <p:cNvGrpSpPr/>
          <p:nvPr/>
        </p:nvGrpSpPr>
        <p:grpSpPr>
          <a:xfrm>
            <a:off x="609600" y="533400"/>
            <a:ext cx="303280" cy="303581"/>
            <a:chOff x="703" y="300"/>
            <a:chExt cx="181" cy="181"/>
          </a:xfrm>
        </p:grpSpPr>
        <p:sp>
          <p:nvSpPr>
            <p:cNvPr id="454" name="Google Shape;454;p37"/>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5" name="Google Shape;455;p37"/>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6" name="Google Shape;456;p37"/>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7" name="Google Shape;457;p37"/>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8" name="Google Shape;458;p37"/>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9" name="Google Shape;459;p37"/>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60" name="Google Shape;460;p37"/>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461" name="Google Shape;461;p37"/>
          <p:cNvPicPr preferRelativeResize="0"/>
          <p:nvPr/>
        </p:nvPicPr>
        <p:blipFill>
          <a:blip r:embed="rId3">
            <a:alphaModFix/>
          </a:blip>
          <a:stretch>
            <a:fillRect/>
          </a:stretch>
        </p:blipFill>
        <p:spPr>
          <a:xfrm>
            <a:off x="1064800" y="1570125"/>
            <a:ext cx="7651800" cy="48367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par>
                                <p:cTn fill="hold" nodeType="withEffect" presetClass="emph" presetID="8" presetSubtype="0">
                                  <p:stCondLst>
                                    <p:cond delay="500"/>
                                  </p:stCondLst>
                                  <p:childTnLst>
                                    <p:animRot by="-21600000">
                                      <p:cBhvr>
                                        <p:cTn dur="500" fill="hold"/>
                                        <p:tgtEl>
                                          <p:spTgt spid="45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8"/>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Multiple </a:t>
            </a:r>
            <a:r>
              <a:rPr lang="en-US" sz="4000">
                <a:solidFill>
                  <a:schemeClr val="accent6"/>
                </a:solidFill>
              </a:rPr>
              <a:t>Linear Regression </a:t>
            </a:r>
            <a:endParaRPr sz="4000">
              <a:solidFill>
                <a:schemeClr val="accent6"/>
              </a:solidFill>
            </a:endParaRPr>
          </a:p>
        </p:txBody>
      </p:sp>
      <p:grpSp>
        <p:nvGrpSpPr>
          <p:cNvPr id="468" name="Google Shape;468;p38"/>
          <p:cNvGrpSpPr/>
          <p:nvPr/>
        </p:nvGrpSpPr>
        <p:grpSpPr>
          <a:xfrm>
            <a:off x="609600" y="533400"/>
            <a:ext cx="303280" cy="303581"/>
            <a:chOff x="703" y="300"/>
            <a:chExt cx="181" cy="181"/>
          </a:xfrm>
        </p:grpSpPr>
        <p:sp>
          <p:nvSpPr>
            <p:cNvPr id="469" name="Google Shape;469;p38"/>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0" name="Google Shape;470;p38"/>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1" name="Google Shape;471;p38"/>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2" name="Google Shape;472;p38"/>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3" name="Google Shape;473;p38"/>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4" name="Google Shape;474;p38"/>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75" name="Google Shape;475;p38"/>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476" name="Google Shape;476;p38"/>
          <p:cNvPicPr preferRelativeResize="0"/>
          <p:nvPr/>
        </p:nvPicPr>
        <p:blipFill>
          <a:blip r:embed="rId3">
            <a:alphaModFix/>
          </a:blip>
          <a:stretch>
            <a:fillRect/>
          </a:stretch>
        </p:blipFill>
        <p:spPr>
          <a:xfrm>
            <a:off x="990600" y="2346150"/>
            <a:ext cx="4820650" cy="998775"/>
          </a:xfrm>
          <a:prstGeom prst="rect">
            <a:avLst/>
          </a:prstGeom>
          <a:noFill/>
          <a:ln>
            <a:noFill/>
          </a:ln>
        </p:spPr>
      </p:pic>
      <p:sp>
        <p:nvSpPr>
          <p:cNvPr id="477" name="Google Shape;477;p38"/>
          <p:cNvSpPr txBox="1"/>
          <p:nvPr/>
        </p:nvSpPr>
        <p:spPr>
          <a:xfrm>
            <a:off x="613600" y="1771925"/>
            <a:ext cx="332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accent1"/>
                </a:solidFill>
                <a:latin typeface="Lato"/>
                <a:ea typeface="Lato"/>
                <a:cs typeface="Lato"/>
                <a:sym typeface="Lato"/>
              </a:rPr>
              <a:t>Calculate b1: </a:t>
            </a:r>
            <a:endParaRPr sz="1800">
              <a:solidFill>
                <a:schemeClr val="accent1"/>
              </a:solidFill>
              <a:latin typeface="Lato"/>
              <a:ea typeface="Lato"/>
              <a:cs typeface="Lato"/>
              <a:sym typeface="Lato"/>
            </a:endParaRPr>
          </a:p>
        </p:txBody>
      </p:sp>
      <p:pic>
        <p:nvPicPr>
          <p:cNvPr id="478" name="Google Shape;478;p38"/>
          <p:cNvPicPr preferRelativeResize="0"/>
          <p:nvPr/>
        </p:nvPicPr>
        <p:blipFill>
          <a:blip r:embed="rId4">
            <a:alphaModFix/>
          </a:blip>
          <a:stretch>
            <a:fillRect/>
          </a:stretch>
        </p:blipFill>
        <p:spPr>
          <a:xfrm>
            <a:off x="1429750" y="4048350"/>
            <a:ext cx="4381500" cy="895350"/>
          </a:xfrm>
          <a:prstGeom prst="rect">
            <a:avLst/>
          </a:prstGeom>
          <a:noFill/>
          <a:ln>
            <a:noFill/>
          </a:ln>
        </p:spPr>
      </p:pic>
      <p:sp>
        <p:nvSpPr>
          <p:cNvPr id="479" name="Google Shape;479;p38"/>
          <p:cNvSpPr txBox="1"/>
          <p:nvPr/>
        </p:nvSpPr>
        <p:spPr>
          <a:xfrm>
            <a:off x="613600" y="3458425"/>
            <a:ext cx="332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accent1"/>
                </a:solidFill>
                <a:latin typeface="Lato"/>
                <a:ea typeface="Lato"/>
                <a:cs typeface="Lato"/>
                <a:sym typeface="Lato"/>
              </a:rPr>
              <a:t>Calculate b2: </a:t>
            </a:r>
            <a:endParaRPr sz="1800">
              <a:solidFill>
                <a:schemeClr val="accent1"/>
              </a:solidFill>
              <a:latin typeface="Lato"/>
              <a:ea typeface="Lato"/>
              <a:cs typeface="Lato"/>
              <a:sym typeface="Lato"/>
            </a:endParaRPr>
          </a:p>
        </p:txBody>
      </p:sp>
      <p:pic>
        <p:nvPicPr>
          <p:cNvPr id="480" name="Google Shape;480;p38"/>
          <p:cNvPicPr preferRelativeResize="0"/>
          <p:nvPr/>
        </p:nvPicPr>
        <p:blipFill>
          <a:blip r:embed="rId5">
            <a:alphaModFix/>
          </a:blip>
          <a:stretch>
            <a:fillRect/>
          </a:stretch>
        </p:blipFill>
        <p:spPr>
          <a:xfrm>
            <a:off x="1888700" y="5515200"/>
            <a:ext cx="3024450" cy="733200"/>
          </a:xfrm>
          <a:prstGeom prst="rect">
            <a:avLst/>
          </a:prstGeom>
          <a:noFill/>
          <a:ln>
            <a:noFill/>
          </a:ln>
        </p:spPr>
      </p:pic>
      <p:sp>
        <p:nvSpPr>
          <p:cNvPr id="481" name="Google Shape;481;p38"/>
          <p:cNvSpPr txBox="1"/>
          <p:nvPr/>
        </p:nvSpPr>
        <p:spPr>
          <a:xfrm>
            <a:off x="711850" y="4991250"/>
            <a:ext cx="3320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accent1"/>
                </a:solidFill>
                <a:latin typeface="Lato"/>
                <a:ea typeface="Lato"/>
                <a:cs typeface="Lato"/>
                <a:sym typeface="Lato"/>
              </a:rPr>
              <a:t>Calculate a: </a:t>
            </a:r>
            <a:endParaRPr sz="1800">
              <a:solidFill>
                <a:schemeClr val="accent1"/>
              </a:solidFill>
              <a:latin typeface="Lato"/>
              <a:ea typeface="Lato"/>
              <a:cs typeface="Lato"/>
              <a:sym typeface="Lato"/>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par>
                                <p:cTn fill="hold" nodeType="withEffect" presetClass="emph" presetID="8" presetSubtype="0">
                                  <p:stCondLst>
                                    <p:cond delay="500"/>
                                  </p:stCondLst>
                                  <p:childTnLst>
                                    <p:animRot by="-21600000">
                                      <p:cBhvr>
                                        <p:cTn dur="500" fill="hold"/>
                                        <p:tgtEl>
                                          <p:spTgt spid="46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9"/>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Multiple Linear Regression </a:t>
            </a:r>
            <a:endParaRPr sz="4000">
              <a:solidFill>
                <a:schemeClr val="accent6"/>
              </a:solidFill>
            </a:endParaRPr>
          </a:p>
        </p:txBody>
      </p:sp>
      <p:grpSp>
        <p:nvGrpSpPr>
          <p:cNvPr id="488" name="Google Shape;488;p39"/>
          <p:cNvGrpSpPr/>
          <p:nvPr/>
        </p:nvGrpSpPr>
        <p:grpSpPr>
          <a:xfrm>
            <a:off x="609600" y="533400"/>
            <a:ext cx="303280" cy="303581"/>
            <a:chOff x="703" y="300"/>
            <a:chExt cx="181" cy="181"/>
          </a:xfrm>
        </p:grpSpPr>
        <p:sp>
          <p:nvSpPr>
            <p:cNvPr id="489" name="Google Shape;489;p39"/>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0" name="Google Shape;490;p39"/>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1" name="Google Shape;491;p39"/>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2" name="Google Shape;492;p39"/>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3" name="Google Shape;493;p39"/>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4" name="Google Shape;494;p39"/>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95" name="Google Shape;495;p39"/>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graphicFrame>
        <p:nvGraphicFramePr>
          <p:cNvPr id="496" name="Google Shape;496;p39"/>
          <p:cNvGraphicFramePr/>
          <p:nvPr/>
        </p:nvGraphicFramePr>
        <p:xfrm>
          <a:off x="609600" y="1686875"/>
          <a:ext cx="3000000" cy="3000000"/>
        </p:xfrm>
        <a:graphic>
          <a:graphicData uri="http://schemas.openxmlformats.org/drawingml/2006/table">
            <a:tbl>
              <a:tblPr>
                <a:noFill/>
                <a:tableStyleId>{5E446ED6-0B7A-441E-B34A-2B8055A339F8}</a:tableStyleId>
              </a:tblPr>
              <a:tblGrid>
                <a:gridCol w="1877175"/>
                <a:gridCol w="1877175"/>
                <a:gridCol w="1877175"/>
                <a:gridCol w="1877175"/>
              </a:tblGrid>
              <a:tr h="658825">
                <a:tc>
                  <a:txBody>
                    <a:bodyPr/>
                    <a:lstStyle/>
                    <a:p>
                      <a:pPr indent="0" lvl="0" marL="0" rtl="0" algn="l">
                        <a:spcBef>
                          <a:spcPts val="0"/>
                        </a:spcBef>
                        <a:spcAft>
                          <a:spcPts val="0"/>
                        </a:spcAft>
                        <a:buNone/>
                      </a:pPr>
                      <a:r>
                        <a:rPr b="1" lang="en-US" sz="1800">
                          <a:solidFill>
                            <a:schemeClr val="dk1"/>
                          </a:solidFill>
                          <a:latin typeface="Lato"/>
                          <a:ea typeface="Lato"/>
                          <a:cs typeface="Lato"/>
                          <a:sym typeface="Lato"/>
                        </a:rPr>
                        <a:t>Observation</a:t>
                      </a:r>
                      <a:endParaRPr b="1"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b="1" lang="en-US" sz="1800">
                          <a:solidFill>
                            <a:schemeClr val="dk1"/>
                          </a:solidFill>
                          <a:latin typeface="Lato"/>
                          <a:ea typeface="Lato"/>
                          <a:cs typeface="Lato"/>
                          <a:sym typeface="Lato"/>
                        </a:rPr>
                        <a:t>X1</a:t>
                      </a:r>
                      <a:endParaRPr b="1"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b="1" lang="en-US" sz="1800">
                          <a:solidFill>
                            <a:schemeClr val="dk1"/>
                          </a:solidFill>
                          <a:latin typeface="Lato"/>
                          <a:ea typeface="Lato"/>
                          <a:cs typeface="Lato"/>
                          <a:sym typeface="Lato"/>
                        </a:rPr>
                        <a:t>X2</a:t>
                      </a:r>
                      <a:endParaRPr b="1"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b="1" lang="en-US" sz="1800">
                          <a:solidFill>
                            <a:schemeClr val="dk1"/>
                          </a:solidFill>
                          <a:latin typeface="Lato"/>
                          <a:ea typeface="Lato"/>
                          <a:cs typeface="Lato"/>
                          <a:sym typeface="Lato"/>
                        </a:rPr>
                        <a:t>Y</a:t>
                      </a:r>
                      <a:endParaRPr b="1" sz="1800">
                        <a:solidFill>
                          <a:schemeClr val="dk1"/>
                        </a:solidFill>
                        <a:latin typeface="Lato"/>
                        <a:ea typeface="Lato"/>
                        <a:cs typeface="Lato"/>
                        <a:sym typeface="Lato"/>
                      </a:endParaRPr>
                    </a:p>
                  </a:txBody>
                  <a:tcPr marT="91425" marB="91425" marR="91425" marL="91425"/>
                </a:tc>
              </a:tr>
              <a:tr h="633525">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1</a:t>
                      </a:r>
                      <a:endParaRPr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1</a:t>
                      </a:r>
                      <a:endParaRPr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2</a:t>
                      </a:r>
                      <a:endParaRPr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4</a:t>
                      </a:r>
                      <a:endParaRPr sz="1800">
                        <a:solidFill>
                          <a:schemeClr val="dk1"/>
                        </a:solidFill>
                        <a:latin typeface="Lato"/>
                        <a:ea typeface="Lato"/>
                        <a:cs typeface="Lato"/>
                        <a:sym typeface="Lato"/>
                      </a:endParaRPr>
                    </a:p>
                  </a:txBody>
                  <a:tcPr marT="91425" marB="91425" marR="91425" marL="91425"/>
                </a:tc>
              </a:tr>
              <a:tr h="633525">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2</a:t>
                      </a:r>
                      <a:endParaRPr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2</a:t>
                      </a:r>
                      <a:endParaRPr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1</a:t>
                      </a:r>
                      <a:endParaRPr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5</a:t>
                      </a:r>
                      <a:endParaRPr sz="1800">
                        <a:solidFill>
                          <a:schemeClr val="dk1"/>
                        </a:solidFill>
                        <a:latin typeface="Lato"/>
                        <a:ea typeface="Lato"/>
                        <a:cs typeface="Lato"/>
                        <a:sym typeface="Lato"/>
                      </a:endParaRPr>
                    </a:p>
                  </a:txBody>
                  <a:tcPr marT="91425" marB="91425" marR="91425" marL="91425"/>
                </a:tc>
              </a:tr>
              <a:tr h="633525">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3</a:t>
                      </a:r>
                      <a:endParaRPr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3</a:t>
                      </a:r>
                      <a:endParaRPr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2</a:t>
                      </a:r>
                      <a:endParaRPr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7</a:t>
                      </a:r>
                      <a:endParaRPr sz="1800">
                        <a:solidFill>
                          <a:schemeClr val="dk1"/>
                        </a:solidFill>
                        <a:latin typeface="Lato"/>
                        <a:ea typeface="Lato"/>
                        <a:cs typeface="Lato"/>
                        <a:sym typeface="Lato"/>
                      </a:endParaRPr>
                    </a:p>
                  </a:txBody>
                  <a:tcPr marT="91425" marB="91425" marR="91425" marL="91425"/>
                </a:tc>
              </a:tr>
              <a:tr h="633525">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4</a:t>
                      </a:r>
                      <a:endParaRPr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4</a:t>
                      </a:r>
                      <a:endParaRPr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3</a:t>
                      </a:r>
                      <a:endParaRPr sz="1800">
                        <a:solidFill>
                          <a:schemeClr val="dk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800">
                          <a:solidFill>
                            <a:schemeClr val="dk1"/>
                          </a:solidFill>
                          <a:latin typeface="Lato"/>
                          <a:ea typeface="Lato"/>
                          <a:cs typeface="Lato"/>
                          <a:sym typeface="Lato"/>
                        </a:rPr>
                        <a:t>10</a:t>
                      </a:r>
                      <a:endParaRPr sz="1800">
                        <a:solidFill>
                          <a:schemeClr val="dk1"/>
                        </a:solidFill>
                        <a:latin typeface="Lato"/>
                        <a:ea typeface="Lato"/>
                        <a:cs typeface="Lato"/>
                        <a:sym typeface="Lato"/>
                      </a:endParaRPr>
                    </a:p>
                  </a:txBody>
                  <a:tcPr marT="91425" marB="91425" marR="91425" marL="91425"/>
                </a:tc>
              </a:tr>
            </a:tbl>
          </a:graphicData>
        </a:graphic>
      </p:graphicFrame>
      <p:sp>
        <p:nvSpPr>
          <p:cNvPr id="497" name="Google Shape;497;p39"/>
          <p:cNvSpPr txBox="1"/>
          <p:nvPr/>
        </p:nvSpPr>
        <p:spPr>
          <a:xfrm>
            <a:off x="667750" y="5107400"/>
            <a:ext cx="7814400" cy="97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accent1"/>
                </a:solidFill>
                <a:latin typeface="Lato"/>
                <a:ea typeface="Lato"/>
                <a:cs typeface="Lato"/>
                <a:sym typeface="Lato"/>
              </a:rPr>
              <a:t>Apply Multiple Linear Regression on the above data and draw the regression line. Predict Y for X1 = 2, X2 = 3.</a:t>
            </a:r>
            <a:endParaRPr sz="2200">
              <a:solidFill>
                <a:schemeClr val="accent1"/>
              </a:solidFill>
              <a:latin typeface="Lato"/>
              <a:ea typeface="Lato"/>
              <a:cs typeface="Lato"/>
              <a:sym typeface="Lato"/>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500"/>
                                        <p:tgtEl>
                                          <p:spTgt spid="488"/>
                                        </p:tgtEl>
                                      </p:cBhvr>
                                    </p:animEffect>
                                  </p:childTnLst>
                                </p:cTn>
                              </p:par>
                              <p:par>
                                <p:cTn fill="hold" nodeType="withEffect" presetClass="emph" presetID="8" presetSubtype="0">
                                  <p:stCondLst>
                                    <p:cond delay="500"/>
                                  </p:stCondLst>
                                  <p:childTnLst>
                                    <p:animRot by="-21600000">
                                      <p:cBhvr>
                                        <p:cTn dur="500" fill="hold"/>
                                        <p:tgtEl>
                                          <p:spTgt spid="48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0"/>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400">
                <a:solidFill>
                  <a:schemeClr val="accent6"/>
                </a:solidFill>
              </a:rPr>
              <a:t>What is Logistic Regression</a:t>
            </a:r>
            <a:endParaRPr sz="4400">
              <a:solidFill>
                <a:schemeClr val="accent6"/>
              </a:solidFill>
            </a:endParaRPr>
          </a:p>
        </p:txBody>
      </p:sp>
      <p:sp>
        <p:nvSpPr>
          <p:cNvPr id="504" name="Google Shape;504;p40"/>
          <p:cNvSpPr txBox="1"/>
          <p:nvPr>
            <p:ph idx="1" type="body"/>
          </p:nvPr>
        </p:nvSpPr>
        <p:spPr>
          <a:xfrm>
            <a:off x="457200" y="1295399"/>
            <a:ext cx="8382000" cy="4495800"/>
          </a:xfrm>
          <a:prstGeom prst="rect">
            <a:avLst/>
          </a:prstGeom>
          <a:noFill/>
          <a:ln>
            <a:noFill/>
          </a:ln>
        </p:spPr>
        <p:txBody>
          <a:bodyPr anchorCtr="0" anchor="t" bIns="45700" lIns="91425" spcFirstLastPara="1" rIns="91425" wrap="square" tIns="45700">
            <a:noAutofit/>
          </a:bodyPr>
          <a:lstStyle/>
          <a:p>
            <a:pPr indent="-381000" lvl="0" marL="342900" rtl="0" algn="l">
              <a:spcBef>
                <a:spcPts val="360"/>
              </a:spcBef>
              <a:spcAft>
                <a:spcPts val="0"/>
              </a:spcAft>
              <a:buSzPts val="2400"/>
              <a:buChar char="•"/>
            </a:pPr>
            <a:r>
              <a:rPr lang="en-US" sz="2400"/>
              <a:t>It is used for predicting the categorical dependent variable using a given set of independent variables.</a:t>
            </a:r>
            <a:endParaRPr sz="2600"/>
          </a:p>
          <a:p>
            <a:pPr indent="-381000" lvl="0" marL="342900" rtl="0" algn="l">
              <a:spcBef>
                <a:spcPts val="360"/>
              </a:spcBef>
              <a:spcAft>
                <a:spcPts val="0"/>
              </a:spcAft>
              <a:buSzPts val="2400"/>
              <a:buChar char="•"/>
            </a:pPr>
            <a:r>
              <a:rPr lang="en-US" sz="2400"/>
              <a:t>Logistic regression predicts the output of a categorical dependent variable. Therefore the outcome must be a categorical or discrete value. </a:t>
            </a:r>
            <a:endParaRPr sz="2400"/>
          </a:p>
          <a:p>
            <a:pPr indent="-381000" lvl="0" marL="342900" rtl="0" algn="l">
              <a:spcBef>
                <a:spcPts val="360"/>
              </a:spcBef>
              <a:spcAft>
                <a:spcPts val="0"/>
              </a:spcAft>
              <a:buSzPts val="2400"/>
              <a:buChar char="•"/>
            </a:pPr>
            <a:r>
              <a:rPr lang="en-US" sz="2400"/>
              <a:t>It can be either Yes or No, 0 or 1, true or False, etc. but instead of giving the exact value as 0 and 1, it gives the probabilistic values which lie between 0 and 1.</a:t>
            </a:r>
            <a:endParaRPr sz="2400"/>
          </a:p>
          <a:p>
            <a:pPr indent="-381000" lvl="0" marL="342900" rtl="0" algn="l">
              <a:spcBef>
                <a:spcPts val="360"/>
              </a:spcBef>
              <a:spcAft>
                <a:spcPts val="0"/>
              </a:spcAft>
              <a:buSzPts val="2400"/>
              <a:buChar char="•"/>
            </a:pPr>
            <a:r>
              <a:rPr lang="en-US" sz="2400"/>
              <a:t>Linear Regression is used for solving Regression problems, whereas Logistic regression is used for solving the classification problems.</a:t>
            </a:r>
            <a:endParaRPr sz="2400"/>
          </a:p>
          <a:p>
            <a:pPr indent="0" lvl="0" marL="342900" rtl="0" algn="just">
              <a:spcBef>
                <a:spcPts val="520"/>
              </a:spcBef>
              <a:spcAft>
                <a:spcPts val="0"/>
              </a:spcAft>
              <a:buNone/>
            </a:pPr>
            <a:r>
              <a:t/>
            </a:r>
            <a:endParaRPr sz="2600"/>
          </a:p>
          <a:p>
            <a:pPr indent="-177800" lvl="0" marL="342900" rtl="0" algn="just">
              <a:spcBef>
                <a:spcPts val="520"/>
              </a:spcBef>
              <a:spcAft>
                <a:spcPts val="0"/>
              </a:spcAft>
              <a:buClr>
                <a:schemeClr val="dk1"/>
              </a:buClr>
              <a:buSzPts val="2600"/>
              <a:buFont typeface="Arial"/>
              <a:buNone/>
            </a:pPr>
            <a:r>
              <a:t/>
            </a:r>
            <a:endParaRPr sz="2600"/>
          </a:p>
          <a:p>
            <a:pPr indent="-342900" lvl="0" marL="342900" rtl="0" algn="just">
              <a:spcBef>
                <a:spcPts val="520"/>
              </a:spcBef>
              <a:spcAft>
                <a:spcPts val="0"/>
              </a:spcAft>
              <a:buClr>
                <a:schemeClr val="dk1"/>
              </a:buClr>
              <a:buSzPts val="2600"/>
              <a:buFont typeface="Arial"/>
              <a:buChar char="•"/>
            </a:pPr>
            <a:r>
              <a:t/>
            </a:r>
            <a:endParaRPr sz="2400"/>
          </a:p>
          <a:p>
            <a:pPr indent="-146050" lvl="1" marL="742950" rtl="0" algn="just">
              <a:spcBef>
                <a:spcPts val="440"/>
              </a:spcBef>
              <a:spcAft>
                <a:spcPts val="0"/>
              </a:spcAft>
              <a:buClr>
                <a:schemeClr val="dk1"/>
              </a:buClr>
              <a:buSzPts val="2200"/>
              <a:buFont typeface="Arial"/>
              <a:buNone/>
            </a:pPr>
            <a:r>
              <a:t/>
            </a:r>
            <a:endParaRPr sz="2200"/>
          </a:p>
        </p:txBody>
      </p:sp>
      <p:grpSp>
        <p:nvGrpSpPr>
          <p:cNvPr id="505" name="Google Shape;505;p40"/>
          <p:cNvGrpSpPr/>
          <p:nvPr/>
        </p:nvGrpSpPr>
        <p:grpSpPr>
          <a:xfrm>
            <a:off x="609600" y="533400"/>
            <a:ext cx="303246" cy="303397"/>
            <a:chOff x="703" y="300"/>
            <a:chExt cx="181" cy="181"/>
          </a:xfrm>
        </p:grpSpPr>
        <p:sp>
          <p:nvSpPr>
            <p:cNvPr id="506" name="Google Shape;506;p40"/>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7" name="Google Shape;507;p40"/>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8" name="Google Shape;508;p40"/>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9" name="Google Shape;509;p40"/>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0" name="Google Shape;510;p40"/>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1" name="Google Shape;511;p40"/>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12" name="Google Shape;512;p40"/>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par>
                                <p:cTn fill="hold" nodeType="withEffect" presetClass="emph" presetID="8" presetSubtype="0">
                                  <p:stCondLst>
                                    <p:cond delay="500"/>
                                  </p:stCondLst>
                                  <p:childTnLst>
                                    <p:animRot by="-21600000">
                                      <p:cBhvr>
                                        <p:cTn dur="500" fill="hold"/>
                                        <p:tgtEl>
                                          <p:spTgt spid="50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41"/>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400">
                <a:solidFill>
                  <a:schemeClr val="accent6"/>
                </a:solidFill>
              </a:rPr>
              <a:t>What is Logistic Regression</a:t>
            </a:r>
            <a:endParaRPr sz="4400">
              <a:solidFill>
                <a:schemeClr val="accent6"/>
              </a:solidFill>
            </a:endParaRPr>
          </a:p>
        </p:txBody>
      </p:sp>
      <p:grpSp>
        <p:nvGrpSpPr>
          <p:cNvPr id="519" name="Google Shape;519;p41"/>
          <p:cNvGrpSpPr/>
          <p:nvPr/>
        </p:nvGrpSpPr>
        <p:grpSpPr>
          <a:xfrm>
            <a:off x="609600" y="533400"/>
            <a:ext cx="303246" cy="303397"/>
            <a:chOff x="703" y="300"/>
            <a:chExt cx="181" cy="181"/>
          </a:xfrm>
        </p:grpSpPr>
        <p:sp>
          <p:nvSpPr>
            <p:cNvPr id="520" name="Google Shape;520;p41"/>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1" name="Google Shape;521;p41"/>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2" name="Google Shape;522;p41"/>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3" name="Google Shape;523;p41"/>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4" name="Google Shape;524;p41"/>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5" name="Google Shape;525;p41"/>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26" name="Google Shape;526;p41"/>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Jubayer Al Mahmud\Desktop\1 UgYbimgPXf6XXxMy2yqRLw.png" id="527" name="Google Shape;527;p41"/>
          <p:cNvPicPr preferRelativeResize="0"/>
          <p:nvPr/>
        </p:nvPicPr>
        <p:blipFill rotWithShape="1">
          <a:blip r:embed="rId3">
            <a:alphaModFix/>
          </a:blip>
          <a:srcRect b="0" l="0" r="0" t="0"/>
          <a:stretch/>
        </p:blipFill>
        <p:spPr>
          <a:xfrm>
            <a:off x="762000" y="1676400"/>
            <a:ext cx="7621588" cy="41910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500"/>
                                        <p:tgtEl>
                                          <p:spTgt spid="519"/>
                                        </p:tgtEl>
                                      </p:cBhvr>
                                    </p:animEffect>
                                  </p:childTnLst>
                                </p:cTn>
                              </p:par>
                              <p:par>
                                <p:cTn fill="hold" nodeType="withEffect" presetClass="emph" presetID="8" presetSubtype="0">
                                  <p:stCondLst>
                                    <p:cond delay="500"/>
                                  </p:stCondLst>
                                  <p:childTnLst>
                                    <p:animRot by="-21600000">
                                      <p:cBhvr>
                                        <p:cTn dur="500" fill="hold"/>
                                        <p:tgtEl>
                                          <p:spTgt spid="51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2"/>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400">
                <a:solidFill>
                  <a:schemeClr val="accent6"/>
                </a:solidFill>
              </a:rPr>
              <a:t>Logistic Regression</a:t>
            </a:r>
            <a:endParaRPr sz="4400">
              <a:solidFill>
                <a:schemeClr val="accent6"/>
              </a:solidFill>
            </a:endParaRPr>
          </a:p>
        </p:txBody>
      </p:sp>
      <p:sp>
        <p:nvSpPr>
          <p:cNvPr id="534" name="Google Shape;534;p42"/>
          <p:cNvSpPr txBox="1"/>
          <p:nvPr>
            <p:ph idx="1" type="body"/>
          </p:nvPr>
        </p:nvSpPr>
        <p:spPr>
          <a:xfrm>
            <a:off x="457200" y="1295400"/>
            <a:ext cx="8382000" cy="5730900"/>
          </a:xfrm>
          <a:prstGeom prst="rect">
            <a:avLst/>
          </a:prstGeom>
          <a:noFill/>
          <a:ln>
            <a:noFill/>
          </a:ln>
        </p:spPr>
        <p:txBody>
          <a:bodyPr anchorCtr="0" anchor="t" bIns="45700" lIns="91425" spcFirstLastPara="1" rIns="91425" wrap="square" tIns="45700">
            <a:noAutofit/>
          </a:bodyPr>
          <a:lstStyle/>
          <a:p>
            <a:pPr indent="-381000" lvl="0" marL="342900" rtl="0" algn="l">
              <a:spcBef>
                <a:spcPts val="360"/>
              </a:spcBef>
              <a:spcAft>
                <a:spcPts val="0"/>
              </a:spcAft>
              <a:buSzPts val="2400"/>
              <a:buChar char="•"/>
            </a:pPr>
            <a:r>
              <a:rPr lang="en-US" sz="2400"/>
              <a:t>In Logistic regression, instead of fitting a regression line, we fit an "S" shaped logistic function, which predicts two maximum values (0 or 1).</a:t>
            </a:r>
            <a:endParaRPr sz="2400"/>
          </a:p>
          <a:p>
            <a:pPr indent="-381000" lvl="0" marL="342900" rtl="0" algn="l">
              <a:spcBef>
                <a:spcPts val="360"/>
              </a:spcBef>
              <a:spcAft>
                <a:spcPts val="0"/>
              </a:spcAft>
              <a:buSzPts val="2400"/>
              <a:buChar char="•"/>
            </a:pPr>
            <a:r>
              <a:rPr lang="en-US" sz="2400"/>
              <a:t>The curve from the logistic function indicates the likelihood of something such as whether the cells are cancerous or not, a mouse is obese or not based on its weight, etc.</a:t>
            </a:r>
            <a:endParaRPr sz="2400"/>
          </a:p>
          <a:p>
            <a:pPr indent="-381000" lvl="0" marL="342900" rtl="0" algn="l">
              <a:spcBef>
                <a:spcPts val="360"/>
              </a:spcBef>
              <a:spcAft>
                <a:spcPts val="0"/>
              </a:spcAft>
              <a:buSzPts val="2400"/>
              <a:buChar char="•"/>
            </a:pPr>
            <a:r>
              <a:rPr lang="en-US" sz="2400"/>
              <a:t>Logistic Regression is a significant machine learning algorithm because it has the ability to provide probabilities and classify new data using continuous and discrete datasets.</a:t>
            </a:r>
            <a:endParaRPr sz="2400"/>
          </a:p>
          <a:p>
            <a:pPr indent="-381000" lvl="0" marL="342900" rtl="0" algn="l">
              <a:spcBef>
                <a:spcPts val="360"/>
              </a:spcBef>
              <a:spcAft>
                <a:spcPts val="0"/>
              </a:spcAft>
              <a:buSzPts val="2400"/>
              <a:buChar char="•"/>
            </a:pPr>
            <a:r>
              <a:rPr lang="en-US" sz="2400"/>
              <a:t>Logistic Regression can be used to classify the observations using different types of data and can easily determine the most effective variables used for the classification. </a:t>
            </a:r>
            <a:endParaRPr sz="2400"/>
          </a:p>
          <a:p>
            <a:pPr indent="0" lvl="0" marL="342900" rtl="0" algn="l">
              <a:spcBef>
                <a:spcPts val="360"/>
              </a:spcBef>
              <a:spcAft>
                <a:spcPts val="0"/>
              </a:spcAft>
              <a:buNone/>
            </a:pPr>
            <a:r>
              <a:t/>
            </a:r>
            <a:endParaRPr sz="2400"/>
          </a:p>
        </p:txBody>
      </p:sp>
      <p:grpSp>
        <p:nvGrpSpPr>
          <p:cNvPr id="535" name="Google Shape;535;p42"/>
          <p:cNvGrpSpPr/>
          <p:nvPr/>
        </p:nvGrpSpPr>
        <p:grpSpPr>
          <a:xfrm>
            <a:off x="609600" y="533400"/>
            <a:ext cx="303246" cy="303397"/>
            <a:chOff x="703" y="300"/>
            <a:chExt cx="181" cy="181"/>
          </a:xfrm>
        </p:grpSpPr>
        <p:sp>
          <p:nvSpPr>
            <p:cNvPr id="536" name="Google Shape;536;p42"/>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7" name="Google Shape;537;p42"/>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8" name="Google Shape;538;p42"/>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9" name="Google Shape;539;p42"/>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0" name="Google Shape;540;p42"/>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1" name="Google Shape;541;p42"/>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42" name="Google Shape;542;p42"/>
          <p:cNvSpPr/>
          <p:nvPr/>
        </p:nvSpPr>
        <p:spPr>
          <a:xfrm>
            <a:off x="0" y="5934670"/>
            <a:ext cx="9144000" cy="92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par>
                                <p:cTn fill="hold" nodeType="withEffect" presetClass="emph" presetID="8" presetSubtype="0">
                                  <p:stCondLst>
                                    <p:cond delay="500"/>
                                  </p:stCondLst>
                                  <p:childTnLst>
                                    <p:animRot by="-21600000">
                                      <p:cBhvr>
                                        <p:cTn dur="500" fill="hold"/>
                                        <p:tgtEl>
                                          <p:spTgt spid="53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43"/>
          <p:cNvSpPr txBox="1"/>
          <p:nvPr>
            <p:ph type="title"/>
          </p:nvPr>
        </p:nvSpPr>
        <p:spPr>
          <a:xfrm>
            <a:off x="1010650" y="188925"/>
            <a:ext cx="7665000" cy="10926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sz="3600">
                <a:solidFill>
                  <a:schemeClr val="accent6"/>
                </a:solidFill>
              </a:rPr>
              <a:t>Logistic Regression</a:t>
            </a:r>
            <a:endParaRPr sz="3600">
              <a:solidFill>
                <a:schemeClr val="accent6"/>
              </a:solidFill>
            </a:endParaRPr>
          </a:p>
        </p:txBody>
      </p:sp>
      <p:sp>
        <p:nvSpPr>
          <p:cNvPr id="549" name="Google Shape;549;p43"/>
          <p:cNvSpPr txBox="1"/>
          <p:nvPr>
            <p:ph idx="1" type="body"/>
          </p:nvPr>
        </p:nvSpPr>
        <p:spPr>
          <a:xfrm flipH="1">
            <a:off x="-2167875" y="-3301350"/>
            <a:ext cx="1308300" cy="303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50" name="Google Shape;550;p43"/>
          <p:cNvSpPr txBox="1"/>
          <p:nvPr>
            <p:ph idx="12" type="sldNum"/>
          </p:nvPr>
        </p:nvSpPr>
        <p:spPr>
          <a:xfrm>
            <a:off x="533400" y="6248400"/>
            <a:ext cx="2133600" cy="47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pSp>
        <p:nvGrpSpPr>
          <p:cNvPr id="551" name="Google Shape;551;p43"/>
          <p:cNvGrpSpPr/>
          <p:nvPr/>
        </p:nvGrpSpPr>
        <p:grpSpPr>
          <a:xfrm>
            <a:off x="533401" y="533400"/>
            <a:ext cx="379450" cy="379638"/>
            <a:chOff x="703" y="300"/>
            <a:chExt cx="181" cy="181"/>
          </a:xfrm>
        </p:grpSpPr>
        <p:sp>
          <p:nvSpPr>
            <p:cNvPr id="552" name="Google Shape;552;p43"/>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57175" lIns="114400" spcFirstLastPara="1" rIns="114400" wrap="square" tIns="57175">
              <a:noAutofit/>
            </a:bodyPr>
            <a:lstStyle/>
            <a:p>
              <a:pPr indent="0" lvl="0" marL="0" marR="0" rtl="0" algn="l">
                <a:spcBef>
                  <a:spcPts val="0"/>
                </a:spcBef>
                <a:spcAft>
                  <a:spcPts val="0"/>
                </a:spcAft>
                <a:buNone/>
              </a:pPr>
              <a:r>
                <a:t/>
              </a:r>
              <a:endParaRPr sz="2252">
                <a:solidFill>
                  <a:schemeClr val="dk1"/>
                </a:solidFill>
                <a:latin typeface="Arial"/>
                <a:ea typeface="Arial"/>
                <a:cs typeface="Arial"/>
                <a:sym typeface="Arial"/>
              </a:endParaRPr>
            </a:p>
          </p:txBody>
        </p:sp>
        <p:sp>
          <p:nvSpPr>
            <p:cNvPr id="553" name="Google Shape;553;p43"/>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57175" lIns="114400" spcFirstLastPara="1" rIns="114400" wrap="square" tIns="57175">
              <a:noAutofit/>
            </a:bodyPr>
            <a:lstStyle/>
            <a:p>
              <a:pPr indent="0" lvl="0" marL="0" marR="0" rtl="0" algn="l">
                <a:spcBef>
                  <a:spcPts val="0"/>
                </a:spcBef>
                <a:spcAft>
                  <a:spcPts val="0"/>
                </a:spcAft>
                <a:buNone/>
              </a:pPr>
              <a:r>
                <a:t/>
              </a:r>
              <a:endParaRPr sz="2252">
                <a:solidFill>
                  <a:schemeClr val="dk1"/>
                </a:solidFill>
                <a:latin typeface="Arial"/>
                <a:ea typeface="Arial"/>
                <a:cs typeface="Arial"/>
                <a:sym typeface="Arial"/>
              </a:endParaRPr>
            </a:p>
          </p:txBody>
        </p:sp>
        <p:sp>
          <p:nvSpPr>
            <p:cNvPr id="554" name="Google Shape;554;p43"/>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57175" lIns="114400" spcFirstLastPara="1" rIns="114400" wrap="square" tIns="57175">
              <a:noAutofit/>
            </a:bodyPr>
            <a:lstStyle/>
            <a:p>
              <a:pPr indent="0" lvl="0" marL="0" marR="0" rtl="0" algn="l">
                <a:spcBef>
                  <a:spcPts val="0"/>
                </a:spcBef>
                <a:spcAft>
                  <a:spcPts val="0"/>
                </a:spcAft>
                <a:buNone/>
              </a:pPr>
              <a:r>
                <a:t/>
              </a:r>
              <a:endParaRPr sz="2252">
                <a:solidFill>
                  <a:schemeClr val="dk1"/>
                </a:solidFill>
                <a:latin typeface="Arial"/>
                <a:ea typeface="Arial"/>
                <a:cs typeface="Arial"/>
                <a:sym typeface="Arial"/>
              </a:endParaRPr>
            </a:p>
          </p:txBody>
        </p:sp>
        <p:sp>
          <p:nvSpPr>
            <p:cNvPr id="555" name="Google Shape;555;p43"/>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57175" lIns="114400" spcFirstLastPara="1" rIns="114400" wrap="square" tIns="57175">
              <a:noAutofit/>
            </a:bodyPr>
            <a:lstStyle/>
            <a:p>
              <a:pPr indent="0" lvl="0" marL="0" marR="0" rtl="0" algn="l">
                <a:spcBef>
                  <a:spcPts val="0"/>
                </a:spcBef>
                <a:spcAft>
                  <a:spcPts val="0"/>
                </a:spcAft>
                <a:buNone/>
              </a:pPr>
              <a:r>
                <a:t/>
              </a:r>
              <a:endParaRPr sz="2252">
                <a:solidFill>
                  <a:schemeClr val="dk1"/>
                </a:solidFill>
                <a:latin typeface="Arial"/>
                <a:ea typeface="Arial"/>
                <a:cs typeface="Arial"/>
                <a:sym typeface="Arial"/>
              </a:endParaRPr>
            </a:p>
          </p:txBody>
        </p:sp>
        <p:sp>
          <p:nvSpPr>
            <p:cNvPr id="556" name="Google Shape;556;p43"/>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57175" lIns="114400" spcFirstLastPara="1" rIns="114400" wrap="square" tIns="57175">
              <a:noAutofit/>
            </a:bodyPr>
            <a:lstStyle/>
            <a:p>
              <a:pPr indent="0" lvl="0" marL="0" marR="0" rtl="0" algn="l">
                <a:spcBef>
                  <a:spcPts val="0"/>
                </a:spcBef>
                <a:spcAft>
                  <a:spcPts val="0"/>
                </a:spcAft>
                <a:buNone/>
              </a:pPr>
              <a:r>
                <a:t/>
              </a:r>
              <a:endParaRPr sz="2252">
                <a:solidFill>
                  <a:schemeClr val="dk1"/>
                </a:solidFill>
                <a:latin typeface="Arial"/>
                <a:ea typeface="Arial"/>
                <a:cs typeface="Arial"/>
                <a:sym typeface="Arial"/>
              </a:endParaRPr>
            </a:p>
          </p:txBody>
        </p:sp>
        <p:sp>
          <p:nvSpPr>
            <p:cNvPr id="557" name="Google Shape;557;p43"/>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57175" lIns="114400" spcFirstLastPara="1" rIns="114400" wrap="square" tIns="57175">
              <a:noAutofit/>
            </a:bodyPr>
            <a:lstStyle/>
            <a:p>
              <a:pPr indent="0" lvl="0" marL="0" marR="0" rtl="0" algn="l">
                <a:spcBef>
                  <a:spcPts val="0"/>
                </a:spcBef>
                <a:spcAft>
                  <a:spcPts val="0"/>
                </a:spcAft>
                <a:buNone/>
              </a:pPr>
              <a:r>
                <a:t/>
              </a:r>
              <a:endParaRPr sz="2252">
                <a:solidFill>
                  <a:schemeClr val="dk1"/>
                </a:solidFill>
                <a:latin typeface="Arial"/>
                <a:ea typeface="Arial"/>
                <a:cs typeface="Arial"/>
                <a:sym typeface="Arial"/>
              </a:endParaRPr>
            </a:p>
          </p:txBody>
        </p:sp>
      </p:grpSp>
      <p:pic>
        <p:nvPicPr>
          <p:cNvPr id="558" name="Google Shape;558;p43"/>
          <p:cNvPicPr preferRelativeResize="0"/>
          <p:nvPr/>
        </p:nvPicPr>
        <p:blipFill>
          <a:blip r:embed="rId3">
            <a:alphaModFix/>
          </a:blip>
          <a:stretch>
            <a:fillRect/>
          </a:stretch>
        </p:blipFill>
        <p:spPr>
          <a:xfrm>
            <a:off x="728775" y="2152650"/>
            <a:ext cx="7194375" cy="38831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4"/>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solidFill>
                  <a:schemeClr val="accent6"/>
                </a:solidFill>
              </a:rPr>
              <a:t>Types of Logistic Regression</a:t>
            </a:r>
            <a:endParaRPr sz="4000">
              <a:solidFill>
                <a:schemeClr val="accent6"/>
              </a:solidFill>
            </a:endParaRPr>
          </a:p>
        </p:txBody>
      </p:sp>
      <p:sp>
        <p:nvSpPr>
          <p:cNvPr id="565" name="Google Shape;565;p44"/>
          <p:cNvSpPr txBox="1"/>
          <p:nvPr>
            <p:ph idx="1" type="body"/>
          </p:nvPr>
        </p:nvSpPr>
        <p:spPr>
          <a:xfrm>
            <a:off x="457200" y="1295399"/>
            <a:ext cx="83820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Arial"/>
              <a:buChar char="•"/>
            </a:pPr>
            <a:r>
              <a:rPr lang="en-US" sz="2800"/>
              <a:t>Simple logistic regression</a:t>
            </a:r>
            <a:endParaRPr/>
          </a:p>
          <a:p>
            <a:pPr indent="-285750" lvl="1" marL="742950" rtl="0" algn="l">
              <a:lnSpc>
                <a:spcPct val="90000"/>
              </a:lnSpc>
              <a:spcBef>
                <a:spcPts val="480"/>
              </a:spcBef>
              <a:spcAft>
                <a:spcPts val="0"/>
              </a:spcAft>
              <a:buClr>
                <a:schemeClr val="dk1"/>
              </a:buClr>
              <a:buSzPts val="2400"/>
              <a:buFont typeface="Arial"/>
              <a:buChar char="–"/>
            </a:pPr>
            <a:r>
              <a:rPr lang="en-US" sz="2400"/>
              <a:t>Logistic regression with  </a:t>
            </a:r>
            <a:r>
              <a:rPr lang="en-US" sz="2400">
                <a:solidFill>
                  <a:srgbClr val="024069"/>
                </a:solidFill>
              </a:rPr>
              <a:t>1 predictor variable</a:t>
            </a:r>
            <a:endParaRPr/>
          </a:p>
          <a:p>
            <a:pPr indent="-342900" lvl="0" marL="342900" rtl="0" algn="l">
              <a:lnSpc>
                <a:spcPct val="90000"/>
              </a:lnSpc>
              <a:spcBef>
                <a:spcPts val="560"/>
              </a:spcBef>
              <a:spcAft>
                <a:spcPts val="0"/>
              </a:spcAft>
              <a:buClr>
                <a:schemeClr val="dk1"/>
              </a:buClr>
              <a:buSzPts val="2800"/>
              <a:buFont typeface="Arial"/>
              <a:buNone/>
            </a:pPr>
            <a:r>
              <a:t/>
            </a:r>
            <a:endParaRPr sz="2800"/>
          </a:p>
          <a:p>
            <a:pPr indent="-342900" lvl="0" marL="342900" rtl="0" algn="l">
              <a:lnSpc>
                <a:spcPct val="90000"/>
              </a:lnSpc>
              <a:spcBef>
                <a:spcPts val="560"/>
              </a:spcBef>
              <a:spcAft>
                <a:spcPts val="0"/>
              </a:spcAft>
              <a:buClr>
                <a:schemeClr val="dk1"/>
              </a:buClr>
              <a:buSzPts val="2800"/>
              <a:buFont typeface="Arial"/>
              <a:buChar char="•"/>
            </a:pPr>
            <a:r>
              <a:rPr lang="en-US" sz="2800"/>
              <a:t>Multiple logistic regression</a:t>
            </a:r>
            <a:endParaRPr/>
          </a:p>
          <a:p>
            <a:pPr indent="-285750" lvl="1" marL="742950" rtl="0" algn="l">
              <a:lnSpc>
                <a:spcPct val="90000"/>
              </a:lnSpc>
              <a:spcBef>
                <a:spcPts val="480"/>
              </a:spcBef>
              <a:spcAft>
                <a:spcPts val="0"/>
              </a:spcAft>
              <a:buClr>
                <a:schemeClr val="dk1"/>
              </a:buClr>
              <a:buSzPts val="2400"/>
              <a:buFont typeface="Arial"/>
              <a:buChar char="–"/>
            </a:pPr>
            <a:r>
              <a:rPr lang="en-US" sz="2400"/>
              <a:t>Logistic regression with </a:t>
            </a:r>
            <a:r>
              <a:rPr lang="en-US" sz="2400">
                <a:solidFill>
                  <a:srgbClr val="024069"/>
                </a:solidFill>
              </a:rPr>
              <a:t>multiple predictor variables</a:t>
            </a:r>
            <a:endParaRPr/>
          </a:p>
          <a:p>
            <a:pPr indent="-285750" lvl="1" marL="742950" rtl="0" algn="l">
              <a:lnSpc>
                <a:spcPct val="90000"/>
              </a:lnSpc>
              <a:spcBef>
                <a:spcPts val="480"/>
              </a:spcBef>
              <a:spcAft>
                <a:spcPts val="0"/>
              </a:spcAft>
              <a:buClr>
                <a:schemeClr val="dk1"/>
              </a:buClr>
              <a:buSzPts val="2400"/>
              <a:buFont typeface="Arial"/>
              <a:buChar char="–"/>
            </a:pPr>
            <a:r>
              <a:rPr lang="en-US" sz="2400"/>
              <a:t>Also known as </a:t>
            </a:r>
            <a:r>
              <a:rPr lang="en-US" sz="2400">
                <a:solidFill>
                  <a:srgbClr val="024069"/>
                </a:solidFill>
              </a:rPr>
              <a:t>multivariable</a:t>
            </a:r>
            <a:r>
              <a:rPr lang="en-US" sz="2400"/>
              <a:t> logistic regression or  </a:t>
            </a:r>
            <a:r>
              <a:rPr lang="en-US" sz="2400">
                <a:solidFill>
                  <a:srgbClr val="024069"/>
                </a:solidFill>
              </a:rPr>
              <a:t>multivariate</a:t>
            </a:r>
            <a:r>
              <a:rPr lang="en-US" sz="2400"/>
              <a:t> logistic regression</a:t>
            </a:r>
            <a:endParaRPr/>
          </a:p>
          <a:p>
            <a:pPr indent="-165100" lvl="0" marL="342900" rtl="0" algn="just">
              <a:spcBef>
                <a:spcPts val="560"/>
              </a:spcBef>
              <a:spcAft>
                <a:spcPts val="0"/>
              </a:spcAft>
              <a:buClr>
                <a:schemeClr val="dk1"/>
              </a:buClr>
              <a:buSzPts val="2800"/>
              <a:buFont typeface="Arial"/>
              <a:buNone/>
            </a:pPr>
            <a:r>
              <a:t/>
            </a:r>
            <a:endParaRPr sz="2800"/>
          </a:p>
        </p:txBody>
      </p:sp>
      <p:grpSp>
        <p:nvGrpSpPr>
          <p:cNvPr id="566" name="Google Shape;566;p44"/>
          <p:cNvGrpSpPr/>
          <p:nvPr/>
        </p:nvGrpSpPr>
        <p:grpSpPr>
          <a:xfrm>
            <a:off x="609600" y="533400"/>
            <a:ext cx="303246" cy="303397"/>
            <a:chOff x="703" y="300"/>
            <a:chExt cx="181" cy="181"/>
          </a:xfrm>
        </p:grpSpPr>
        <p:sp>
          <p:nvSpPr>
            <p:cNvPr id="567" name="Google Shape;567;p44"/>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8" name="Google Shape;568;p44"/>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9" name="Google Shape;569;p44"/>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0" name="Google Shape;570;p44"/>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1" name="Google Shape;571;p44"/>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2" name="Google Shape;572;p44"/>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73" name="Google Shape;573;p44"/>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500"/>
                                        <p:tgtEl>
                                          <p:spTgt spid="566"/>
                                        </p:tgtEl>
                                      </p:cBhvr>
                                    </p:animEffect>
                                  </p:childTnLst>
                                </p:cTn>
                              </p:par>
                              <p:par>
                                <p:cTn fill="hold" nodeType="withEffect" presetClass="emph" presetID="8" presetSubtype="0">
                                  <p:stCondLst>
                                    <p:cond delay="500"/>
                                  </p:stCondLst>
                                  <p:childTnLst>
                                    <p:animRot by="-21600000">
                                      <p:cBhvr>
                                        <p:cTn dur="500" fill="hold"/>
                                        <p:tgtEl>
                                          <p:spTgt spid="56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graphicFrame>
        <p:nvGraphicFramePr>
          <p:cNvPr id="579" name="Google Shape;579;p45"/>
          <p:cNvGraphicFramePr/>
          <p:nvPr/>
        </p:nvGraphicFramePr>
        <p:xfrm>
          <a:off x="320800" y="1544100"/>
          <a:ext cx="3000000" cy="3000000"/>
        </p:xfrm>
        <a:graphic>
          <a:graphicData uri="http://schemas.openxmlformats.org/drawingml/2006/table">
            <a:tbl>
              <a:tblPr bandRow="1" firstRow="1">
                <a:gradFill>
                  <a:gsLst>
                    <a:gs pos="0">
                      <a:srgbClr val="AEBAD2"/>
                    </a:gs>
                    <a:gs pos="35000">
                      <a:srgbClr val="C8CEDD"/>
                    </a:gs>
                    <a:gs pos="100000">
                      <a:srgbClr val="E9ECF3"/>
                    </a:gs>
                  </a:gsLst>
                  <a:lin ang="16200038" scaled="0"/>
                </a:gradFill>
                <a:tableStyleId>{8694A9E0-6B95-4370-AB2E-98FAD7E9ECE4}</a:tableStyleId>
              </a:tblPr>
              <a:tblGrid>
                <a:gridCol w="4223975"/>
                <a:gridCol w="4223975"/>
              </a:tblGrid>
              <a:tr h="485575">
                <a:tc>
                  <a:txBody>
                    <a:bodyPr/>
                    <a:lstStyle/>
                    <a:p>
                      <a:pPr indent="0" lvl="0" marL="0" marR="0" rtl="0" algn="ctr">
                        <a:spcBef>
                          <a:spcPts val="0"/>
                        </a:spcBef>
                        <a:spcAft>
                          <a:spcPts val="0"/>
                        </a:spcAft>
                        <a:buNone/>
                      </a:pPr>
                      <a:r>
                        <a:rPr lang="en-US" sz="2400" u="none" cap="none" strike="noStrike"/>
                        <a:t>Linear Regression</a:t>
                      </a:r>
                      <a:endParaRPr sz="2400" u="none" cap="none" strike="noStrike"/>
                    </a:p>
                  </a:txBody>
                  <a:tcPr marT="45725" marB="45725" marR="91450" marL="91450"/>
                </a:tc>
                <a:tc>
                  <a:txBody>
                    <a:bodyPr/>
                    <a:lstStyle/>
                    <a:p>
                      <a:pPr indent="0" lvl="0" marL="0" marR="0" rtl="0" algn="ctr">
                        <a:spcBef>
                          <a:spcPts val="0"/>
                        </a:spcBef>
                        <a:spcAft>
                          <a:spcPts val="0"/>
                        </a:spcAft>
                        <a:buNone/>
                      </a:pPr>
                      <a:r>
                        <a:rPr lang="en-US" sz="2400" u="none" cap="none" strike="noStrike"/>
                        <a:t>Logistic Regression</a:t>
                      </a:r>
                      <a:endParaRPr sz="2400" u="none" cap="none" strike="noStrike"/>
                    </a:p>
                  </a:txBody>
                  <a:tcPr marT="45725" marB="45725" marR="91450" marL="91450"/>
                </a:tc>
              </a:tr>
              <a:tr h="1114025">
                <a:tc>
                  <a:txBody>
                    <a:bodyPr/>
                    <a:lstStyle/>
                    <a:p>
                      <a:pPr indent="0" lvl="0" marL="0" marR="0" rtl="0" algn="l">
                        <a:spcBef>
                          <a:spcPts val="0"/>
                        </a:spcBef>
                        <a:spcAft>
                          <a:spcPts val="0"/>
                        </a:spcAft>
                        <a:buNone/>
                      </a:pPr>
                      <a:r>
                        <a:rPr lang="en-US" sz="1500" u="none" cap="none" strike="noStrike"/>
                        <a:t>A linear approach that models the relationship between a dependent variable and one or more independent variables.</a:t>
                      </a:r>
                      <a:endParaRPr sz="1500"/>
                    </a:p>
                  </a:txBody>
                  <a:tcPr marT="45725" marB="45725" marR="91450" marL="91450"/>
                </a:tc>
                <a:tc>
                  <a:txBody>
                    <a:bodyPr/>
                    <a:lstStyle/>
                    <a:p>
                      <a:pPr indent="0" lvl="0" marL="0" marR="0" rtl="0" algn="l">
                        <a:spcBef>
                          <a:spcPts val="0"/>
                        </a:spcBef>
                        <a:spcAft>
                          <a:spcPts val="0"/>
                        </a:spcAft>
                        <a:buNone/>
                      </a:pPr>
                      <a:r>
                        <a:rPr lang="en-US" sz="1500"/>
                        <a:t>A statistical</a:t>
                      </a:r>
                      <a:r>
                        <a:rPr lang="en-US" sz="1500"/>
                        <a:t> model that predicts the probability of an outcome that can only have two values.</a:t>
                      </a:r>
                      <a:endParaRPr sz="1500"/>
                    </a:p>
                  </a:txBody>
                  <a:tcPr marT="45725" marB="45725" marR="91450" marL="91450"/>
                </a:tc>
              </a:tr>
              <a:tr h="599850">
                <a:tc>
                  <a:txBody>
                    <a:bodyPr/>
                    <a:lstStyle/>
                    <a:p>
                      <a:pPr indent="0" lvl="0" marL="0" marR="0" rtl="0" algn="l">
                        <a:spcBef>
                          <a:spcPts val="0"/>
                        </a:spcBef>
                        <a:spcAft>
                          <a:spcPts val="0"/>
                        </a:spcAft>
                        <a:buNone/>
                      </a:pPr>
                      <a:r>
                        <a:rPr lang="en-US" sz="1500"/>
                        <a:t>Used to solve</a:t>
                      </a:r>
                      <a:r>
                        <a:rPr lang="en-US" sz="1500"/>
                        <a:t> regression problems</a:t>
                      </a:r>
                      <a:endParaRPr sz="1500"/>
                    </a:p>
                  </a:txBody>
                  <a:tcPr marT="45725" marB="45725" marR="91450" marL="91450"/>
                </a:tc>
                <a:tc>
                  <a:txBody>
                    <a:bodyPr/>
                    <a:lstStyle/>
                    <a:p>
                      <a:pPr indent="0" lvl="0" marL="0" marR="0" rtl="0" algn="l">
                        <a:spcBef>
                          <a:spcPts val="0"/>
                        </a:spcBef>
                        <a:spcAft>
                          <a:spcPts val="0"/>
                        </a:spcAft>
                        <a:buNone/>
                      </a:pPr>
                      <a:r>
                        <a:rPr lang="en-US" sz="1500"/>
                        <a:t>Used to</a:t>
                      </a:r>
                      <a:r>
                        <a:rPr lang="en-US" sz="1500"/>
                        <a:t> solve classification problems (binary classification).</a:t>
                      </a:r>
                      <a:endParaRPr sz="1500"/>
                    </a:p>
                  </a:txBody>
                  <a:tcPr marT="45725" marB="45725" marR="91450" marL="91450"/>
                </a:tc>
              </a:tr>
              <a:tr h="856925">
                <a:tc>
                  <a:txBody>
                    <a:bodyPr/>
                    <a:lstStyle/>
                    <a:p>
                      <a:pPr indent="0" lvl="0" marL="0" marR="0" rtl="0" algn="l">
                        <a:spcBef>
                          <a:spcPts val="0"/>
                        </a:spcBef>
                        <a:spcAft>
                          <a:spcPts val="0"/>
                        </a:spcAft>
                        <a:buNone/>
                      </a:pPr>
                      <a:r>
                        <a:rPr lang="en-US" sz="1500"/>
                        <a:t>Estimates the dependent variable when there is a change in the</a:t>
                      </a:r>
                      <a:r>
                        <a:rPr lang="en-US" sz="1500"/>
                        <a:t> independent variable.</a:t>
                      </a:r>
                      <a:endParaRPr sz="1500"/>
                    </a:p>
                  </a:txBody>
                  <a:tcPr marT="45725" marB="45725" marR="91450" marL="91450"/>
                </a:tc>
                <a:tc>
                  <a:txBody>
                    <a:bodyPr/>
                    <a:lstStyle/>
                    <a:p>
                      <a:pPr indent="0" lvl="0" marL="0" marR="0" rtl="0" algn="l">
                        <a:spcBef>
                          <a:spcPts val="0"/>
                        </a:spcBef>
                        <a:spcAft>
                          <a:spcPts val="0"/>
                        </a:spcAft>
                        <a:buNone/>
                      </a:pPr>
                      <a:r>
                        <a:rPr lang="en-US" sz="1500"/>
                        <a:t>Calculates</a:t>
                      </a:r>
                      <a:r>
                        <a:rPr lang="en-US" sz="1500"/>
                        <a:t> the possibility of an event occurring.</a:t>
                      </a:r>
                      <a:endParaRPr sz="1500"/>
                    </a:p>
                  </a:txBody>
                  <a:tcPr marT="45725" marB="45725" marR="91450" marL="91450"/>
                </a:tc>
              </a:tr>
              <a:tr h="342775">
                <a:tc>
                  <a:txBody>
                    <a:bodyPr/>
                    <a:lstStyle/>
                    <a:p>
                      <a:pPr indent="0" lvl="0" marL="0" marR="0" rtl="0" algn="l">
                        <a:spcBef>
                          <a:spcPts val="0"/>
                        </a:spcBef>
                        <a:spcAft>
                          <a:spcPts val="0"/>
                        </a:spcAft>
                        <a:buNone/>
                      </a:pPr>
                      <a:r>
                        <a:rPr lang="en-US" sz="1500"/>
                        <a:t>Output value is continuous.</a:t>
                      </a:r>
                      <a:endParaRPr sz="1500"/>
                    </a:p>
                  </a:txBody>
                  <a:tcPr marT="45725" marB="45725" marR="91450" marL="91450"/>
                </a:tc>
                <a:tc>
                  <a:txBody>
                    <a:bodyPr/>
                    <a:lstStyle/>
                    <a:p>
                      <a:pPr indent="0" lvl="0" marL="0" marR="0" rtl="0" algn="l">
                        <a:spcBef>
                          <a:spcPts val="0"/>
                        </a:spcBef>
                        <a:spcAft>
                          <a:spcPts val="0"/>
                        </a:spcAft>
                        <a:buNone/>
                      </a:pPr>
                      <a:r>
                        <a:rPr lang="en-US" sz="1500"/>
                        <a:t>Output value is discrete.</a:t>
                      </a:r>
                      <a:endParaRPr sz="1500"/>
                    </a:p>
                  </a:txBody>
                  <a:tcPr marT="45725" marB="45725" marR="91450" marL="91450"/>
                </a:tc>
              </a:tr>
              <a:tr h="342775">
                <a:tc>
                  <a:txBody>
                    <a:bodyPr/>
                    <a:lstStyle/>
                    <a:p>
                      <a:pPr indent="0" lvl="0" marL="0" marR="0" rtl="0" algn="l">
                        <a:lnSpc>
                          <a:spcPct val="100000"/>
                        </a:lnSpc>
                        <a:spcBef>
                          <a:spcPts val="0"/>
                        </a:spcBef>
                        <a:spcAft>
                          <a:spcPts val="0"/>
                        </a:spcAft>
                        <a:buClr>
                          <a:schemeClr val="dk1"/>
                        </a:buClr>
                        <a:buSzPts val="1800"/>
                        <a:buFont typeface="Arial"/>
                        <a:buNone/>
                      </a:pPr>
                      <a:r>
                        <a:rPr lang="en-US" sz="1500"/>
                        <a:t>Uses a straight line.</a:t>
                      </a:r>
                      <a:endParaRPr sz="1100"/>
                    </a:p>
                  </a:txBody>
                  <a:tcPr marT="45725" marB="45725" marR="91450" marL="91450"/>
                </a:tc>
                <a:tc>
                  <a:txBody>
                    <a:bodyPr/>
                    <a:lstStyle/>
                    <a:p>
                      <a:pPr indent="0" lvl="0" marL="0" marR="0" rtl="0" algn="l">
                        <a:spcBef>
                          <a:spcPts val="0"/>
                        </a:spcBef>
                        <a:spcAft>
                          <a:spcPts val="0"/>
                        </a:spcAft>
                        <a:buNone/>
                      </a:pPr>
                      <a:r>
                        <a:rPr lang="en-US" sz="1500"/>
                        <a:t>Uses an S curve or sigmoid function.</a:t>
                      </a:r>
                      <a:endParaRPr sz="1500"/>
                    </a:p>
                  </a:txBody>
                  <a:tcPr marT="45725" marB="45725" marR="91450" marL="91450"/>
                </a:tc>
              </a:tr>
              <a:tr h="1371100">
                <a:tc>
                  <a:txBody>
                    <a:bodyPr/>
                    <a:lstStyle/>
                    <a:p>
                      <a:pPr indent="0" lvl="0" marL="0" marR="0" rtl="0" algn="l">
                        <a:lnSpc>
                          <a:spcPct val="100000"/>
                        </a:lnSpc>
                        <a:spcBef>
                          <a:spcPts val="0"/>
                        </a:spcBef>
                        <a:spcAft>
                          <a:spcPts val="0"/>
                        </a:spcAft>
                        <a:buClr>
                          <a:schemeClr val="dk1"/>
                        </a:buClr>
                        <a:buSzPts val="1800"/>
                        <a:buFont typeface="Arial"/>
                        <a:buNone/>
                      </a:pPr>
                      <a:r>
                        <a:rPr lang="en-US" sz="1500"/>
                        <a:t>Example: predicting</a:t>
                      </a:r>
                      <a:r>
                        <a:rPr lang="en-US" sz="1500"/>
                        <a:t> the GDP of a country, predicting product price, predicting the house selling price, score prediction.</a:t>
                      </a:r>
                      <a:endParaRPr sz="1500"/>
                    </a:p>
                    <a:p>
                      <a:pPr indent="0" lvl="0" marL="0" marR="0" rtl="0" algn="l">
                        <a:lnSpc>
                          <a:spcPct val="100000"/>
                        </a:lnSpc>
                        <a:spcBef>
                          <a:spcPts val="0"/>
                        </a:spcBef>
                        <a:spcAft>
                          <a:spcPts val="0"/>
                        </a:spcAft>
                        <a:buClr>
                          <a:schemeClr val="dk1"/>
                        </a:buClr>
                        <a:buSzPts val="1800"/>
                        <a:buFont typeface="Arial"/>
                        <a:buNone/>
                      </a:pPr>
                      <a:r>
                        <a:t/>
                      </a:r>
                      <a:endParaRPr sz="1500"/>
                    </a:p>
                  </a:txBody>
                  <a:tcPr marT="45725" marB="45725" marR="91450" marL="91450"/>
                </a:tc>
                <a:tc>
                  <a:txBody>
                    <a:bodyPr/>
                    <a:lstStyle/>
                    <a:p>
                      <a:pPr indent="0" lvl="0" marL="0" marR="0" rtl="0" algn="l">
                        <a:spcBef>
                          <a:spcPts val="0"/>
                        </a:spcBef>
                        <a:spcAft>
                          <a:spcPts val="0"/>
                        </a:spcAft>
                        <a:buNone/>
                      </a:pPr>
                      <a:r>
                        <a:rPr lang="en-US" sz="1500"/>
                        <a:t>Example:</a:t>
                      </a:r>
                      <a:r>
                        <a:rPr lang="en-US" sz="1500"/>
                        <a:t> Predicting whether an email is spam or not, whether a credit card transaction is fraud or not, whether a customer will take a loan or not.</a:t>
                      </a:r>
                      <a:endParaRPr sz="1500"/>
                    </a:p>
                  </a:txBody>
                  <a:tcPr marT="45725" marB="45725" marR="91450" marL="91450"/>
                </a:tc>
              </a:tr>
            </a:tbl>
          </a:graphicData>
        </a:graphic>
      </p:graphicFrame>
      <p:sp>
        <p:nvSpPr>
          <p:cNvPr id="580" name="Google Shape;580;p45"/>
          <p:cNvSpPr txBox="1"/>
          <p:nvPr>
            <p:ph type="title"/>
          </p:nvPr>
        </p:nvSpPr>
        <p:spPr>
          <a:xfrm>
            <a:off x="990600" y="228600"/>
            <a:ext cx="80511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3300">
                <a:solidFill>
                  <a:schemeClr val="accent6"/>
                </a:solidFill>
              </a:rPr>
              <a:t>Linear Regression vs Logistic Regression</a:t>
            </a:r>
            <a:endParaRPr sz="3300">
              <a:solidFill>
                <a:schemeClr val="accent6"/>
              </a:solidFill>
            </a:endParaRPr>
          </a:p>
        </p:txBody>
      </p:sp>
      <p:grpSp>
        <p:nvGrpSpPr>
          <p:cNvPr id="581" name="Google Shape;581;p45"/>
          <p:cNvGrpSpPr/>
          <p:nvPr/>
        </p:nvGrpSpPr>
        <p:grpSpPr>
          <a:xfrm>
            <a:off x="320801" y="551450"/>
            <a:ext cx="483750" cy="483989"/>
            <a:chOff x="703" y="300"/>
            <a:chExt cx="181" cy="181"/>
          </a:xfrm>
        </p:grpSpPr>
        <p:sp>
          <p:nvSpPr>
            <p:cNvPr id="582" name="Google Shape;582;p4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72900" lIns="145850" spcFirstLastPara="1" rIns="145850" wrap="square" tIns="72900">
              <a:noAutofit/>
            </a:bodyPr>
            <a:lstStyle/>
            <a:p>
              <a:pPr indent="0" lvl="0" marL="0" marR="0" rtl="0" algn="l">
                <a:spcBef>
                  <a:spcPts val="0"/>
                </a:spcBef>
                <a:spcAft>
                  <a:spcPts val="0"/>
                </a:spcAft>
                <a:buNone/>
              </a:pPr>
              <a:r>
                <a:t/>
              </a:r>
              <a:endParaRPr sz="2871">
                <a:solidFill>
                  <a:schemeClr val="dk1"/>
                </a:solidFill>
                <a:latin typeface="Arial"/>
                <a:ea typeface="Arial"/>
                <a:cs typeface="Arial"/>
                <a:sym typeface="Arial"/>
              </a:endParaRPr>
            </a:p>
          </p:txBody>
        </p:sp>
        <p:sp>
          <p:nvSpPr>
            <p:cNvPr id="583" name="Google Shape;583;p4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72900" lIns="145850" spcFirstLastPara="1" rIns="145850" wrap="square" tIns="72900">
              <a:noAutofit/>
            </a:bodyPr>
            <a:lstStyle/>
            <a:p>
              <a:pPr indent="0" lvl="0" marL="0" marR="0" rtl="0" algn="l">
                <a:spcBef>
                  <a:spcPts val="0"/>
                </a:spcBef>
                <a:spcAft>
                  <a:spcPts val="0"/>
                </a:spcAft>
                <a:buNone/>
              </a:pPr>
              <a:r>
                <a:t/>
              </a:r>
              <a:endParaRPr sz="2871">
                <a:solidFill>
                  <a:schemeClr val="dk1"/>
                </a:solidFill>
                <a:latin typeface="Arial"/>
                <a:ea typeface="Arial"/>
                <a:cs typeface="Arial"/>
                <a:sym typeface="Arial"/>
              </a:endParaRPr>
            </a:p>
          </p:txBody>
        </p:sp>
        <p:sp>
          <p:nvSpPr>
            <p:cNvPr id="584" name="Google Shape;584;p4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72900" lIns="145850" spcFirstLastPara="1" rIns="145850" wrap="square" tIns="72900">
              <a:noAutofit/>
            </a:bodyPr>
            <a:lstStyle/>
            <a:p>
              <a:pPr indent="0" lvl="0" marL="0" marR="0" rtl="0" algn="l">
                <a:spcBef>
                  <a:spcPts val="0"/>
                </a:spcBef>
                <a:spcAft>
                  <a:spcPts val="0"/>
                </a:spcAft>
                <a:buNone/>
              </a:pPr>
              <a:r>
                <a:t/>
              </a:r>
              <a:endParaRPr sz="2871">
                <a:solidFill>
                  <a:schemeClr val="dk1"/>
                </a:solidFill>
                <a:latin typeface="Arial"/>
                <a:ea typeface="Arial"/>
                <a:cs typeface="Arial"/>
                <a:sym typeface="Arial"/>
              </a:endParaRPr>
            </a:p>
          </p:txBody>
        </p:sp>
        <p:sp>
          <p:nvSpPr>
            <p:cNvPr id="585" name="Google Shape;585;p4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72900" lIns="145850" spcFirstLastPara="1" rIns="145850" wrap="square" tIns="72900">
              <a:noAutofit/>
            </a:bodyPr>
            <a:lstStyle/>
            <a:p>
              <a:pPr indent="0" lvl="0" marL="0" marR="0" rtl="0" algn="l">
                <a:spcBef>
                  <a:spcPts val="0"/>
                </a:spcBef>
                <a:spcAft>
                  <a:spcPts val="0"/>
                </a:spcAft>
                <a:buNone/>
              </a:pPr>
              <a:r>
                <a:t/>
              </a:r>
              <a:endParaRPr sz="2871">
                <a:solidFill>
                  <a:schemeClr val="dk1"/>
                </a:solidFill>
                <a:latin typeface="Arial"/>
                <a:ea typeface="Arial"/>
                <a:cs typeface="Arial"/>
                <a:sym typeface="Arial"/>
              </a:endParaRPr>
            </a:p>
          </p:txBody>
        </p:sp>
        <p:sp>
          <p:nvSpPr>
            <p:cNvPr id="586" name="Google Shape;586;p4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72900" lIns="145850" spcFirstLastPara="1" rIns="145850" wrap="square" tIns="72900">
              <a:noAutofit/>
            </a:bodyPr>
            <a:lstStyle/>
            <a:p>
              <a:pPr indent="0" lvl="0" marL="0" marR="0" rtl="0" algn="l">
                <a:spcBef>
                  <a:spcPts val="0"/>
                </a:spcBef>
                <a:spcAft>
                  <a:spcPts val="0"/>
                </a:spcAft>
                <a:buNone/>
              </a:pPr>
              <a:r>
                <a:t/>
              </a:r>
              <a:endParaRPr sz="2871">
                <a:solidFill>
                  <a:schemeClr val="dk1"/>
                </a:solidFill>
                <a:latin typeface="Arial"/>
                <a:ea typeface="Arial"/>
                <a:cs typeface="Arial"/>
                <a:sym typeface="Arial"/>
              </a:endParaRPr>
            </a:p>
          </p:txBody>
        </p:sp>
        <p:sp>
          <p:nvSpPr>
            <p:cNvPr id="587" name="Google Shape;587;p4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72900" lIns="145850" spcFirstLastPara="1" rIns="145850" wrap="square" tIns="72900">
              <a:noAutofit/>
            </a:bodyPr>
            <a:lstStyle/>
            <a:p>
              <a:pPr indent="0" lvl="0" marL="0" marR="0" rtl="0" algn="l">
                <a:spcBef>
                  <a:spcPts val="0"/>
                </a:spcBef>
                <a:spcAft>
                  <a:spcPts val="0"/>
                </a:spcAft>
                <a:buNone/>
              </a:pPr>
              <a:r>
                <a:t/>
              </a:r>
              <a:endParaRPr sz="2871">
                <a:solidFill>
                  <a:schemeClr val="dk1"/>
                </a:solidFill>
                <a:latin typeface="Arial"/>
                <a:ea typeface="Arial"/>
                <a:cs typeface="Arial"/>
                <a:sym typeface="Arial"/>
              </a:endParaRPr>
            </a:p>
          </p:txBody>
        </p:sp>
      </p:gr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par>
                                <p:cTn fill="hold" nodeType="withEffect" presetClass="emph" presetID="8" presetSubtype="0">
                                  <p:stCondLst>
                                    <p:cond delay="500"/>
                                  </p:stCondLst>
                                  <p:childTnLst>
                                    <p:animRot by="-21600000">
                                      <p:cBhvr>
                                        <p:cTn dur="500" fill="hold"/>
                                        <p:tgtEl>
                                          <p:spTgt spid="58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6"/>
          <p:cNvSpPr txBox="1"/>
          <p:nvPr>
            <p:ph type="title"/>
          </p:nvPr>
        </p:nvSpPr>
        <p:spPr>
          <a:xfrm>
            <a:off x="674700" y="188925"/>
            <a:ext cx="8294700" cy="1074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300">
                <a:solidFill>
                  <a:schemeClr val="accent6"/>
                </a:solidFill>
              </a:rPr>
              <a:t>How Logistic Regression Work (Intuition)</a:t>
            </a:r>
            <a:endParaRPr sz="3300">
              <a:solidFill>
                <a:schemeClr val="accent6"/>
              </a:solidFill>
            </a:endParaRPr>
          </a:p>
        </p:txBody>
      </p:sp>
      <p:sp>
        <p:nvSpPr>
          <p:cNvPr id="594" name="Google Shape;594;p46"/>
          <p:cNvSpPr txBox="1"/>
          <p:nvPr>
            <p:ph idx="12" type="sldNum"/>
          </p:nvPr>
        </p:nvSpPr>
        <p:spPr>
          <a:xfrm>
            <a:off x="533400" y="6248400"/>
            <a:ext cx="2133600" cy="47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id="595" name="Google Shape;595;p46"/>
          <p:cNvPicPr preferRelativeResize="0"/>
          <p:nvPr/>
        </p:nvPicPr>
        <p:blipFill>
          <a:blip r:embed="rId3">
            <a:alphaModFix/>
          </a:blip>
          <a:stretch>
            <a:fillRect/>
          </a:stretch>
        </p:blipFill>
        <p:spPr>
          <a:xfrm>
            <a:off x="533400" y="1181100"/>
            <a:ext cx="8001000" cy="4838700"/>
          </a:xfrm>
          <a:prstGeom prst="rect">
            <a:avLst/>
          </a:prstGeom>
          <a:noFill/>
          <a:ln>
            <a:noFill/>
          </a:ln>
        </p:spPr>
      </p:pic>
      <p:grpSp>
        <p:nvGrpSpPr>
          <p:cNvPr id="596" name="Google Shape;596;p46"/>
          <p:cNvGrpSpPr/>
          <p:nvPr/>
        </p:nvGrpSpPr>
        <p:grpSpPr>
          <a:xfrm>
            <a:off x="129862" y="418975"/>
            <a:ext cx="476164" cy="476400"/>
            <a:chOff x="703" y="300"/>
            <a:chExt cx="181" cy="181"/>
          </a:xfrm>
        </p:grpSpPr>
        <p:sp>
          <p:nvSpPr>
            <p:cNvPr id="597" name="Google Shape;597;p46"/>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71750" lIns="143550" spcFirstLastPara="1" rIns="143550" wrap="square" tIns="71750">
              <a:noAutofit/>
            </a:bodyPr>
            <a:lstStyle/>
            <a:p>
              <a:pPr indent="0" lvl="0" marL="0" marR="0" rtl="0" algn="l">
                <a:spcBef>
                  <a:spcPts val="0"/>
                </a:spcBef>
                <a:spcAft>
                  <a:spcPts val="0"/>
                </a:spcAft>
                <a:buNone/>
              </a:pPr>
              <a:r>
                <a:t/>
              </a:r>
              <a:endParaRPr sz="2826">
                <a:solidFill>
                  <a:schemeClr val="dk1"/>
                </a:solidFill>
                <a:latin typeface="Arial"/>
                <a:ea typeface="Arial"/>
                <a:cs typeface="Arial"/>
                <a:sym typeface="Arial"/>
              </a:endParaRPr>
            </a:p>
          </p:txBody>
        </p:sp>
        <p:sp>
          <p:nvSpPr>
            <p:cNvPr id="598" name="Google Shape;598;p46"/>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71750" lIns="143550" spcFirstLastPara="1" rIns="143550" wrap="square" tIns="71750">
              <a:noAutofit/>
            </a:bodyPr>
            <a:lstStyle/>
            <a:p>
              <a:pPr indent="0" lvl="0" marL="0" marR="0" rtl="0" algn="l">
                <a:spcBef>
                  <a:spcPts val="0"/>
                </a:spcBef>
                <a:spcAft>
                  <a:spcPts val="0"/>
                </a:spcAft>
                <a:buNone/>
              </a:pPr>
              <a:r>
                <a:t/>
              </a:r>
              <a:endParaRPr sz="2826">
                <a:solidFill>
                  <a:schemeClr val="dk1"/>
                </a:solidFill>
                <a:latin typeface="Arial"/>
                <a:ea typeface="Arial"/>
                <a:cs typeface="Arial"/>
                <a:sym typeface="Arial"/>
              </a:endParaRPr>
            </a:p>
          </p:txBody>
        </p:sp>
        <p:sp>
          <p:nvSpPr>
            <p:cNvPr id="599" name="Google Shape;599;p46"/>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71750" lIns="143550" spcFirstLastPara="1" rIns="143550" wrap="square" tIns="71750">
              <a:noAutofit/>
            </a:bodyPr>
            <a:lstStyle/>
            <a:p>
              <a:pPr indent="0" lvl="0" marL="0" marR="0" rtl="0" algn="l">
                <a:spcBef>
                  <a:spcPts val="0"/>
                </a:spcBef>
                <a:spcAft>
                  <a:spcPts val="0"/>
                </a:spcAft>
                <a:buNone/>
              </a:pPr>
              <a:r>
                <a:t/>
              </a:r>
              <a:endParaRPr sz="2826">
                <a:solidFill>
                  <a:schemeClr val="dk1"/>
                </a:solidFill>
                <a:latin typeface="Arial"/>
                <a:ea typeface="Arial"/>
                <a:cs typeface="Arial"/>
                <a:sym typeface="Arial"/>
              </a:endParaRPr>
            </a:p>
          </p:txBody>
        </p:sp>
        <p:sp>
          <p:nvSpPr>
            <p:cNvPr id="600" name="Google Shape;600;p46"/>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71750" lIns="143550" spcFirstLastPara="1" rIns="143550" wrap="square" tIns="71750">
              <a:noAutofit/>
            </a:bodyPr>
            <a:lstStyle/>
            <a:p>
              <a:pPr indent="0" lvl="0" marL="0" marR="0" rtl="0" algn="l">
                <a:spcBef>
                  <a:spcPts val="0"/>
                </a:spcBef>
                <a:spcAft>
                  <a:spcPts val="0"/>
                </a:spcAft>
                <a:buNone/>
              </a:pPr>
              <a:r>
                <a:t/>
              </a:r>
              <a:endParaRPr sz="2826">
                <a:solidFill>
                  <a:schemeClr val="dk1"/>
                </a:solidFill>
                <a:latin typeface="Arial"/>
                <a:ea typeface="Arial"/>
                <a:cs typeface="Arial"/>
                <a:sym typeface="Arial"/>
              </a:endParaRPr>
            </a:p>
          </p:txBody>
        </p:sp>
        <p:sp>
          <p:nvSpPr>
            <p:cNvPr id="601" name="Google Shape;601;p46"/>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71750" lIns="143550" spcFirstLastPara="1" rIns="143550" wrap="square" tIns="71750">
              <a:noAutofit/>
            </a:bodyPr>
            <a:lstStyle/>
            <a:p>
              <a:pPr indent="0" lvl="0" marL="0" marR="0" rtl="0" algn="l">
                <a:spcBef>
                  <a:spcPts val="0"/>
                </a:spcBef>
                <a:spcAft>
                  <a:spcPts val="0"/>
                </a:spcAft>
                <a:buNone/>
              </a:pPr>
              <a:r>
                <a:t/>
              </a:r>
              <a:endParaRPr sz="2826">
                <a:solidFill>
                  <a:schemeClr val="dk1"/>
                </a:solidFill>
                <a:latin typeface="Arial"/>
                <a:ea typeface="Arial"/>
                <a:cs typeface="Arial"/>
                <a:sym typeface="Arial"/>
              </a:endParaRPr>
            </a:p>
          </p:txBody>
        </p:sp>
        <p:sp>
          <p:nvSpPr>
            <p:cNvPr id="602" name="Google Shape;602;p46"/>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71750" lIns="143550" spcFirstLastPara="1" rIns="143550" wrap="square" tIns="71750">
              <a:noAutofit/>
            </a:bodyPr>
            <a:lstStyle/>
            <a:p>
              <a:pPr indent="0" lvl="0" marL="0" marR="0" rtl="0" algn="l">
                <a:spcBef>
                  <a:spcPts val="0"/>
                </a:spcBef>
                <a:spcAft>
                  <a:spcPts val="0"/>
                </a:spcAft>
                <a:buNone/>
              </a:pPr>
              <a:r>
                <a:t/>
              </a:r>
              <a:endParaRPr sz="2826">
                <a:solidFill>
                  <a:schemeClr val="dk1"/>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47"/>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7200"/>
              <a:buFont typeface="Arial"/>
              <a:buNone/>
            </a:pPr>
            <a:r>
              <a:t/>
            </a:r>
            <a:endParaRPr sz="7200">
              <a:solidFill>
                <a:srgbClr val="024069"/>
              </a:solidFill>
            </a:endParaRPr>
          </a:p>
          <a:p>
            <a:pPr indent="0" lvl="0" marL="0" rtl="0" algn="ctr">
              <a:lnSpc>
                <a:spcPct val="100000"/>
              </a:lnSpc>
              <a:spcBef>
                <a:spcPts val="1440"/>
              </a:spcBef>
              <a:spcAft>
                <a:spcPts val="0"/>
              </a:spcAft>
              <a:buClr>
                <a:srgbClr val="024069"/>
              </a:buClr>
              <a:buSzPts val="7200"/>
              <a:buFont typeface="Arial"/>
              <a:buNone/>
            </a:pPr>
            <a:r>
              <a:rPr lang="en-US" sz="7200">
                <a:solidFill>
                  <a:srgbClr val="024069"/>
                </a:solidFill>
              </a:rPr>
              <a:t>Thank You</a:t>
            </a:r>
            <a:endParaRPr/>
          </a:p>
        </p:txBody>
      </p:sp>
      <p:grpSp>
        <p:nvGrpSpPr>
          <p:cNvPr id="608" name="Google Shape;608;p47"/>
          <p:cNvGrpSpPr/>
          <p:nvPr/>
        </p:nvGrpSpPr>
        <p:grpSpPr>
          <a:xfrm>
            <a:off x="609600" y="533400"/>
            <a:ext cx="303213" cy="303213"/>
            <a:chOff x="703" y="300"/>
            <a:chExt cx="181" cy="181"/>
          </a:xfrm>
        </p:grpSpPr>
        <p:sp>
          <p:nvSpPr>
            <p:cNvPr id="609" name="Google Shape;609;p47"/>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0" name="Google Shape;610;p47"/>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1" name="Google Shape;611;p47"/>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2" name="Google Shape;612;p47"/>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3" name="Google Shape;613;p47"/>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4" name="Google Shape;614;p47"/>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15" name="Google Shape;615;p47"/>
          <p:cNvGrpSpPr/>
          <p:nvPr/>
        </p:nvGrpSpPr>
        <p:grpSpPr>
          <a:xfrm>
            <a:off x="8494713" y="5792788"/>
            <a:ext cx="554037" cy="552450"/>
            <a:chOff x="5369" y="3667"/>
            <a:chExt cx="349" cy="348"/>
          </a:xfrm>
        </p:grpSpPr>
        <p:sp>
          <p:nvSpPr>
            <p:cNvPr id="616" name="Google Shape;616;p47"/>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7" name="Google Shape;617;p47"/>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8" name="Google Shape;618;p47"/>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9" name="Google Shape;619;p47"/>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0" name="Google Shape;620;p47"/>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1" name="Google Shape;621;p47"/>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22" name="Google Shape;622;p47"/>
          <p:cNvGrpSpPr/>
          <p:nvPr/>
        </p:nvGrpSpPr>
        <p:grpSpPr>
          <a:xfrm>
            <a:off x="8113713" y="6221413"/>
            <a:ext cx="554037" cy="552450"/>
            <a:chOff x="5129" y="3937"/>
            <a:chExt cx="349" cy="348"/>
          </a:xfrm>
        </p:grpSpPr>
        <p:sp>
          <p:nvSpPr>
            <p:cNvPr id="623" name="Google Shape;623;p47"/>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4" name="Google Shape;624;p47"/>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5" name="Google Shape;625;p47"/>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6" name="Google Shape;626;p47"/>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7" name="Google Shape;627;p47"/>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8" name="Google Shape;628;p47"/>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29" name="Google Shape;629;p47"/>
          <p:cNvGrpSpPr/>
          <p:nvPr/>
        </p:nvGrpSpPr>
        <p:grpSpPr>
          <a:xfrm>
            <a:off x="8089900" y="5821363"/>
            <a:ext cx="390525" cy="390525"/>
            <a:chOff x="5114" y="3685"/>
            <a:chExt cx="246" cy="246"/>
          </a:xfrm>
        </p:grpSpPr>
        <p:sp>
          <p:nvSpPr>
            <p:cNvPr id="630" name="Google Shape;630;p47"/>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1" name="Google Shape;631;p47"/>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2" name="Google Shape;632;p47"/>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3" name="Google Shape;633;p47"/>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4" name="Google Shape;634;p47"/>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5" name="Google Shape;635;p47"/>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636" name="Google Shape;636;p47"/>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par>
                                <p:cTn fill="hold" nodeType="withEffect" presetClass="emph" presetID="8" presetSubtype="0">
                                  <p:stCondLst>
                                    <p:cond delay="0"/>
                                  </p:stCondLst>
                                  <p:childTnLst>
                                    <p:animRot by="-21600000">
                                      <p:cBhvr>
                                        <p:cTn dur="500" fill="hold"/>
                                        <p:tgtEl>
                                          <p:spTgt spid="615"/>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622"/>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629"/>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60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