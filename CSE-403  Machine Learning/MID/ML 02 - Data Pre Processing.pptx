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9144000"/>
  <p:notesSz cx="6858000" cy="9144000"/>
  <p:embeddedFontLst>
    <p:embeddedFont>
      <p:font typeface="Raleway"/>
      <p:regular r:id="rId46"/>
      <p:bold r:id="rId47"/>
      <p:italic r:id="rId48"/>
      <p:boldItalic r:id="rId49"/>
    </p:embeddedFont>
    <p:embeddedFont>
      <p:font typeface="Lato"/>
      <p:regular r:id="rId50"/>
      <p:bold r:id="rId51"/>
      <p:italic r:id="rId52"/>
      <p:boldItalic r:id="rId53"/>
    </p:embeddedFont>
    <p:embeddedFont>
      <p:font typeface="Tahoma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gGs12+y8TOjPWvJHoekaRJibWI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DFC793-9D40-45FB-B4F6-2E3EFBBC4770}">
  <a:tblStyle styleId="{2EDFC793-9D40-45FB-B4F6-2E3EFBBC47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aleway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aleway-italic.fntdata"/><Relationship Id="rId47" Type="http://schemas.openxmlformats.org/officeDocument/2006/relationships/font" Target="fonts/Raleway-bold.fntdata"/><Relationship Id="rId49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bold.fntdata"/><Relationship Id="rId50" Type="http://schemas.openxmlformats.org/officeDocument/2006/relationships/font" Target="fonts/Lato-regular.fntdata"/><Relationship Id="rId53" Type="http://schemas.openxmlformats.org/officeDocument/2006/relationships/font" Target="fonts/Lato-boldItalic.fntdata"/><Relationship Id="rId52" Type="http://schemas.openxmlformats.org/officeDocument/2006/relationships/font" Target="fonts/Lato-italic.fntdata"/><Relationship Id="rId11" Type="http://schemas.openxmlformats.org/officeDocument/2006/relationships/slide" Target="slides/slide5.xml"/><Relationship Id="rId55" Type="http://schemas.openxmlformats.org/officeDocument/2006/relationships/font" Target="fonts/Tahoma-bold.fntdata"/><Relationship Id="rId10" Type="http://schemas.openxmlformats.org/officeDocument/2006/relationships/slide" Target="slides/slide4.xml"/><Relationship Id="rId54" Type="http://schemas.openxmlformats.org/officeDocument/2006/relationships/font" Target="fonts/Tahoma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7c2549b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e27c2549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e27c2549b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7c2549b1_0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e27c2549b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e27c2549b1_0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27c2549b1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27c2549b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e27c2549b1_0_1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27c2549b1_0_2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27c2549b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e27c2549b1_0_2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27c2549b1_0_2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e27c2549b1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e27c2549b1_0_2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27c2549b1_0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27c2549b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e27c2549b1_0_2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27c2549b1_0_3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e27c2549b1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e27c2549b1_0_3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27c2549b1_0_3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27c2549b1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e27c2549b1_0_3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27c2549b1_0_4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e27c2549b1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g3e27c2549b1_0_4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27c2549b1_0_4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e27c2549b1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3e27c2549b1_0_4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27c2549b1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e27c2549b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e27c2549b1_0_3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d183f4864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bd183f48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bd183f4864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d183f4864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bd183f486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g3bd183f4864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d183f4864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bd183f486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bd183f4864_0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d183f4864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bd183f486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3bd183f4864_0_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d183f4864_0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bd183f486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bd183f4864_0_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d183f4864_0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bd183f486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bd183f4864_0_1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d183f4864_0_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bd183f486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g3bd183f4864_0_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bd183f4864_0_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bd183f486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g3bd183f4864_0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bd183f4864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bd183f486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3bd183f4864_0_2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27c2549b1_0_4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e27c2549b1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g3e27c2549b1_0_4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d183f4864_0_2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bd183f486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g3bd183f4864_0_2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27c2549b1_0_5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e27c2549b1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e27c2549b1_0_5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e27c2549b1_0_5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e27c2549b1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e27c2549b1_0_5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27c2549b1_0_5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3e27c2549b1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g3e27c2549b1_0_5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d183f4864_0_2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bd183f4864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g3bd183f4864_0_2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bd183f4864_0_2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bd183f4864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2" name="Google Shape;712;g3bd183f4864_0_2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bd183f4864_0_3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bd183f4864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g3bd183f4864_0_3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bd61b9f037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bd61b9f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d61b9f037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bd61b9f037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g3bd61b9f0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g3bd61b9f037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bd61b9f037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g3bd61b9f03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bd61b9f037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bd61b9f037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g3bd61b9f03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bd61b9f037_0_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bd61b9f037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3bd61b9f03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bd61b9f037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bd61b9f037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bd61b9f03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4" name="Google Shape;834;g3bd61b9f037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2" name="Google Shape;85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27c2549b1_0_40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e27c2549b1_0_40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6" name="Google Shape;16;g3e27c2549b1_0_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e27c2549b1_0_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e27c2549b1_0_40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g3e27c2549b1_0_40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e27c2549b1_0_4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e27c2549b1_0_4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3" name="Google Shape;23;g3e27c2549b1_0_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e27c2549b1_0_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e27c2549b1_0_48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e27c2549b1_0_4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27c2549b1_0_5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e27c2549b1_0_5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0" name="Google Shape;30;g3e27c2549b1_0_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e27c2549b1_0_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e27c2549b1_0_5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g3e27c2549b1_0_5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g3e27c2549b1_0_5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27c2549b1_0_6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e27c2549b1_0_6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8" name="Google Shape;38;g3e27c2549b1_0_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e27c2549b1_0_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e27c2549b1_0_62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3e27c2549b1_0_62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g3e27c2549b1_0_62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e27c2549b1_0_6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27c2549b1_0_71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e27c2549b1_0_71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7" name="Google Shape;47;g3e27c2549b1_0_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e27c2549b1_0_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e27c2549b1_0_71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g3e27c2549b1_0_7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27c2549b1_0_78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e27c2549b1_0_7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4" name="Google Shape;54;g3e27c2549b1_0_7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e27c2549b1_0_7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e27c2549b1_0_78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g3e27c2549b1_0_78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3e27c2549b1_0_7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e27c2549b1_0_86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61" name="Google Shape;61;g3e27c2549b1_0_8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e27c2549b1_0_8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e27c2549b1_0_86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e27c2549b1_0_8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27c2549b1_0_9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e27c2549b1_0_9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8" name="Google Shape;68;g3e27c2549b1_0_9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e27c2549b1_0_9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e27c2549b1_0_92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g3e27c2549b1_0_92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g3e27c2549b1_0_92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e27c2549b1_0_9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7c2549b1_0_101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6" name="Google Shape;76;g3e27c2549b1_0_10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e27c2549b1_0_104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9" name="Google Shape;79;g3e27c2549b1_0_10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e27c2549b1_0_10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e27c2549b1_0_104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e27c2549b1_0_104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e27c2549b1_0_10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7c2549b1_0_1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27c2549b1_0_113"/>
          <p:cNvSpPr txBox="1"/>
          <p:nvPr>
            <p:ph type="title"/>
          </p:nvPr>
        </p:nvSpPr>
        <p:spPr>
          <a:xfrm>
            <a:off x="457200" y="188913"/>
            <a:ext cx="8218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27c2549b1_0_113"/>
          <p:cNvSpPr txBox="1"/>
          <p:nvPr>
            <p:ph idx="1" type="body"/>
          </p:nvPr>
        </p:nvSpPr>
        <p:spPr>
          <a:xfrm>
            <a:off x="457200" y="1052513"/>
            <a:ext cx="8229600" cy="50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9" name="Google Shape;89;g3e27c2549b1_0_113"/>
          <p:cNvSpPr txBox="1"/>
          <p:nvPr>
            <p:ph idx="10" type="dt"/>
          </p:nvPr>
        </p:nvSpPr>
        <p:spPr>
          <a:xfrm>
            <a:off x="65532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e27c2549b1_0_113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e27c2549b1_0_113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27c2549b1_0_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e27c2549b1_0_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e27c2549b1_0_3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685800" y="1956900"/>
            <a:ext cx="7772400" cy="29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4400"/>
            </a:br>
            <a:r>
              <a:rPr b="1" lang="en-US" sz="4400"/>
              <a:t>Machine Learning</a:t>
            </a:r>
            <a:br>
              <a:rPr b="1" lang="en-US" sz="4400"/>
            </a:br>
            <a:r>
              <a:rPr lang="en-US" sz="4400"/>
              <a:t>CSE - 403</a:t>
            </a:r>
            <a:br>
              <a:rPr b="1" lang="en-US" sz="4400"/>
            </a:br>
            <a:br>
              <a:rPr b="1" lang="en-US" sz="4400"/>
            </a:br>
            <a:r>
              <a:rPr b="1" lang="en-US" sz="2800"/>
              <a:t>Lecture - Data Pre-processing</a:t>
            </a:r>
            <a:br>
              <a:rPr b="1" lang="en-US" sz="3200"/>
            </a:br>
            <a:endParaRPr b="1" sz="3200"/>
          </a:p>
        </p:txBody>
      </p:sp>
      <p:sp>
        <p:nvSpPr>
          <p:cNvPr id="97" name="Google Shape;97;p1"/>
          <p:cNvSpPr/>
          <p:nvPr/>
        </p:nvSpPr>
        <p:spPr>
          <a:xfrm>
            <a:off x="468313" y="6367463"/>
            <a:ext cx="95885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99" name="Google Shape;99;p1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106" name="Google Shape;106;p1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990600" y="228600"/>
            <a:ext cx="765175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Outline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428625" y="1837524"/>
            <a:ext cx="82296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Introduction to Data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Data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Handling Missing Data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Handling Outliers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Feature Scaling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Encoding Variable </a:t>
            </a:r>
            <a:endParaRPr/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120" name="Google Shape;120;p2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127" name="Google Shape;127;p2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134" name="Google Shape;134;p2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141" name="Google Shape;141;p2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7c2549b1_0_0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Introduction to Data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154" name="Google Shape;154;g3e27c2549b1_0_0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What is Data?</a:t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Data is a collection of facts, values, observations, or measurements that can be used for analysis, decision-making, or learning.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In simple words:</a:t>
            </a:r>
            <a:endParaRPr b="1" sz="2000"/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Data is raw information collected from the real world.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155" name="Google Shape;155;g3e27c2549b1_0_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156" name="Google Shape;156;g3e27c2549b1_0_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e27c2549b1_0_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e27c2549b1_0_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e27c2549b1_0_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e27c2549b1_0_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e27c2549b1_0_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g3e27c2549b1_0_0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163" name="Google Shape;163;g3e27c2549b1_0_0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e27c2549b1_0_0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e27c2549b1_0_0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e27c2549b1_0_0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e27c2549b1_0_0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e27c2549b1_0_0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g3e27c2549b1_0_0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170" name="Google Shape;170;g3e27c2549b1_0_0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e27c2549b1_0_0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e27c2549b1_0_0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e27c2549b1_0_0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e27c2549b1_0_0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e27c2549b1_0_0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g3e27c2549b1_0_0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177" name="Google Shape;177;g3e27c2549b1_0_0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e27c2549b1_0_0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e27c2549b1_0_0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e27c2549b1_0_0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e27c2549b1_0_0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e27c2549b1_0_0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g3e27c2549b1_0_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27c2549b1_0_119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Everyday Examples of Data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190" name="Google Shape;190;g3e27c2549b1_0_119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191" name="Google Shape;191;g3e27c2549b1_0_119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192" name="Google Shape;192;g3e27c2549b1_0_11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e27c2549b1_0_11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e27c2549b1_0_11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e27c2549b1_0_11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e27c2549b1_0_11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e27c2549b1_0_11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g3e27c2549b1_0_119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199" name="Google Shape;199;g3e27c2549b1_0_119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e27c2549b1_0_119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e27c2549b1_0_119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e27c2549b1_0_119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e27c2549b1_0_119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e27c2549b1_0_119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g3e27c2549b1_0_119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206" name="Google Shape;206;g3e27c2549b1_0_119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e27c2549b1_0_119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e27c2549b1_0_119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e27c2549b1_0_119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e27c2549b1_0_119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e27c2549b1_0_119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g3e27c2549b1_0_119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213" name="Google Shape;213;g3e27c2549b1_0_119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e27c2549b1_0_119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e27c2549b1_0_119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e27c2549b1_0_119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e27c2549b1_0_119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e27c2549b1_0_119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g3e27c2549b1_0_119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0" name="Google Shape;220;g3e27c2549b1_0_119"/>
          <p:cNvGraphicFramePr/>
          <p:nvPr/>
        </p:nvGraphicFramePr>
        <p:xfrm>
          <a:off x="912850" y="187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{2EDFC793-9D40-45FB-B4F6-2E3EFBBC4770}</a:tableStyleId>
              </a:tblPr>
              <a:tblGrid>
                <a:gridCol w="3684925"/>
                <a:gridCol w="3684925"/>
              </a:tblGrid>
              <a:tr h="67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Situation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Data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Student examination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Marks, attendance, CGPA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Hospital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Patient age, blood pressure, diagnosis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Online shopping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Product price, ratings, customer reviews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Weather system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Temperature, humidity, rainfall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Social media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Likes, comments, shares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27c2549b1_0_177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Simple Classroom Example </a:t>
            </a:r>
            <a:r>
              <a:rPr lang="en-US" sz="4400">
                <a:solidFill>
                  <a:schemeClr val="accent6"/>
                </a:solidFill>
              </a:rPr>
              <a:t>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227" name="Google Shape;227;g3e27c2549b1_0_177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228" name="Google Shape;228;g3e27c2549b1_0_177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229" name="Google Shape;229;g3e27c2549b1_0_17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e27c2549b1_0_17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e27c2549b1_0_17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e27c2549b1_0_17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e27c2549b1_0_17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e27c2549b1_0_17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g3e27c2549b1_0_177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236" name="Google Shape;236;g3e27c2549b1_0_177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e27c2549b1_0_177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e27c2549b1_0_177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e27c2549b1_0_177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e27c2549b1_0_177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e27c2549b1_0_177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g3e27c2549b1_0_177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243" name="Google Shape;243;g3e27c2549b1_0_177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e27c2549b1_0_177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e27c2549b1_0_177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e27c2549b1_0_177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e27c2549b1_0_177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e27c2549b1_0_177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g3e27c2549b1_0_177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250" name="Google Shape;250;g3e27c2549b1_0_177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e27c2549b1_0_177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e27c2549b1_0_177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e27c2549b1_0_177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e27c2549b1_0_177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e27c2549b1_0_177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g3e27c2549b1_0_177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57" name="Google Shape;257;g3e27c2549b1_0_177"/>
          <p:cNvGraphicFramePr/>
          <p:nvPr/>
        </p:nvGraphicFramePr>
        <p:xfrm>
          <a:off x="1175850" y="200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{2EDFC793-9D40-45FB-B4F6-2E3EFBBC4770}</a:tableStyleId>
              </a:tblPr>
              <a:tblGrid>
                <a:gridCol w="2177150"/>
                <a:gridCol w="2177150"/>
                <a:gridCol w="2177150"/>
              </a:tblGrid>
              <a:tr h="63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Age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CGPA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51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Jahid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Disha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8" name="Google Shape;258;g3e27c2549b1_0_177"/>
          <p:cNvSpPr txBox="1"/>
          <p:nvPr/>
        </p:nvSpPr>
        <p:spPr>
          <a:xfrm>
            <a:off x="968850" y="1371600"/>
            <a:ext cx="72063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Suppose we collect information about students: </a:t>
            </a:r>
            <a:endParaRPr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g3e27c2549b1_0_177"/>
          <p:cNvSpPr txBox="1"/>
          <p:nvPr/>
        </p:nvSpPr>
        <p:spPr>
          <a:xfrm>
            <a:off x="1058175" y="4473925"/>
            <a:ext cx="6766800" cy="1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Here: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Each row represents one student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Each column represents one feature/attribute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entire table is called a dataset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27c2549b1_0_218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Important Terminologies </a:t>
            </a:r>
            <a:r>
              <a:rPr lang="en-US" sz="4400">
                <a:solidFill>
                  <a:schemeClr val="accent6"/>
                </a:solidFill>
              </a:rPr>
              <a:t> 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266" name="Google Shape;266;g3e27c2549b1_0_218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267" name="Google Shape;267;g3e27c2549b1_0_218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268" name="Google Shape;268;g3e27c2549b1_0_21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e27c2549b1_0_21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e27c2549b1_0_21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e27c2549b1_0_21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e27c2549b1_0_21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e27c2549b1_0_21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g3e27c2549b1_0_218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275" name="Google Shape;275;g3e27c2549b1_0_218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e27c2549b1_0_218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e27c2549b1_0_218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e27c2549b1_0_218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e27c2549b1_0_218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e27c2549b1_0_218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g3e27c2549b1_0_218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282" name="Google Shape;282;g3e27c2549b1_0_218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e27c2549b1_0_218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e27c2549b1_0_218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e27c2549b1_0_218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e27c2549b1_0_218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e27c2549b1_0_218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g3e27c2549b1_0_218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289" name="Google Shape;289;g3e27c2549b1_0_218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e27c2549b1_0_218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e27c2549b1_0_218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e27c2549b1_0_218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e27c2549b1_0_218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e27c2549b1_0_218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g3e27c2549b1_0_218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g3e27c2549b1_0_218"/>
          <p:cNvSpPr txBox="1"/>
          <p:nvPr/>
        </p:nvSpPr>
        <p:spPr>
          <a:xfrm>
            <a:off x="1058175" y="1628575"/>
            <a:ext cx="6766800" cy="3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latin typeface="Lato"/>
                <a:ea typeface="Lato"/>
                <a:cs typeface="Lato"/>
                <a:sym typeface="Lato"/>
              </a:rPr>
              <a:t>1.  Dataset</a:t>
            </a:r>
            <a:endParaRPr b="1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A complete collection of data.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Example:</a:t>
            </a:r>
            <a:br>
              <a:rPr lang="en-US" sz="1800">
                <a:latin typeface="Lato"/>
                <a:ea typeface="Lato"/>
                <a:cs typeface="Lato"/>
                <a:sym typeface="Lato"/>
              </a:rPr>
            </a:br>
            <a:r>
              <a:rPr lang="en-US" sz="1800">
                <a:latin typeface="Lato"/>
                <a:ea typeface="Lato"/>
                <a:cs typeface="Lato"/>
                <a:sym typeface="Lato"/>
              </a:rPr>
              <a:t> A table containing 1000 student records.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latin typeface="Lato"/>
                <a:ea typeface="Lato"/>
                <a:cs typeface="Lato"/>
                <a:sym typeface="Lato"/>
              </a:rPr>
              <a:t>2.  Instance / Record / Tuple/ Data point</a:t>
            </a:r>
            <a:endParaRPr b="1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A single row of data.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Example: This single row is one instance. 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7" name="Google Shape;297;g3e27c2549b1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75" y="4619938"/>
            <a:ext cx="466725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27c2549b1_0_261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Important Terminologies  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304" name="Google Shape;304;g3e27c2549b1_0_261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305" name="Google Shape;305;g3e27c2549b1_0_261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306" name="Google Shape;306;g3e27c2549b1_0_26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e27c2549b1_0_26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e27c2549b1_0_26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e27c2549b1_0_26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e27c2549b1_0_26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e27c2549b1_0_26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g3e27c2549b1_0_261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313" name="Google Shape;313;g3e27c2549b1_0_261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e27c2549b1_0_261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e27c2549b1_0_261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e27c2549b1_0_261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e27c2549b1_0_261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e27c2549b1_0_261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g3e27c2549b1_0_261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320" name="Google Shape;320;g3e27c2549b1_0_261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e27c2549b1_0_261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e27c2549b1_0_261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e27c2549b1_0_261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e27c2549b1_0_261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e27c2549b1_0_261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g3e27c2549b1_0_261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327" name="Google Shape;327;g3e27c2549b1_0_261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e27c2549b1_0_261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e27c2549b1_0_261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e27c2549b1_0_261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e27c2549b1_0_261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e27c2549b1_0_261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g3e27c2549b1_0_261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g3e27c2549b1_0_261"/>
          <p:cNvSpPr txBox="1"/>
          <p:nvPr/>
        </p:nvSpPr>
        <p:spPr>
          <a:xfrm>
            <a:off x="1058175" y="1628575"/>
            <a:ext cx="67668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latin typeface="Lato"/>
                <a:ea typeface="Lato"/>
                <a:cs typeface="Lato"/>
                <a:sym typeface="Lato"/>
              </a:rPr>
              <a:t>3.  Feature / Attribute / Column</a:t>
            </a:r>
            <a:endParaRPr b="1"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Characteristics or properties of the data.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Examples: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Age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Height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Salary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-US" sz="2200">
                <a:latin typeface="Lato"/>
                <a:ea typeface="Lato"/>
                <a:cs typeface="Lato"/>
                <a:sym typeface="Lato"/>
              </a:rPr>
              <a:t>Marks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27c2549b1_0_299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chemeClr val="accent6"/>
                </a:solidFill>
              </a:rPr>
              <a:t>Why is Data Important? </a:t>
            </a:r>
            <a:r>
              <a:rPr lang="en-US" sz="4400">
                <a:solidFill>
                  <a:schemeClr val="accent6"/>
                </a:solidFill>
              </a:rPr>
              <a:t>  </a:t>
            </a:r>
            <a:endParaRPr sz="4400">
              <a:solidFill>
                <a:schemeClr val="accent6"/>
              </a:solidFill>
            </a:endParaRPr>
          </a:p>
        </p:txBody>
      </p:sp>
      <p:sp>
        <p:nvSpPr>
          <p:cNvPr id="341" name="Google Shape;341;g3e27c2549b1_0_299"/>
          <p:cNvSpPr txBox="1"/>
          <p:nvPr>
            <p:ph idx="1" type="body"/>
          </p:nvPr>
        </p:nvSpPr>
        <p:spPr>
          <a:xfrm>
            <a:off x="428625" y="1450575"/>
            <a:ext cx="82296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342" name="Google Shape;342;g3e27c2549b1_0_299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343" name="Google Shape;343;g3e27c2549b1_0_29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e27c2549b1_0_29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e27c2549b1_0_29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e27c2549b1_0_29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e27c2549b1_0_29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e27c2549b1_0_29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g3e27c2549b1_0_299"/>
          <p:cNvGrpSpPr/>
          <p:nvPr/>
        </p:nvGrpSpPr>
        <p:grpSpPr>
          <a:xfrm>
            <a:off x="8494713" y="5792788"/>
            <a:ext cx="554037" cy="552212"/>
            <a:chOff x="5369" y="3667"/>
            <a:chExt cx="349" cy="348"/>
          </a:xfrm>
        </p:grpSpPr>
        <p:sp>
          <p:nvSpPr>
            <p:cNvPr id="350" name="Google Shape;350;g3e27c2549b1_0_299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e27c2549b1_0_299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e27c2549b1_0_299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e27c2549b1_0_299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e27c2549b1_0_299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e27c2549b1_0_299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" name="Google Shape;356;g3e27c2549b1_0_299"/>
          <p:cNvGrpSpPr/>
          <p:nvPr/>
        </p:nvGrpSpPr>
        <p:grpSpPr>
          <a:xfrm>
            <a:off x="8113713" y="6221413"/>
            <a:ext cx="554243" cy="552244"/>
            <a:chOff x="5129" y="3937"/>
            <a:chExt cx="349" cy="348"/>
          </a:xfrm>
        </p:grpSpPr>
        <p:sp>
          <p:nvSpPr>
            <p:cNvPr id="357" name="Google Shape;357;g3e27c2549b1_0_299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e27c2549b1_0_299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e27c2549b1_0_299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e27c2549b1_0_299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e27c2549b1_0_299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e27c2549b1_0_299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g3e27c2549b1_0_299"/>
          <p:cNvGrpSpPr/>
          <p:nvPr/>
        </p:nvGrpSpPr>
        <p:grpSpPr>
          <a:xfrm>
            <a:off x="8089900" y="5821363"/>
            <a:ext cx="390684" cy="390636"/>
            <a:chOff x="5114" y="3685"/>
            <a:chExt cx="246" cy="246"/>
          </a:xfrm>
        </p:grpSpPr>
        <p:sp>
          <p:nvSpPr>
            <p:cNvPr id="364" name="Google Shape;364;g3e27c2549b1_0_299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e27c2549b1_0_299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e27c2549b1_0_299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e27c2549b1_0_299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3e27c2549b1_0_299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3e27c2549b1_0_299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g3e27c2549b1_0_299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g3e27c2549b1_0_299"/>
          <p:cNvSpPr txBox="1"/>
          <p:nvPr/>
        </p:nvSpPr>
        <p:spPr>
          <a:xfrm>
            <a:off x="1058175" y="1628575"/>
            <a:ext cx="7222800" cy="4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helps us:</a:t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Make decisions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Discover patterns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Predict future outcomes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Train Machine Learning models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Netflix recommends movies using user data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Banks detect fraud using transaction data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Hospitals predict diseases using patient data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"/>
          <p:cNvSpPr txBox="1"/>
          <p:nvPr>
            <p:ph type="title"/>
          </p:nvPr>
        </p:nvSpPr>
        <p:spPr>
          <a:xfrm>
            <a:off x="1112500" y="6701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Types of Data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378" name="Google Shape;378;p3"/>
          <p:cNvSpPr txBox="1"/>
          <p:nvPr>
            <p:ph idx="1" type="body"/>
          </p:nvPr>
        </p:nvSpPr>
        <p:spPr>
          <a:xfrm>
            <a:off x="438050" y="1902175"/>
            <a:ext cx="36843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1. Numerical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Contains numbers.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Age, Salary, Temperature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2. Categorical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Contains categories or labels.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Gender, Blood Group, Department</a:t>
            </a:r>
            <a:endParaRPr sz="1800"/>
          </a:p>
          <a:p>
            <a:pPr indent="-1905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/>
          </a:p>
        </p:txBody>
      </p:sp>
      <p:grpSp>
        <p:nvGrpSpPr>
          <p:cNvPr id="379" name="Google Shape;379;p3"/>
          <p:cNvGrpSpPr/>
          <p:nvPr/>
        </p:nvGrpSpPr>
        <p:grpSpPr>
          <a:xfrm>
            <a:off x="682550" y="875337"/>
            <a:ext cx="303213" cy="303213"/>
            <a:chOff x="703" y="300"/>
            <a:chExt cx="181" cy="181"/>
          </a:xfrm>
        </p:grpSpPr>
        <p:sp>
          <p:nvSpPr>
            <p:cNvPr id="380" name="Google Shape;380;p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3"/>
          <p:cNvSpPr txBox="1"/>
          <p:nvPr>
            <p:ph idx="2" type="body"/>
          </p:nvPr>
        </p:nvSpPr>
        <p:spPr>
          <a:xfrm>
            <a:off x="4643600" y="1615001"/>
            <a:ext cx="4065600" cy="48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3. Text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Contains words or sentences.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Reviews, Comments, Emails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4. Image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Photos or pictures.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Face images, Medical scans, Satellite images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5. Audio Data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Sound recordings.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Examples: Voice commands, Music, Speech recordings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27c2549b1_0_370"/>
          <p:cNvSpPr txBox="1"/>
          <p:nvPr>
            <p:ph type="title"/>
          </p:nvPr>
        </p:nvSpPr>
        <p:spPr>
          <a:xfrm>
            <a:off x="1112500" y="670100"/>
            <a:ext cx="8116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Structured vs Unstructured Data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394" name="Google Shape;394;g3e27c2549b1_0_370"/>
          <p:cNvSpPr txBox="1"/>
          <p:nvPr>
            <p:ph idx="1" type="body"/>
          </p:nvPr>
        </p:nvSpPr>
        <p:spPr>
          <a:xfrm>
            <a:off x="438050" y="1902175"/>
            <a:ext cx="36843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Structured Data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Organized in rows and columns.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Examples: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Excel sheet, database table, CSV Files</a:t>
            </a:r>
            <a:endParaRPr sz="2000">
              <a:solidFill>
                <a:srgbClr val="000000"/>
              </a:solidFill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000"/>
          </a:p>
        </p:txBody>
      </p:sp>
      <p:grpSp>
        <p:nvGrpSpPr>
          <p:cNvPr id="395" name="Google Shape;395;g3e27c2549b1_0_370"/>
          <p:cNvGrpSpPr/>
          <p:nvPr/>
        </p:nvGrpSpPr>
        <p:grpSpPr>
          <a:xfrm>
            <a:off x="682550" y="875337"/>
            <a:ext cx="303246" cy="303397"/>
            <a:chOff x="703" y="300"/>
            <a:chExt cx="181" cy="181"/>
          </a:xfrm>
        </p:grpSpPr>
        <p:sp>
          <p:nvSpPr>
            <p:cNvPr id="396" name="Google Shape;396;g3e27c2549b1_0_37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e27c2549b1_0_37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e27c2549b1_0_37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e27c2549b1_0_37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e27c2549b1_0_37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e27c2549b1_0_37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g3e27c2549b1_0_37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g3e27c2549b1_0_370"/>
          <p:cNvSpPr txBox="1"/>
          <p:nvPr>
            <p:ph idx="2" type="body"/>
          </p:nvPr>
        </p:nvSpPr>
        <p:spPr>
          <a:xfrm>
            <a:off x="4643600" y="1902175"/>
            <a:ext cx="4065600" cy="45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Unstructured Data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No fixed format.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Examples: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Images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Videos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Social media posts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000000"/>
                </a:solidFill>
              </a:rPr>
              <a:t>Audio files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27c2549b1_0_390"/>
          <p:cNvSpPr txBox="1"/>
          <p:nvPr>
            <p:ph type="title"/>
          </p:nvPr>
        </p:nvSpPr>
        <p:spPr>
          <a:xfrm>
            <a:off x="985800" y="670175"/>
            <a:ext cx="8116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3400">
                <a:solidFill>
                  <a:schemeClr val="accent2"/>
                </a:solidFill>
              </a:rPr>
              <a:t>Task : </a:t>
            </a:r>
            <a:r>
              <a:rPr lang="en-US" sz="3400">
                <a:solidFill>
                  <a:schemeClr val="accent2"/>
                </a:solidFill>
              </a:rPr>
              <a:t>Guess the Feature</a:t>
            </a:r>
            <a:endParaRPr sz="3400">
              <a:solidFill>
                <a:schemeClr val="accent2"/>
              </a:solidFill>
            </a:endParaRPr>
          </a:p>
        </p:txBody>
      </p:sp>
      <p:sp>
        <p:nvSpPr>
          <p:cNvPr id="410" name="Google Shape;410;g3e27c2549b1_0_390"/>
          <p:cNvSpPr txBox="1"/>
          <p:nvPr>
            <p:ph idx="1" type="body"/>
          </p:nvPr>
        </p:nvSpPr>
        <p:spPr>
          <a:xfrm>
            <a:off x="438050" y="1902175"/>
            <a:ext cx="82260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188038"/>
              </a:buClr>
              <a:buSzPts val="2000"/>
              <a:buChar char="●"/>
            </a:pPr>
            <a:r>
              <a:rPr b="1" lang="en-US" sz="2000">
                <a:solidFill>
                  <a:srgbClr val="188038"/>
                </a:solidFill>
              </a:rPr>
              <a:t>Which are features?</a:t>
            </a:r>
            <a:endParaRPr b="1" sz="2000">
              <a:solidFill>
                <a:srgbClr val="18803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Char char="●"/>
            </a:pPr>
            <a:r>
              <a:rPr b="1" lang="en-US" sz="2000">
                <a:solidFill>
                  <a:srgbClr val="188038"/>
                </a:solidFill>
              </a:rPr>
              <a:t>Which are numerical?</a:t>
            </a:r>
            <a:endParaRPr b="1" sz="2000">
              <a:solidFill>
                <a:srgbClr val="18803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Char char="●"/>
            </a:pPr>
            <a:r>
              <a:rPr b="1" lang="en-US" sz="2000">
                <a:solidFill>
                  <a:srgbClr val="188038"/>
                </a:solidFill>
              </a:rPr>
              <a:t>Which are categorical?</a:t>
            </a:r>
            <a:endParaRPr b="1" sz="2200">
              <a:solidFill>
                <a:srgbClr val="18803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11" name="Google Shape;411;g3e27c2549b1_0_390"/>
          <p:cNvGrpSpPr/>
          <p:nvPr/>
        </p:nvGrpSpPr>
        <p:grpSpPr>
          <a:xfrm>
            <a:off x="682550" y="875337"/>
            <a:ext cx="303246" cy="303397"/>
            <a:chOff x="703" y="300"/>
            <a:chExt cx="181" cy="181"/>
          </a:xfrm>
        </p:grpSpPr>
        <p:sp>
          <p:nvSpPr>
            <p:cNvPr id="412" name="Google Shape;412;g3e27c2549b1_0_39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e27c2549b1_0_39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e27c2549b1_0_39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e27c2549b1_0_39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e27c2549b1_0_39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e27c2549b1_0_39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g3e27c2549b1_0_39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9" name="Google Shape;419;g3e27c2549b1_0_390"/>
          <p:cNvGraphicFramePr/>
          <p:nvPr/>
        </p:nvGraphicFramePr>
        <p:xfrm>
          <a:off x="985800" y="363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{2EDFC793-9D40-45FB-B4F6-2E3EFBBC4770}</a:tableStyleId>
              </a:tblPr>
              <a:tblGrid>
                <a:gridCol w="1516750"/>
                <a:gridCol w="1516750"/>
                <a:gridCol w="1516750"/>
                <a:gridCol w="1516750"/>
                <a:gridCol w="151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Gender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Height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Weight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Blood Group</a:t>
                      </a:r>
                      <a:endParaRPr sz="1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27c2549b1_0_409"/>
          <p:cNvSpPr txBox="1"/>
          <p:nvPr>
            <p:ph type="title"/>
          </p:nvPr>
        </p:nvSpPr>
        <p:spPr>
          <a:xfrm>
            <a:off x="729875" y="479500"/>
            <a:ext cx="84993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3800">
                <a:solidFill>
                  <a:schemeClr val="accent2"/>
                </a:solidFill>
              </a:rPr>
              <a:t>Task : Data Sorting </a:t>
            </a:r>
            <a:endParaRPr sz="3800">
              <a:solidFill>
                <a:schemeClr val="accent2"/>
              </a:solidFill>
            </a:endParaRPr>
          </a:p>
        </p:txBody>
      </p:sp>
      <p:sp>
        <p:nvSpPr>
          <p:cNvPr id="426" name="Google Shape;426;g3e27c2549b1_0_409"/>
          <p:cNvSpPr txBox="1"/>
          <p:nvPr>
            <p:ph idx="1" type="body"/>
          </p:nvPr>
        </p:nvSpPr>
        <p:spPr>
          <a:xfrm>
            <a:off x="438050" y="1902175"/>
            <a:ext cx="81168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88038"/>
                </a:solidFill>
              </a:rPr>
              <a:t>Find out the structured and unstructured data.</a:t>
            </a:r>
            <a:endParaRPr b="1" sz="2200">
              <a:solidFill>
                <a:srgbClr val="188038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Excel sheet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Facebook post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X-ray Images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Student database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2"/>
                </a:solidFill>
              </a:rPr>
              <a:t>Voice recording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427" name="Google Shape;427;g3e27c2549b1_0_409"/>
          <p:cNvGrpSpPr/>
          <p:nvPr/>
        </p:nvGrpSpPr>
        <p:grpSpPr>
          <a:xfrm>
            <a:off x="292150" y="865862"/>
            <a:ext cx="303246" cy="303397"/>
            <a:chOff x="703" y="300"/>
            <a:chExt cx="181" cy="181"/>
          </a:xfrm>
        </p:grpSpPr>
        <p:sp>
          <p:nvSpPr>
            <p:cNvPr id="428" name="Google Shape;428;g3e27c2549b1_0_40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e27c2549b1_0_40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e27c2549b1_0_40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e27c2549b1_0_40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e27c2549b1_0_40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e27c2549b1_0_40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g3e27c2549b1_0_40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27c2549b1_0_444"/>
          <p:cNvSpPr txBox="1"/>
          <p:nvPr>
            <p:ph type="title"/>
          </p:nvPr>
        </p:nvSpPr>
        <p:spPr>
          <a:xfrm>
            <a:off x="729875" y="479500"/>
            <a:ext cx="84993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2"/>
                </a:solidFill>
              </a:rPr>
              <a:t>Bad Data vs Good Data </a:t>
            </a:r>
            <a:endParaRPr sz="3600">
              <a:solidFill>
                <a:schemeClr val="accent2"/>
              </a:solidFill>
            </a:endParaRPr>
          </a:p>
        </p:txBody>
      </p:sp>
      <p:sp>
        <p:nvSpPr>
          <p:cNvPr id="441" name="Google Shape;441;g3e27c2549b1_0_444"/>
          <p:cNvSpPr txBox="1"/>
          <p:nvPr>
            <p:ph idx="1" type="body"/>
          </p:nvPr>
        </p:nvSpPr>
        <p:spPr>
          <a:xfrm>
            <a:off x="438050" y="1902175"/>
            <a:ext cx="8116800" cy="4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 of messy data:</a:t>
            </a:r>
            <a:endParaRPr b="1" sz="2200">
              <a:solidFill>
                <a:schemeClr val="dk1"/>
              </a:solidFill>
            </a:endParaRPr>
          </a:p>
        </p:txBody>
      </p:sp>
      <p:grpSp>
        <p:nvGrpSpPr>
          <p:cNvPr id="442" name="Google Shape;442;g3e27c2549b1_0_444"/>
          <p:cNvGrpSpPr/>
          <p:nvPr/>
        </p:nvGrpSpPr>
        <p:grpSpPr>
          <a:xfrm>
            <a:off x="292150" y="865862"/>
            <a:ext cx="303246" cy="303397"/>
            <a:chOff x="703" y="300"/>
            <a:chExt cx="181" cy="181"/>
          </a:xfrm>
        </p:grpSpPr>
        <p:sp>
          <p:nvSpPr>
            <p:cNvPr id="443" name="Google Shape;443;g3e27c2549b1_0_44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e27c2549b1_0_44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e27c2549b1_0_44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e27c2549b1_0_44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e27c2549b1_0_44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e27c2549b1_0_44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g3e27c2549b1_0_44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50" name="Google Shape;450;g3e27c2549b1_0_444"/>
          <p:cNvGraphicFramePr/>
          <p:nvPr/>
        </p:nvGraphicFramePr>
        <p:xfrm>
          <a:off x="9525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{2EDFC793-9D40-45FB-B4F6-2E3EFBBC4770}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Age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Lato"/>
                          <a:ea typeface="Lato"/>
                          <a:cs typeface="Lato"/>
                          <a:sym typeface="Lato"/>
                        </a:rPr>
                        <a:t>CGPA</a:t>
                      </a:r>
                      <a:endParaRPr sz="20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3.75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Jahid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3.46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Disha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27c2549b1_0_340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What Are Missing Values?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457" name="Google Shape;457;g3e27c2549b1_0_340"/>
          <p:cNvSpPr txBox="1"/>
          <p:nvPr>
            <p:ph idx="1" type="body"/>
          </p:nvPr>
        </p:nvSpPr>
        <p:spPr>
          <a:xfrm>
            <a:off x="457200" y="1543050"/>
            <a:ext cx="8382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Missing values occur when data is not recorded for a variable.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Represented as: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188038"/>
                </a:solidFill>
              </a:rPr>
              <a:t>NaN</a:t>
            </a:r>
            <a:r>
              <a:rPr lang="en-US" sz="2400"/>
              <a:t> (Not a Number)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188038"/>
                </a:solidFill>
              </a:rPr>
              <a:t>None</a:t>
            </a:r>
            <a:endParaRPr sz="2400">
              <a:solidFill>
                <a:srgbClr val="188038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Empty cells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Special symbols (e.g., </a:t>
            </a:r>
            <a:r>
              <a:rPr lang="en-US" sz="2400">
                <a:solidFill>
                  <a:srgbClr val="188038"/>
                </a:solidFill>
              </a:rPr>
              <a:t>?</a:t>
            </a:r>
            <a:r>
              <a:rPr lang="en-US" sz="2400"/>
              <a:t>, </a:t>
            </a:r>
            <a:r>
              <a:rPr lang="en-US" sz="2400">
                <a:solidFill>
                  <a:srgbClr val="188038"/>
                </a:solidFill>
              </a:rPr>
              <a:t>-1</a:t>
            </a:r>
            <a:r>
              <a:rPr lang="en-US" sz="2400"/>
              <a:t>)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grpSp>
        <p:nvGrpSpPr>
          <p:cNvPr id="458" name="Google Shape;458;g3e27c2549b1_0_34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459" name="Google Shape;459;g3e27c2549b1_0_34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e27c2549b1_0_34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e27c2549b1_0_34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e27c2549b1_0_34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e27c2549b1_0_34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e27c2549b1_0_34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g3e27c2549b1_0_34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"/>
          <p:cNvSpPr txBox="1"/>
          <p:nvPr>
            <p:ph type="title"/>
          </p:nvPr>
        </p:nvSpPr>
        <p:spPr>
          <a:xfrm>
            <a:off x="990600" y="228600"/>
            <a:ext cx="765175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accent6"/>
                </a:solidFill>
              </a:rPr>
              <a:t>Why Handling Missing Values Is Important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472" name="Google Shape;472;p5"/>
          <p:cNvSpPr txBox="1"/>
          <p:nvPr>
            <p:ph idx="1" type="body"/>
          </p:nvPr>
        </p:nvSpPr>
        <p:spPr>
          <a:xfrm>
            <a:off x="457200" y="1657350"/>
            <a:ext cx="8229600" cy="5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Machine learning algorithms </a:t>
            </a:r>
            <a:r>
              <a:rPr b="1" lang="en-US" sz="2400"/>
              <a:t>cannot work properly</a:t>
            </a:r>
            <a:r>
              <a:rPr lang="en-US" sz="2400"/>
              <a:t> with missing data.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It Can cause: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Incorrect model training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Biased results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Errors during computation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Proper handling improves </a:t>
            </a:r>
            <a:r>
              <a:rPr b="1" lang="en-US" sz="2400"/>
              <a:t>accuracy and reliability</a:t>
            </a:r>
            <a:r>
              <a:rPr lang="en-US" sz="2400"/>
              <a:t>.</a:t>
            </a:r>
            <a:endParaRPr sz="2400">
              <a:solidFill>
                <a:srgbClr val="3333CC"/>
              </a:solidFill>
            </a:endParaRPr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</p:txBody>
      </p:sp>
      <p:grpSp>
        <p:nvGrpSpPr>
          <p:cNvPr id="473" name="Google Shape;473;p5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74" name="Google Shape;474;p5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p5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d183f4864_0_20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lang="en-US" sz="4000">
                <a:solidFill>
                  <a:schemeClr val="accent6"/>
                </a:solidFill>
              </a:rPr>
              <a:t>Common Reasons for Missing Values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487" name="Google Shape;487;g3bd183f4864_0_20"/>
          <p:cNvSpPr txBox="1"/>
          <p:nvPr>
            <p:ph idx="1" type="body"/>
          </p:nvPr>
        </p:nvSpPr>
        <p:spPr>
          <a:xfrm>
            <a:off x="457200" y="1790700"/>
            <a:ext cx="82296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Data entry errors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Sensor or system failure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Survey participants skipping questions</a:t>
            </a:r>
            <a:br>
              <a:rPr lang="en-US" sz="2400"/>
            </a:b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Data merging from multiple sources</a:t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488" name="Google Shape;488;g3bd183f4864_0_2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489" name="Google Shape;489;g3bd183f4864_0_2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bd183f4864_0_2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bd183f4864_0_2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bd183f4864_0_2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bd183f4864_0_2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bd183f4864_0_2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g3bd183f4864_0_20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d183f4864_0_57"/>
          <p:cNvSpPr txBox="1"/>
          <p:nvPr>
            <p:ph type="title"/>
          </p:nvPr>
        </p:nvSpPr>
        <p:spPr>
          <a:xfrm>
            <a:off x="990600" y="228600"/>
            <a:ext cx="76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2"/>
                </a:solidFill>
              </a:rPr>
              <a:t>Types of Missing Values  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502" name="Google Shape;502;g3bd183f4864_0_57"/>
          <p:cNvSpPr txBox="1"/>
          <p:nvPr>
            <p:ph idx="1" type="body"/>
          </p:nvPr>
        </p:nvSpPr>
        <p:spPr>
          <a:xfrm>
            <a:off x="457200" y="1295399"/>
            <a:ext cx="8382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• </a:t>
            </a:r>
            <a:r>
              <a:rPr b="1" lang="en-US" sz="2400"/>
              <a:t>MCAR (Missing Completely at Random):</a:t>
            </a:r>
            <a:r>
              <a:rPr lang="en-US" sz="2400"/>
              <a:t> Missingness is random, no relation to any variable. (e.g., random technical error) 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• </a:t>
            </a:r>
            <a:r>
              <a:rPr b="1" lang="en-US" sz="2400"/>
              <a:t>MAR (Missing at Random):</a:t>
            </a:r>
            <a:r>
              <a:rPr lang="en-US" sz="2400"/>
              <a:t> Missingness depends on other observed variables, not the missing one itself. (e.g., younger people skipping a survey question)</a:t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• </a:t>
            </a:r>
            <a:r>
              <a:rPr b="1" lang="en-US" sz="2400"/>
              <a:t>MNAR (Missing Not at Random):</a:t>
            </a:r>
            <a:r>
              <a:rPr lang="en-US" sz="2400"/>
              <a:t> Missingness depends on the value of the missing data itself. (e.g., high-income individuals not reporting income</a:t>
            </a:r>
            <a:endParaRPr sz="2400"/>
          </a:p>
        </p:txBody>
      </p:sp>
      <p:grpSp>
        <p:nvGrpSpPr>
          <p:cNvPr id="503" name="Google Shape;503;g3bd183f4864_0_57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04" name="Google Shape;504;g3bd183f4864_0_5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3bd183f4864_0_5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bd183f4864_0_5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bd183f4864_0_5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bd183f4864_0_5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bd183f4864_0_5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g3bd183f4864_0_57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d183f4864_0_85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17" name="Google Shape;517;g3bd183f4864_0_85"/>
          <p:cNvSpPr txBox="1"/>
          <p:nvPr>
            <p:ph idx="1" type="body"/>
          </p:nvPr>
        </p:nvSpPr>
        <p:spPr>
          <a:xfrm>
            <a:off x="457200" y="1752600"/>
            <a:ext cx="8229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 sz="2400"/>
              <a:t>Remove Missing Values</a:t>
            </a:r>
            <a:endParaRPr b="1" sz="24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200"/>
              <a:t>a) Remove Rows</a:t>
            </a:r>
            <a:endParaRPr b="1" sz="2200"/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Used when:</a:t>
            </a:r>
            <a:endParaRPr sz="2200"/>
          </a:p>
          <a:p>
            <a:pPr indent="-3683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Very few rows contain missing values</a:t>
            </a:r>
            <a:endParaRPr sz="2200"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Risk: loss of useful data</a:t>
            </a:r>
            <a:endParaRPr sz="22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200"/>
              <a:t>b) Remove Columns</a:t>
            </a:r>
            <a:endParaRPr b="1" sz="2200"/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Used when:</a:t>
            </a:r>
            <a:endParaRPr sz="2200"/>
          </a:p>
          <a:p>
            <a:pPr indent="-3683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A column has a large percentage of missing values</a:t>
            </a:r>
            <a:endParaRPr sz="35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5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500">
              <a:solidFill>
                <a:srgbClr val="3333CC"/>
              </a:solidFill>
            </a:endParaRPr>
          </a:p>
        </p:txBody>
      </p:sp>
      <p:grpSp>
        <p:nvGrpSpPr>
          <p:cNvPr id="518" name="Google Shape;518;g3bd183f4864_0_85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19" name="Google Shape;519;g3bd183f4864_0_85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bd183f4864_0_85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bd183f4864_0_85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bd183f4864_0_85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bd183f4864_0_85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bd183f4864_0_85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g3bd183f4864_0_85"/>
          <p:cNvSpPr txBox="1"/>
          <p:nvPr>
            <p:ph idx="12" type="sldNum"/>
          </p:nvPr>
        </p:nvSpPr>
        <p:spPr>
          <a:xfrm>
            <a:off x="533400" y="62484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d183f4864_0_99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32" name="Google Shape;532;g3bd183f4864_0_99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2. </a:t>
            </a:r>
            <a:r>
              <a:rPr b="1" lang="en-US" sz="2100"/>
              <a:t>Imputation (Filling Missing Values)</a:t>
            </a:r>
            <a:endParaRPr b="1" sz="2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a) Mean Imputation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Replace missing values with the </a:t>
            </a:r>
            <a:r>
              <a:rPr b="1" lang="en-US" sz="2100"/>
              <a:t>mean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Suitable for </a:t>
            </a:r>
            <a:r>
              <a:rPr b="1" lang="en-US" sz="2100"/>
              <a:t>numerical data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Sensitive to outliers</a:t>
            </a:r>
            <a:endParaRPr sz="2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b) Median Imputation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Replace with the </a:t>
            </a:r>
            <a:r>
              <a:rPr b="1" lang="en-US" sz="2100"/>
              <a:t>median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Better when data has outliers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c) Mode Imputation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Replace with the </a:t>
            </a:r>
            <a:r>
              <a:rPr b="1" lang="en-US" sz="2100"/>
              <a:t>most frequent value</a:t>
            </a:r>
            <a:endParaRPr b="1" sz="2100"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Best for </a:t>
            </a:r>
            <a:r>
              <a:rPr b="1" lang="en-US" sz="2100"/>
              <a:t>categorical data</a:t>
            </a:r>
            <a:endParaRPr b="1" sz="21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33" name="Google Shape;533;g3bd183f4864_0_99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34" name="Google Shape;534;g3bd183f4864_0_99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bd183f4864_0_99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bd183f4864_0_99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bd183f4864_0_99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bd183f4864_0_99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bd183f4864_0_99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g3bd183f4864_0_99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d183f4864_0_144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47" name="Google Shape;547;g3bd183f4864_0_144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d)</a:t>
            </a:r>
            <a:r>
              <a:rPr b="1" lang="en-US" sz="2100"/>
              <a:t> </a:t>
            </a:r>
            <a:r>
              <a:rPr b="1" lang="en-US" sz="2400"/>
              <a:t>End of Distribution Imputation:</a:t>
            </a:r>
            <a:r>
              <a:rPr lang="en-US" sz="2400"/>
              <a:t> 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 is a technique where missing values are replaced with </a:t>
            </a:r>
            <a:r>
              <a:rPr b="1" lang="en-US" sz="2400"/>
              <a:t>extreme values</a:t>
            </a:r>
            <a:r>
              <a:rPr lang="en-US" sz="2400"/>
              <a:t> at the </a:t>
            </a:r>
            <a:r>
              <a:rPr b="1" lang="en-US" sz="2400"/>
              <a:t>end (tail)</a:t>
            </a:r>
            <a:r>
              <a:rPr lang="en-US" sz="2400"/>
              <a:t> of a variable’s distribution.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Useful when </a:t>
            </a:r>
            <a:r>
              <a:rPr b="1" lang="en-US" sz="2400"/>
              <a:t>missing values are not random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Missing values are replaced with: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Very small value</a:t>
            </a:r>
            <a:r>
              <a:rPr lang="en-US" sz="2400"/>
              <a:t> → </a:t>
            </a:r>
            <a:r>
              <a:rPr lang="en-US" sz="2400">
                <a:solidFill>
                  <a:srgbClr val="188038"/>
                </a:solidFill>
              </a:rPr>
              <a:t>mean − 3 × standard deviation</a:t>
            </a:r>
            <a:endParaRPr sz="2400">
              <a:solidFill>
                <a:srgbClr val="188038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Very large value</a:t>
            </a:r>
            <a:r>
              <a:rPr lang="en-US" sz="2400"/>
              <a:t> → </a:t>
            </a:r>
            <a:r>
              <a:rPr lang="en-US" sz="2400">
                <a:solidFill>
                  <a:srgbClr val="188038"/>
                </a:solidFill>
              </a:rPr>
              <a:t>mean + 3 × standard deviation</a:t>
            </a:r>
            <a:endParaRPr sz="2400">
              <a:solidFill>
                <a:srgbClr val="188038"/>
              </a:solidFill>
            </a:endParaRPr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48" name="Google Shape;548;g3bd183f4864_0_144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49" name="Google Shape;549;g3bd183f4864_0_14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bd183f4864_0_14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bd183f4864_0_14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bd183f4864_0_14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bd183f4864_0_14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bd183f4864_0_14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g3bd183f4864_0_144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d183f4864_0_190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62" name="Google Shape;562;g3bd183f4864_0_190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d) Example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Suppose a variable </a:t>
            </a:r>
            <a:r>
              <a:rPr lang="en-US" sz="2400">
                <a:solidFill>
                  <a:srgbClr val="188038"/>
                </a:solidFill>
              </a:rPr>
              <a:t>Age</a:t>
            </a:r>
            <a:r>
              <a:rPr lang="en-US" sz="2400"/>
              <a:t> has: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Mean = 40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Standard Deviation = 10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Then: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Lower extreme = </a:t>
            </a:r>
            <a:r>
              <a:rPr lang="en-US" sz="2400">
                <a:solidFill>
                  <a:srgbClr val="188038"/>
                </a:solidFill>
              </a:rPr>
              <a:t>40 − 3×10 = 10</a:t>
            </a:r>
            <a:endParaRPr sz="2400">
              <a:solidFill>
                <a:srgbClr val="188038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Upper extreme = </a:t>
            </a:r>
            <a:r>
              <a:rPr lang="en-US" sz="2400">
                <a:solidFill>
                  <a:srgbClr val="188038"/>
                </a:solidFill>
              </a:rPr>
              <a:t>40 + 3×10 = 70</a:t>
            </a:r>
            <a:endParaRPr sz="24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All missing </a:t>
            </a:r>
            <a:r>
              <a:rPr lang="en-US" sz="2400">
                <a:solidFill>
                  <a:srgbClr val="188038"/>
                </a:solidFill>
              </a:rPr>
              <a:t>Age</a:t>
            </a:r>
            <a:r>
              <a:rPr lang="en-US" sz="2400"/>
              <a:t> values can be replaced with </a:t>
            </a:r>
            <a:r>
              <a:rPr b="1" lang="en-US" sz="2400"/>
              <a:t>10 or 70</a:t>
            </a:r>
            <a:r>
              <a:rPr lang="en-US" sz="2400"/>
              <a:t>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63" name="Google Shape;563;g3bd183f4864_0_19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64" name="Google Shape;564;g3bd183f4864_0_19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bd183f4864_0_19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bd183f4864_0_19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bd183f4864_0_19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bd183f4864_0_19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bd183f4864_0_19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g3bd183f4864_0_190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d183f4864_0_114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77" name="Google Shape;577;g3bd183f4864_0_114"/>
          <p:cNvSpPr txBox="1"/>
          <p:nvPr>
            <p:ph idx="1" type="body"/>
          </p:nvPr>
        </p:nvSpPr>
        <p:spPr>
          <a:xfrm>
            <a:off x="457200" y="1543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3. Forward Fill &amp; Backward Fill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Forward Fill (ffill)</a:t>
            </a:r>
            <a:r>
              <a:rPr lang="en-US" sz="2400"/>
              <a:t>: fills using previous value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Backward Fill (bfill)</a:t>
            </a:r>
            <a:r>
              <a:rPr lang="en-US" sz="2400"/>
              <a:t>: fills using next value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Common in </a:t>
            </a:r>
            <a:r>
              <a:rPr b="1" lang="en-US" sz="2400"/>
              <a:t>time-series data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4. Predictive Imputation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Missing values predicted using: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Regression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KNN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Machine Learning models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More accurate but </a:t>
            </a:r>
            <a:r>
              <a:rPr b="1" lang="en-US" sz="2400"/>
              <a:t>computationally expensive</a:t>
            </a:r>
            <a:br>
              <a:rPr b="1" lang="en-US" sz="2400"/>
            </a:br>
            <a:endParaRPr b="1" sz="2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78" name="Google Shape;578;g3bd183f4864_0_114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79" name="Google Shape;579;g3bd183f4864_0_11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bd183f4864_0_11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3bd183f4864_0_11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bd183f4864_0_11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bd183f4864_0_11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bd183f4864_0_11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g3bd183f4864_0_114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d183f4864_0_130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Missing Data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592" name="Google Shape;592;g3bd183f4864_0_130"/>
          <p:cNvSpPr txBox="1"/>
          <p:nvPr>
            <p:ph idx="1" type="body"/>
          </p:nvPr>
        </p:nvSpPr>
        <p:spPr>
          <a:xfrm>
            <a:off x="457200" y="1543200"/>
            <a:ext cx="8458200" cy="47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4. Example: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KNN Imputer: 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each missing value, find the k nearest records (based on Euclidean distance or other distance metrics).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Then, Impute the missing value using their average (for numeric) or majority vote (for categorical).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to Use:  Suitable when dataset has moderate missingness (5–20%)  Works best when features are correlated.</a:t>
            </a:r>
            <a:br>
              <a:rPr b="1" lang="en-US" sz="2400"/>
            </a:br>
            <a:endParaRPr b="1" sz="2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</p:txBody>
      </p:sp>
      <p:grpSp>
        <p:nvGrpSpPr>
          <p:cNvPr id="593" name="Google Shape;593;g3bd183f4864_0_13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594" name="Google Shape;594;g3bd183f4864_0_13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bd183f4864_0_13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bd183f4864_0_13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bd183f4864_0_13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bd183f4864_0_13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bd183f4864_0_13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g3bd183f4864_0_130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d183f4864_0_213"/>
          <p:cNvSpPr txBox="1"/>
          <p:nvPr>
            <p:ph type="title"/>
          </p:nvPr>
        </p:nvSpPr>
        <p:spPr>
          <a:xfrm>
            <a:off x="990600" y="228600"/>
            <a:ext cx="7651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Standard Deviation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607" name="Google Shape;607;g3bd183f4864_0_213"/>
          <p:cNvSpPr txBox="1"/>
          <p:nvPr>
            <p:ph idx="1" type="body"/>
          </p:nvPr>
        </p:nvSpPr>
        <p:spPr>
          <a:xfrm>
            <a:off x="457200" y="2814150"/>
            <a:ext cx="84582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Where: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US" sz="2200"/>
              <a:t>s = sample standard deviation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US" sz="2200"/>
              <a:t>xi = each sample value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2200">
                <a:solidFill>
                  <a:srgbClr val="474747"/>
                </a:solidFill>
                <a:highlight>
                  <a:srgbClr val="FFFFFF"/>
                </a:highlight>
              </a:rPr>
              <a:t>x̄</a:t>
            </a:r>
            <a:r>
              <a:rPr lang="en-US" sz="2200">
                <a:solidFill>
                  <a:srgbClr val="000000"/>
                </a:solidFill>
              </a:rPr>
              <a:t> </a:t>
            </a:r>
            <a:r>
              <a:rPr lang="en-US" sz="2200"/>
              <a:t> = sample mean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US" sz="2200"/>
              <a:t>n = number of sample data points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2, 4, 4, 4, 5, 5, 7, 9 - </a:t>
            </a:r>
            <a:r>
              <a:rPr b="1" lang="en-US" sz="2400">
                <a:solidFill>
                  <a:schemeClr val="dk1"/>
                </a:solidFill>
              </a:rPr>
              <a:t>Std dev?</a:t>
            </a:r>
            <a:endParaRPr b="1" sz="2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>
              <a:solidFill>
                <a:srgbClr val="3333CC"/>
              </a:solidFill>
            </a:endParaRPr>
          </a:p>
        </p:txBody>
      </p:sp>
      <p:grpSp>
        <p:nvGrpSpPr>
          <p:cNvPr id="608" name="Google Shape;608;g3bd183f4864_0_213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609" name="Google Shape;609;g3bd183f4864_0_21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bd183f4864_0_21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bd183f4864_0_21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bd183f4864_0_21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bd183f4864_0_21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bd183f4864_0_21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g3bd183f4864_0_213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6" name="Google Shape;616;g3bd183f4864_0_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925" y="1646825"/>
            <a:ext cx="2845350" cy="11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27c2549b1_0_486"/>
          <p:cNvSpPr txBox="1"/>
          <p:nvPr>
            <p:ph type="title"/>
          </p:nvPr>
        </p:nvSpPr>
        <p:spPr>
          <a:xfrm>
            <a:off x="990600" y="228600"/>
            <a:ext cx="7651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Standard Deviation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623" name="Google Shape;623;g3e27c2549b1_0_486"/>
          <p:cNvSpPr txBox="1"/>
          <p:nvPr>
            <p:ph idx="1" type="body"/>
          </p:nvPr>
        </p:nvSpPr>
        <p:spPr>
          <a:xfrm>
            <a:off x="457200" y="1628575"/>
            <a:ext cx="8458200" cy="4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Small standard deviation → data points are close to the mean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Large standard deviation → data points are widely spread out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Example: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Students scoring nearly the same marks → low SD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Students having very different marks → high SD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200">
              <a:solidFill>
                <a:srgbClr val="3333CC"/>
              </a:solidFill>
            </a:endParaRPr>
          </a:p>
        </p:txBody>
      </p:sp>
      <p:grpSp>
        <p:nvGrpSpPr>
          <p:cNvPr id="624" name="Google Shape;624;g3e27c2549b1_0_486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25" name="Google Shape;625;g3e27c2549b1_0_486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e27c2549b1_0_486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e27c2549b1_0_486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e27c2549b1_0_486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e27c2549b1_0_486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e27c2549b1_0_486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g3e27c2549b1_0_486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bd183f4864_0_228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>
                <a:solidFill>
                  <a:schemeClr val="accent2"/>
                </a:solidFill>
              </a:rPr>
              <a:t>Outliers : </a:t>
            </a:r>
            <a:r>
              <a:rPr lang="en-US" sz="3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What is an Outlier? </a:t>
            </a:r>
            <a:endParaRPr sz="3600">
              <a:solidFill>
                <a:schemeClr val="accent2"/>
              </a:solidFill>
            </a:endParaRPr>
          </a:p>
        </p:txBody>
      </p:sp>
      <p:grpSp>
        <p:nvGrpSpPr>
          <p:cNvPr id="638" name="Google Shape;638;g3bd183f4864_0_228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639" name="Google Shape;639;g3bd183f4864_0_22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bd183f4864_0_22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bd183f4864_0_22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bd183f4864_0_22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bd183f4864_0_22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bd183f4864_0_22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g3bd183f4864_0_228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6" name="Google Shape;646;g3bd183f4864_0_228"/>
          <p:cNvSpPr txBox="1"/>
          <p:nvPr/>
        </p:nvSpPr>
        <p:spPr>
          <a:xfrm>
            <a:off x="255650" y="1318500"/>
            <a:ext cx="8645400" cy="5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 outlier is a data point that is significantly different from the other data points in a dataset.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 simple words: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 outlier is an unusual or abnormal value that does not follow the general pattern of the data.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Suppose we measure the heights (in cm) of 5 students: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= 165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B = 170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 = 168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D = 167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 = 245 cm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Most students have heights between </a:t>
            </a:r>
            <a:r>
              <a:rPr b="1" lang="en-US" sz="1800">
                <a:latin typeface="Lato"/>
                <a:ea typeface="Lato"/>
                <a:cs typeface="Lato"/>
                <a:sym typeface="Lato"/>
              </a:rPr>
              <a:t>165 cm and 170 cm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, which is a normal range.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But student </a:t>
            </a:r>
            <a:r>
              <a:rPr b="1" lang="en-US" sz="1800">
                <a:latin typeface="Lato"/>
                <a:ea typeface="Lato"/>
                <a:cs typeface="Lato"/>
                <a:sym typeface="Lato"/>
              </a:rPr>
              <a:t>E (245 cm)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 is very far from the others.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e27c2549b1_0_541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Outliers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653" name="Google Shape;653;g3e27c2549b1_0_541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54" name="Google Shape;654;g3e27c2549b1_0_54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e27c2549b1_0_54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e27c2549b1_0_54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e27c2549b1_0_54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e27c2549b1_0_54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e27c2549b1_0_54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0" name="Google Shape;660;g3e27c2549b1_0_54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g3e27c2549b1_0_541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-US" sz="2060">
                <a:solidFill>
                  <a:schemeClr val="dk1"/>
                </a:solidFill>
              </a:rPr>
              <a:t>Why Do Outliers Occur? </a:t>
            </a:r>
            <a:endParaRPr b="1" sz="20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b="1" lang="en-US" sz="1660">
                <a:solidFill>
                  <a:srgbClr val="000000"/>
                </a:solidFill>
              </a:rPr>
              <a:t>1. Data Entry Errors</a:t>
            </a:r>
            <a:endParaRPr b="1"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660">
                <a:solidFill>
                  <a:srgbClr val="000000"/>
                </a:solidFill>
              </a:rPr>
              <a:t>Example:</a:t>
            </a:r>
            <a:endParaRPr sz="1660">
              <a:solidFill>
                <a:srgbClr val="000000"/>
              </a:solidFill>
            </a:endParaRPr>
          </a:p>
          <a:p>
            <a:pPr indent="-3340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60"/>
              <a:buFont typeface="Lato"/>
              <a:buChar char="●"/>
            </a:pPr>
            <a:r>
              <a:rPr lang="en-US" sz="1660">
                <a:solidFill>
                  <a:srgbClr val="000000"/>
                </a:solidFill>
              </a:rPr>
              <a:t>Typing 500 instead of 50</a:t>
            </a:r>
            <a:endParaRPr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770"/>
              <a:buNone/>
            </a:pPr>
            <a:r>
              <a:rPr b="1" lang="en-US" sz="1660">
                <a:solidFill>
                  <a:srgbClr val="000000"/>
                </a:solidFill>
              </a:rPr>
              <a:t>2. Measurement Errors</a:t>
            </a:r>
            <a:endParaRPr b="1"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660">
                <a:solidFill>
                  <a:srgbClr val="000000"/>
                </a:solidFill>
              </a:rPr>
              <a:t>Faulty sensors or instruments.</a:t>
            </a:r>
            <a:endParaRPr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10"/>
          </a:p>
        </p:txBody>
      </p:sp>
      <p:sp>
        <p:nvSpPr>
          <p:cNvPr id="662" name="Google Shape;662;g3e27c2549b1_0_541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3. Natural Variations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Sometimes unusual values are real.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Example: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000000"/>
                </a:solidFill>
              </a:rPr>
              <a:t>Extremely rich person's income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4. Experimental Errors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Problems during data collection.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27c2549b1_0_518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Outliers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669" name="Google Shape;669;g3e27c2549b1_0_518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70" name="Google Shape;670;g3e27c2549b1_0_51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e27c2549b1_0_51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e27c2549b1_0_51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e27c2549b1_0_51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e27c2549b1_0_51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e27c2549b1_0_51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" name="Google Shape;676;g3e27c2549b1_0_518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7" name="Google Shape;677;g3e27c2549b1_0_518"/>
          <p:cNvSpPr txBox="1"/>
          <p:nvPr/>
        </p:nvSpPr>
        <p:spPr>
          <a:xfrm>
            <a:off x="255650" y="1360400"/>
            <a:ext cx="5234700" cy="4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Quartiles, outliers and boxplots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Quartiles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(25</a:t>
            </a:r>
            <a:r>
              <a:rPr baseline="30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th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percentile),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(75</a:t>
            </a:r>
            <a:r>
              <a:rPr baseline="30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th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percentile)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Inter-quartile range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IQR =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 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Five number summary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min, 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median,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baseline="-25000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max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Boxplot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ends of the box are the quartiles; median is marked; add whiskers, and plot outliers individually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■"/>
            </a:pPr>
            <a:r>
              <a:rPr b="1"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Outlier</a:t>
            </a:r>
            <a:r>
              <a:rPr lang="en-US" sz="18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usually, a value higher/lower than 1.5 x IQR</a:t>
            </a:r>
            <a:endParaRPr sz="28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three" id="678" name="Google Shape;678;g3e27c2549b1_0_5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750" y="2904900"/>
            <a:ext cx="38485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e27c2549b1_0_502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Handling Outliers</a:t>
            </a:r>
            <a:endParaRPr sz="4000">
              <a:solidFill>
                <a:schemeClr val="accent6"/>
              </a:solidFill>
            </a:endParaRPr>
          </a:p>
        </p:txBody>
      </p:sp>
      <p:grpSp>
        <p:nvGrpSpPr>
          <p:cNvPr id="685" name="Google Shape;685;g3e27c2549b1_0_502"/>
          <p:cNvGrpSpPr/>
          <p:nvPr/>
        </p:nvGrpSpPr>
        <p:grpSpPr>
          <a:xfrm>
            <a:off x="609600" y="533400"/>
            <a:ext cx="303280" cy="303581"/>
            <a:chOff x="703" y="300"/>
            <a:chExt cx="181" cy="181"/>
          </a:xfrm>
        </p:grpSpPr>
        <p:sp>
          <p:nvSpPr>
            <p:cNvPr id="686" name="Google Shape;686;g3e27c2549b1_0_502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e27c2549b1_0_502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e27c2549b1_0_502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e27c2549b1_0_502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e27c2549b1_0_502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e27c2549b1_0_502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g3e27c2549b1_0_502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3" name="Google Shape;693;g3e27c2549b1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75" y="1905000"/>
            <a:ext cx="8033625" cy="39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bd183f4864_0_278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Feature Scaling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00" name="Google Shape;700;g3bd183f4864_0_278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What is Feature Scaling?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Feature scaling</a:t>
            </a:r>
            <a:r>
              <a:rPr lang="en-US" sz="1800"/>
              <a:t> is a preprocessing technique used to bring numerical features to a </a:t>
            </a:r>
            <a:r>
              <a:rPr b="1" lang="en-US" sz="1800"/>
              <a:t>common scale</a:t>
            </a:r>
            <a:r>
              <a:rPr lang="en-US" sz="1800"/>
              <a:t> so that no feature dominates others due to its magnitude.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Why Feature Scaling is Needed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ML algorithms use </a:t>
            </a:r>
            <a:r>
              <a:rPr b="1" lang="en-US" sz="1800"/>
              <a:t>distance or gradient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Features with larger values dominate: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KNN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K-Means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SVM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Faster convergence in training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Improves model performance</a:t>
            </a:r>
            <a:endParaRPr sz="18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rgbClr val="3333CC"/>
              </a:solidFill>
            </a:endParaRPr>
          </a:p>
        </p:txBody>
      </p:sp>
      <p:grpSp>
        <p:nvGrpSpPr>
          <p:cNvPr id="701" name="Google Shape;701;g3bd183f4864_0_278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02" name="Google Shape;702;g3bd183f4864_0_278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bd183f4864_0_278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bd183f4864_0_278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bd183f4864_0_278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bd183f4864_0_278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bd183f4864_0_278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8" name="Google Shape;708;g3bd183f4864_0_278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bd183f4864_0_295"/>
          <p:cNvSpPr txBox="1"/>
          <p:nvPr>
            <p:ph type="title"/>
          </p:nvPr>
        </p:nvSpPr>
        <p:spPr>
          <a:xfrm>
            <a:off x="990600" y="228600"/>
            <a:ext cx="765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chemeClr val="accent2"/>
                </a:solidFill>
              </a:rPr>
              <a:t>Feature Scaling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15" name="Google Shape;715;g3bd183f4864_0_295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Normalization (Min–Max Scaling)</a:t>
            </a:r>
            <a:endParaRPr sz="1800"/>
          </a:p>
          <a:p>
            <a:pPr indent="0" lvl="0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1800"/>
              <a:t>Normalization rescales features to a </a:t>
            </a:r>
            <a:r>
              <a:rPr b="1" lang="en-US" sz="1800"/>
              <a:t>fixed range</a:t>
            </a:r>
            <a:r>
              <a:rPr lang="en-US" sz="1800"/>
              <a:t>, usually </a:t>
            </a:r>
            <a:r>
              <a:rPr b="1" lang="en-US" sz="1800"/>
              <a:t>[0, 1]</a:t>
            </a:r>
            <a:r>
              <a:rPr lang="en-US" sz="1800"/>
              <a:t>.</a:t>
            </a:r>
            <a:endParaRPr sz="18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0" lvl="0" marL="203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100"/>
          </a:p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/>
              <a:t>Standardization (Z-Score Scaling)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</p:txBody>
      </p:sp>
      <p:grpSp>
        <p:nvGrpSpPr>
          <p:cNvPr id="716" name="Google Shape;716;g3bd183f4864_0_295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17" name="Google Shape;717;g3bd183f4864_0_295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bd183f4864_0_295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bd183f4864_0_295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bd183f4864_0_295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3bd183f4864_0_295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3bd183f4864_0_295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3" name="Google Shape;723;g3bd183f4864_0_295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4" name="Google Shape;724;g3bd183f4864_0_2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484886"/>
            <a:ext cx="3067050" cy="1306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bd183f4864_0_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9350" y="4648200"/>
            <a:ext cx="23431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bd183f4864_0_314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32" name="Google Shape;732;g3bd183f4864_0_314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/>
              <a:t>One-hot encoding is a technique to represent categorical variables as binary dummy variables. For a categorical variable with k categories, one hot encoding produces k binary columns. Not suitable for high cardinality feature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</p:txBody>
      </p:sp>
      <p:grpSp>
        <p:nvGrpSpPr>
          <p:cNvPr id="733" name="Google Shape;733;g3bd183f4864_0_314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34" name="Google Shape;734;g3bd183f4864_0_314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bd183f4864_0_314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bd183f4864_0_314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bd183f4864_0_314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bd183f4864_0_314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bd183f4864_0_314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g3bd183f4864_0_314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1" name="Google Shape;741;g3bd183f4864_0_3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8" y="2741600"/>
            <a:ext cx="27527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bd183f4864_0_3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4125" y="2633825"/>
            <a:ext cx="36004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d61b9f037_0_3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49" name="Google Shape;749;g3bd61b9f037_0_3"/>
          <p:cNvSpPr txBox="1"/>
          <p:nvPr>
            <p:ph idx="1" type="body"/>
          </p:nvPr>
        </p:nvSpPr>
        <p:spPr>
          <a:xfrm>
            <a:off x="457200" y="14478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2. Label  encoding: Find all unique categories in the column. Assigns an integer ID to each category.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</p:txBody>
      </p:sp>
      <p:grpSp>
        <p:nvGrpSpPr>
          <p:cNvPr id="750" name="Google Shape;750;g3bd61b9f037_0_3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51" name="Google Shape;751;g3bd61b9f037_0_3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bd61b9f037_0_3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bd61b9f037_0_3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bd61b9f037_0_3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bd61b9f037_0_3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3bd61b9f037_0_3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g3bd61b9f037_0_3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8" name="Google Shape;758;g3bd61b9f03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8" y="2741600"/>
            <a:ext cx="27527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g3bd61b9f037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413" y="2765400"/>
            <a:ext cx="275272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d61b9f037_0_21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66" name="Google Shape;766;g3bd61b9f037_0_21"/>
          <p:cNvSpPr txBox="1"/>
          <p:nvPr>
            <p:ph idx="1" type="body"/>
          </p:nvPr>
        </p:nvSpPr>
        <p:spPr>
          <a:xfrm>
            <a:off x="339925" y="1447800"/>
            <a:ext cx="85755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3. Target encoding: Replace each category with a statistic of the target variable (like mean).</a:t>
            </a:r>
            <a:endParaRPr sz="1100"/>
          </a:p>
        </p:txBody>
      </p:sp>
      <p:grpSp>
        <p:nvGrpSpPr>
          <p:cNvPr id="767" name="Google Shape;767;g3bd61b9f037_0_21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68" name="Google Shape;768;g3bd61b9f037_0_2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bd61b9f037_0_2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bd61b9f037_0_2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3bd61b9f037_0_2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bd61b9f037_0_2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bd61b9f037_0_2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4" name="Google Shape;774;g3bd61b9f037_0_21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5" name="Google Shape;775;g3bd61b9f03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175" y="3625513"/>
            <a:ext cx="2752725" cy="235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3bd61b9f037_0_21"/>
          <p:cNvSpPr txBox="1"/>
          <p:nvPr/>
        </p:nvSpPr>
        <p:spPr>
          <a:xfrm>
            <a:off x="3453900" y="2267100"/>
            <a:ext cx="42765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 =3, target = 1, mean = 1/3=0.33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 =1, target = 0, mean = 0/1 =0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=3, target = 2, mean = 2/3=0.67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7" name="Google Shape;777;g3bd61b9f03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000" y="3626425"/>
            <a:ext cx="2781300" cy="23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bd61b9f037_0_40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784" name="Google Shape;784;g3bd61b9f037_0_40"/>
          <p:cNvSpPr txBox="1"/>
          <p:nvPr>
            <p:ph idx="1" type="body"/>
          </p:nvPr>
        </p:nvSpPr>
        <p:spPr>
          <a:xfrm>
            <a:off x="176100" y="1166775"/>
            <a:ext cx="84663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4. Weighted Target encoding: Replace each category with a statistic of the target variable (like mean).</a:t>
            </a:r>
            <a:endParaRPr sz="1100"/>
          </a:p>
        </p:txBody>
      </p:sp>
      <p:grpSp>
        <p:nvGrpSpPr>
          <p:cNvPr id="785" name="Google Shape;785;g3bd61b9f037_0_40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786" name="Google Shape;786;g3bd61b9f037_0_40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bd61b9f037_0_40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bd61b9f037_0_40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bd61b9f037_0_40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bd61b9f037_0_40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bd61b9f037_0_40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2" name="Google Shape;792;g3bd61b9f037_0_40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3" name="Google Shape;793;g3bd61b9f037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600" y="1977600"/>
            <a:ext cx="2444500" cy="22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g3bd61b9f037_0_40"/>
          <p:cNvSpPr txBox="1"/>
          <p:nvPr/>
        </p:nvSpPr>
        <p:spPr>
          <a:xfrm>
            <a:off x="0" y="2826525"/>
            <a:ext cx="6478500" cy="3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n=count (usually the number of rows)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m= weight for global mean (user defined)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Overall/global mean = 3/7 =0.42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1 = Blue, category mean = 1/3 = 0.33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2=Red, category mean = 0/1=0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3=Green, category mean = 2/3= 0.667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m=2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blue = 3*0.33 + 2*0.42 / 3+2 =0.37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red = 1*0 + 2*0.42 / 1+2 =0.29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green =3*0.66 + 2*0.42 / 3+2 =0.57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g3bd61b9f037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6600" y="4443300"/>
            <a:ext cx="2444500" cy="23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bd61b9f037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625" y="1874025"/>
            <a:ext cx="6029651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bd61b9f037_0_76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803" name="Google Shape;803;g3bd61b9f037_0_76"/>
          <p:cNvSpPr txBox="1"/>
          <p:nvPr>
            <p:ph idx="1" type="body"/>
          </p:nvPr>
        </p:nvSpPr>
        <p:spPr>
          <a:xfrm>
            <a:off x="176100" y="1436475"/>
            <a:ext cx="8466300" cy="3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4. Weighted Target encoding: It causes data leakage</a:t>
            </a:r>
            <a:endParaRPr b="1" sz="2400"/>
          </a:p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leakage</a:t>
            </a:r>
            <a:r>
              <a:rPr lang="en-US" sz="2400"/>
              <a:t> happens when </a:t>
            </a:r>
            <a:r>
              <a:rPr b="1" lang="en-US" sz="2400"/>
              <a:t>information from outside the training data</a:t>
            </a:r>
            <a:r>
              <a:rPr lang="en-US" sz="2400"/>
              <a:t> (especially from the </a:t>
            </a:r>
            <a:r>
              <a:rPr b="1" lang="en-US" sz="2400"/>
              <a:t>target/label</a:t>
            </a:r>
            <a:r>
              <a:rPr lang="en-US" sz="2400"/>
              <a:t>) is </a:t>
            </a:r>
            <a:r>
              <a:rPr b="1" lang="en-US" sz="2400"/>
              <a:t>used to create features</a:t>
            </a:r>
            <a:r>
              <a:rPr lang="en-US" sz="2400"/>
              <a:t>, causing the model to “cheat”.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Leakage occurs because:</a:t>
            </a:r>
            <a:endParaRPr b="1"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Test labels influenced the encoded values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Model indirectly “knows” test answers</a:t>
            </a:r>
            <a:endParaRPr sz="2400"/>
          </a:p>
          <a:p>
            <a:pPr indent="0" lvl="0" marL="1714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804" name="Google Shape;804;g3bd61b9f037_0_76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805" name="Google Shape;805;g3bd61b9f037_0_76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bd61b9f037_0_76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bd61b9f037_0_76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bd61b9f037_0_76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bd61b9f037_0_76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bd61b9f037_0_76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g3bd61b9f037_0_76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bd61b9f037_0_57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818" name="Google Shape;818;g3bd61b9f037_0_57"/>
          <p:cNvSpPr txBox="1"/>
          <p:nvPr>
            <p:ph idx="1" type="body"/>
          </p:nvPr>
        </p:nvSpPr>
        <p:spPr>
          <a:xfrm>
            <a:off x="107700" y="1447800"/>
            <a:ext cx="88077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5. K-Fold Target encoding: To reduce data leakage as the rows do not use their own target values to calculate encoding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Splitting the data into equal size of subsets : 2-fold</a:t>
            </a:r>
            <a:endParaRPr b="1" sz="1800"/>
          </a:p>
        </p:txBody>
      </p:sp>
      <p:grpSp>
        <p:nvGrpSpPr>
          <p:cNvPr id="819" name="Google Shape;819;g3bd61b9f037_0_57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820" name="Google Shape;820;g3bd61b9f037_0_5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bd61b9f037_0_5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bd61b9f037_0_5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bd61b9f037_0_5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bd61b9f037_0_5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bd61b9f037_0_5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6" name="Google Shape;826;g3bd61b9f037_0_57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7" name="Google Shape;827;g3bd61b9f037_0_57"/>
          <p:cNvSpPr txBox="1"/>
          <p:nvPr/>
        </p:nvSpPr>
        <p:spPr>
          <a:xfrm>
            <a:off x="2920875" y="3303800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bd61b9f037_0_57"/>
          <p:cNvSpPr txBox="1"/>
          <p:nvPr/>
        </p:nvSpPr>
        <p:spPr>
          <a:xfrm>
            <a:off x="2920875" y="4923275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bd61b9f037_0_57"/>
          <p:cNvSpPr txBox="1"/>
          <p:nvPr/>
        </p:nvSpPr>
        <p:spPr>
          <a:xfrm>
            <a:off x="4128225" y="2977600"/>
            <a:ext cx="5016000" cy="27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A: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blue = 1*0 + 2*0.33 / 1+2 =0.22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red = 0*0 + 2*0.33 / 0+2 = 0.33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green =2*0.5 + 2*0.33 / 2+2 =0.42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B: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blue = 2*0.5 + 2*0.5 / 2+2 =0.5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red = 1*0 + 2*0.5 / 1+2 =0.33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mean of green =1*1 + 2*0.5 / 1+2 =0.67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g3bd61b9f037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2773600"/>
            <a:ext cx="28670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bd61b9f037_0_101"/>
          <p:cNvSpPr txBox="1"/>
          <p:nvPr>
            <p:ph type="title"/>
          </p:nvPr>
        </p:nvSpPr>
        <p:spPr>
          <a:xfrm>
            <a:off x="990600" y="152400"/>
            <a:ext cx="7651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chemeClr val="accent6"/>
                </a:solidFill>
              </a:rPr>
              <a:t>Encoding Categorical Variable </a:t>
            </a:r>
            <a:endParaRPr sz="4000">
              <a:solidFill>
                <a:schemeClr val="accent6"/>
              </a:solidFill>
            </a:endParaRPr>
          </a:p>
        </p:txBody>
      </p:sp>
      <p:sp>
        <p:nvSpPr>
          <p:cNvPr id="837" name="Google Shape;837;g3bd61b9f037_0_101"/>
          <p:cNvSpPr txBox="1"/>
          <p:nvPr>
            <p:ph idx="1" type="body"/>
          </p:nvPr>
        </p:nvSpPr>
        <p:spPr>
          <a:xfrm>
            <a:off x="107700" y="1447800"/>
            <a:ext cx="88077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5. K-Fold Target encoding: </a:t>
            </a:r>
            <a:endParaRPr b="1" sz="1800"/>
          </a:p>
        </p:txBody>
      </p:sp>
      <p:grpSp>
        <p:nvGrpSpPr>
          <p:cNvPr id="838" name="Google Shape;838;g3bd61b9f037_0_101"/>
          <p:cNvGrpSpPr/>
          <p:nvPr/>
        </p:nvGrpSpPr>
        <p:grpSpPr>
          <a:xfrm>
            <a:off x="609600" y="533400"/>
            <a:ext cx="303246" cy="303397"/>
            <a:chOff x="703" y="300"/>
            <a:chExt cx="181" cy="181"/>
          </a:xfrm>
        </p:grpSpPr>
        <p:sp>
          <p:nvSpPr>
            <p:cNvPr id="839" name="Google Shape;839;g3bd61b9f037_0_101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g3bd61b9f037_0_101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g3bd61b9f037_0_101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g3bd61b9f037_0_101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g3bd61b9f037_0_101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g3bd61b9f037_0_101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5" name="Google Shape;845;g3bd61b9f037_0_101"/>
          <p:cNvSpPr txBox="1"/>
          <p:nvPr>
            <p:ph idx="12" type="sldNum"/>
          </p:nvPr>
        </p:nvSpPr>
        <p:spPr>
          <a:xfrm>
            <a:off x="0" y="6248400"/>
            <a:ext cx="838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g3bd61b9f037_0_101"/>
          <p:cNvSpPr txBox="1"/>
          <p:nvPr/>
        </p:nvSpPr>
        <p:spPr>
          <a:xfrm>
            <a:off x="3418500" y="3149700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bd61b9f037_0_101"/>
          <p:cNvSpPr txBox="1"/>
          <p:nvPr/>
        </p:nvSpPr>
        <p:spPr>
          <a:xfrm>
            <a:off x="3418500" y="4840050"/>
            <a:ext cx="1153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g3bd61b9f037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63" y="2572950"/>
            <a:ext cx="2867025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g3bd61b9f037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9438" y="2645913"/>
            <a:ext cx="277177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7"/>
          <p:cNvSpPr txBox="1"/>
          <p:nvPr>
            <p:ph idx="1" type="body"/>
          </p:nvPr>
        </p:nvSpPr>
        <p:spPr>
          <a:xfrm>
            <a:off x="457200" y="1295399"/>
            <a:ext cx="822960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t/>
            </a:r>
            <a:endParaRPr sz="7200">
              <a:solidFill>
                <a:srgbClr val="02406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024069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024069"/>
                </a:solidFill>
              </a:rPr>
              <a:t>Thank You</a:t>
            </a:r>
            <a:endParaRPr/>
          </a:p>
        </p:txBody>
      </p:sp>
      <p:grpSp>
        <p:nvGrpSpPr>
          <p:cNvPr id="855" name="Google Shape;855;p17"/>
          <p:cNvGrpSpPr/>
          <p:nvPr/>
        </p:nvGrpSpPr>
        <p:grpSpPr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856" name="Google Shape;856;p17"/>
            <p:cNvSpPr/>
            <p:nvPr/>
          </p:nvSpPr>
          <p:spPr>
            <a:xfrm>
              <a:off x="736" y="300"/>
              <a:ext cx="81" cy="46"/>
            </a:xfrm>
            <a:custGeom>
              <a:rect b="b" l="l" r="r" t="t"/>
              <a:pathLst>
                <a:path extrusionOk="0" h="160" w="283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835" y="376"/>
              <a:ext cx="49" cy="79"/>
            </a:xfrm>
            <a:custGeom>
              <a:rect b="b" l="l" r="r" t="t"/>
              <a:pathLst>
                <a:path extrusionOk="0" h="276" w="172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703" y="326"/>
              <a:ext cx="50" cy="79"/>
            </a:xfrm>
            <a:custGeom>
              <a:rect b="b" l="l" r="r" t="t"/>
              <a:pathLst>
                <a:path extrusionOk="0" h="276" w="173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706" y="407"/>
              <a:ext cx="66" cy="68"/>
            </a:xfrm>
            <a:custGeom>
              <a:rect b="b" l="l" r="r" t="t"/>
              <a:pathLst>
                <a:path extrusionOk="0" h="239" w="230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815" y="306"/>
              <a:ext cx="66" cy="69"/>
            </a:xfrm>
            <a:custGeom>
              <a:rect b="b" l="l" r="r" t="t"/>
              <a:pathLst>
                <a:path extrusionOk="0" h="240" w="23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770" y="435"/>
              <a:ext cx="81" cy="46"/>
            </a:xfrm>
            <a:custGeom>
              <a:rect b="b" l="l" r="r" t="t"/>
              <a:pathLst>
                <a:path extrusionOk="0" h="159" w="283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17"/>
          <p:cNvGrpSpPr/>
          <p:nvPr/>
        </p:nvGrpSpPr>
        <p:grpSpPr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863" name="Google Shape;863;p17"/>
            <p:cNvSpPr/>
            <p:nvPr/>
          </p:nvSpPr>
          <p:spPr>
            <a:xfrm>
              <a:off x="5396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5642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5369" y="3761"/>
              <a:ext cx="76" cy="160"/>
            </a:xfrm>
            <a:custGeom>
              <a:rect b="b" l="l" r="r" t="t"/>
              <a:pathLst>
                <a:path extrusionOk="0" h="210" w="10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5396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5553" y="3667"/>
              <a:ext cx="138" cy="112"/>
            </a:xfrm>
            <a:custGeom>
              <a:rect b="b" l="l" r="r" t="t"/>
              <a:pathLst>
                <a:path extrusionOk="0" h="148" w="182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5553" y="3902"/>
              <a:ext cx="138" cy="113"/>
            </a:xfrm>
            <a:custGeom>
              <a:rect b="b" l="l" r="r" t="t"/>
              <a:pathLst>
                <a:path extrusionOk="0" h="148" w="182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9" name="Google Shape;869;p17"/>
          <p:cNvGrpSpPr/>
          <p:nvPr/>
        </p:nvGrpSpPr>
        <p:grpSpPr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870" name="Google Shape;870;p17"/>
            <p:cNvSpPr/>
            <p:nvPr/>
          </p:nvSpPr>
          <p:spPr>
            <a:xfrm>
              <a:off x="5193" y="3937"/>
              <a:ext cx="156" cy="87"/>
            </a:xfrm>
            <a:custGeom>
              <a:rect b="b" l="l" r="r" t="t"/>
              <a:pathLst>
                <a:path extrusionOk="0" h="114" w="206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5383" y="4083"/>
              <a:ext cx="95" cy="152"/>
            </a:xfrm>
            <a:custGeom>
              <a:rect b="b" l="l" r="r" t="t"/>
              <a:pathLst>
                <a:path extrusionOk="0" h="200" w="126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5129" y="3987"/>
              <a:ext cx="96" cy="152"/>
            </a:xfrm>
            <a:custGeom>
              <a:rect b="b" l="l" r="r" t="t"/>
              <a:pathLst>
                <a:path extrusionOk="0" h="200" w="126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5135" y="4142"/>
              <a:ext cx="126" cy="132"/>
            </a:xfrm>
            <a:custGeom>
              <a:rect b="b" l="l" r="r" t="t"/>
              <a:pathLst>
                <a:path extrusionOk="0" h="174" w="166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5345" y="3948"/>
              <a:ext cx="127" cy="132"/>
            </a:xfrm>
            <a:custGeom>
              <a:rect b="b" l="l" r="r" t="t"/>
              <a:pathLst>
                <a:path extrusionOk="0" h="174" w="168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5258" y="4197"/>
              <a:ext cx="156" cy="88"/>
            </a:xfrm>
            <a:custGeom>
              <a:rect b="b" l="l" r="r" t="t"/>
              <a:pathLst>
                <a:path extrusionOk="0" h="116" w="20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6" name="Google Shape;876;p17"/>
          <p:cNvGrpSpPr/>
          <p:nvPr/>
        </p:nvGrpSpPr>
        <p:grpSpPr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877" name="Google Shape;877;p17"/>
            <p:cNvSpPr/>
            <p:nvPr/>
          </p:nvSpPr>
          <p:spPr>
            <a:xfrm>
              <a:off x="5135" y="3845"/>
              <a:ext cx="94" cy="86"/>
            </a:xfrm>
            <a:custGeom>
              <a:rect b="b" l="l" r="r" t="t"/>
              <a:pathLst>
                <a:path extrusionOk="0" h="114" w="12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5135" y="3685"/>
              <a:ext cx="94" cy="87"/>
            </a:xfrm>
            <a:custGeom>
              <a:rect b="b" l="l" r="r" t="t"/>
              <a:pathLst>
                <a:path extrusionOk="0" h="114" w="12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5114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5293" y="3754"/>
              <a:ext cx="67" cy="109"/>
            </a:xfrm>
            <a:custGeom>
              <a:rect b="b" l="l" r="r" t="t"/>
              <a:pathLst>
                <a:path extrusionOk="0" h="144" w="88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5245" y="3845"/>
              <a:ext cx="95" cy="86"/>
            </a:xfrm>
            <a:custGeom>
              <a:rect b="b" l="l" r="r" t="t"/>
              <a:pathLst>
                <a:path extrusionOk="0" h="114" w="126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5245" y="3685"/>
              <a:ext cx="95" cy="87"/>
            </a:xfrm>
            <a:custGeom>
              <a:rect b="b" l="l" r="r" t="t"/>
              <a:pathLst>
                <a:path extrusionOk="0" h="114" w="126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3" name="Google Shape;883;p17"/>
          <p:cNvSpPr txBox="1"/>
          <p:nvPr>
            <p:ph idx="12" type="sldNum"/>
          </p:nvPr>
        </p:nvSpPr>
        <p:spPr>
          <a:xfrm>
            <a:off x="5334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2015-05-03T19:01:06Z</dcterms:created>
  <dc:creator>Windows User</dc:creator>
</cp:coreProperties>
</file>