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9144000"/>
  <p:notesSz cx="6858000" cy="9144000"/>
  <p:embeddedFontLst>
    <p:embeddedFont>
      <p:font typeface="Raleway"/>
      <p:regular r:id="rId41"/>
      <p:bold r:id="rId42"/>
      <p:italic r:id="rId43"/>
      <p:boldItalic r:id="rId44"/>
    </p:embeddedFont>
    <p:embeddedFont>
      <p:font typeface="Roboto"/>
      <p:regular r:id="rId45"/>
      <p:bold r:id="rId46"/>
      <p:italic r:id="rId47"/>
      <p:boldItalic r:id="rId48"/>
    </p:embeddedFont>
    <p:embeddedFont>
      <p:font typeface="Lato"/>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08465C-AE8C-49D3-A9BA-CB0D20574575}">
  <a:tblStyle styleId="{8508465C-AE8C-49D3-A9BA-CB0D2057457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Raleway-bold.fntdata"/><Relationship Id="rId41" Type="http://schemas.openxmlformats.org/officeDocument/2006/relationships/font" Target="fonts/Raleway-regular.fntdata"/><Relationship Id="rId44" Type="http://schemas.openxmlformats.org/officeDocument/2006/relationships/font" Target="fonts/Raleway-boldItalic.fntdata"/><Relationship Id="rId43" Type="http://schemas.openxmlformats.org/officeDocument/2006/relationships/font" Target="fonts/Raleway-italic.fntdata"/><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boldItalic.fntdata"/><Relationship Id="rId47" Type="http://schemas.openxmlformats.org/officeDocument/2006/relationships/font" Target="fonts/Roboto-italic.fntdata"/><Relationship Id="rId49" Type="http://schemas.openxmlformats.org/officeDocument/2006/relationships/font" Target="fonts/La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Lato-italic.fntdata"/><Relationship Id="rId50" Type="http://schemas.openxmlformats.org/officeDocument/2006/relationships/font" Target="fonts/Lato-bold.fntdata"/><Relationship Id="rId52" Type="http://schemas.openxmlformats.org/officeDocument/2006/relationships/font" Target="fonts/La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p:nvPr/>
        </p:nvSpPr>
        <p:spPr>
          <a:xfrm>
            <a:off x="3884613" y="8685213"/>
            <a:ext cx="2971800" cy="457200"/>
          </a:xfrm>
          <a:prstGeom prst="rect">
            <a:avLst/>
          </a:prstGeom>
          <a:noFill/>
          <a:ln>
            <a:noFill/>
          </a:ln>
        </p:spPr>
        <p:txBody>
          <a:bodyPr anchorCtr="0" anchor="b" bIns="46025" lIns="92075" spcFirstLastPara="1" rIns="92075" wrap="square" tIns="460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1" name="Google Shape;10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8" name="Google Shape;318;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 name="Google Shape;354;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dcb0d09f2a_0_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dcb0d09f2a_0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g3dcb0d09f2a_0_4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dcb0d09f2a_0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dcb0d09f2a_0_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g3dcb0d09f2a_0_2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dcb0d09f2a_0_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dcb0d09f2a_0_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g3dcb0d09f2a_0_3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dcb0d09f2a_0_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dcb0d09f2a_0_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g3dcb0d09f2a_0_6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dcb0d09f2a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g3dcb0d09f2a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8" name="Google Shape;498;g3dcb0d09f2a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3" name="Google Shape;513;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7" name="Google Shape;587;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3" name="Google Shape;623;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8" name="Google Shape;638;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3" name="Google Shape;653;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7" name="Google Shape;677;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5" name="Google Shape;685;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3" name="Google Shape;693;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4" name="Google Shape;694;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3" name="Google Shape;703;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17aab8b5e1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17aab8b5e1_0_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g317aab8b5e1_0_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3" name="Shape 13"/>
        <p:cNvGrpSpPr/>
        <p:nvPr/>
      </p:nvGrpSpPr>
      <p:grpSpPr>
        <a:xfrm>
          <a:off x="0" y="0"/>
          <a:ext cx="0" cy="0"/>
          <a:chOff x="0" y="0"/>
          <a:chExt cx="0" cy="0"/>
        </a:xfrm>
      </p:grpSpPr>
      <p:sp>
        <p:nvSpPr>
          <p:cNvPr id="14" name="Google Shape;14;p2"/>
          <p:cNvSpPr/>
          <p:nvPr/>
        </p:nvSpPr>
        <p:spPr>
          <a:xfrm>
            <a:off x="0" y="0"/>
            <a:ext cx="9144000" cy="65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 name="Google Shape;15;p2"/>
          <p:cNvGrpSpPr/>
          <p:nvPr/>
        </p:nvGrpSpPr>
        <p:grpSpPr>
          <a:xfrm>
            <a:off x="830392" y="1588427"/>
            <a:ext cx="745763" cy="61102"/>
            <a:chOff x="4580561" y="2589004"/>
            <a:chExt cx="1064464" cy="25200"/>
          </a:xfrm>
        </p:grpSpPr>
        <p:sp>
          <p:nvSpPr>
            <p:cNvPr id="16" name="Google Shape;16;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 name="Google Shape;18;p2"/>
          <p:cNvSpPr txBox="1"/>
          <p:nvPr>
            <p:ph type="ctrTitle"/>
          </p:nvPr>
        </p:nvSpPr>
        <p:spPr>
          <a:xfrm>
            <a:off x="729450" y="1763267"/>
            <a:ext cx="7688100" cy="2219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9" name="Google Shape;19;p2"/>
          <p:cNvSpPr txBox="1"/>
          <p:nvPr>
            <p:ph idx="1" type="subTitle"/>
          </p:nvPr>
        </p:nvSpPr>
        <p:spPr>
          <a:xfrm>
            <a:off x="729627" y="4230533"/>
            <a:ext cx="7688100" cy="721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20" name="Google Shape;20;p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1" name="Shape 21"/>
        <p:cNvGrpSpPr/>
        <p:nvPr/>
      </p:nvGrpSpPr>
      <p:grpSpPr>
        <a:xfrm>
          <a:off x="0" y="0"/>
          <a:ext cx="0" cy="0"/>
          <a:chOff x="0" y="0"/>
          <a:chExt cx="0" cy="0"/>
        </a:xfrm>
      </p:grpSpPr>
      <p:grpSp>
        <p:nvGrpSpPr>
          <p:cNvPr id="22" name="Google Shape;22;p3"/>
          <p:cNvGrpSpPr/>
          <p:nvPr/>
        </p:nvGrpSpPr>
        <p:grpSpPr>
          <a:xfrm>
            <a:off x="830392" y="1588427"/>
            <a:ext cx="745763" cy="61102"/>
            <a:chOff x="4580561" y="2589004"/>
            <a:chExt cx="1064464" cy="25200"/>
          </a:xfrm>
        </p:grpSpPr>
        <p:sp>
          <p:nvSpPr>
            <p:cNvPr id="23" name="Google Shape;23;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p3"/>
          <p:cNvSpPr txBox="1"/>
          <p:nvPr>
            <p:ph type="title"/>
          </p:nvPr>
        </p:nvSpPr>
        <p:spPr>
          <a:xfrm>
            <a:off x="729450" y="1763267"/>
            <a:ext cx="7688400" cy="202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6" name="Google Shape;26;p3"/>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4"/>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 name="Google Shape;29;p4"/>
          <p:cNvGrpSpPr/>
          <p:nvPr/>
        </p:nvGrpSpPr>
        <p:grpSpPr>
          <a:xfrm>
            <a:off x="830392" y="1588427"/>
            <a:ext cx="745763" cy="61102"/>
            <a:chOff x="4580561" y="2589004"/>
            <a:chExt cx="1064464" cy="25200"/>
          </a:xfrm>
        </p:grpSpPr>
        <p:sp>
          <p:nvSpPr>
            <p:cNvPr id="30" name="Google Shape;30;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4"/>
          <p:cNvSpPr txBox="1"/>
          <p:nvPr>
            <p:ph type="title"/>
          </p:nvPr>
        </p:nvSpPr>
        <p:spPr>
          <a:xfrm>
            <a:off x="729450" y="1758200"/>
            <a:ext cx="76887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3" name="Google Shape;33;p4"/>
          <p:cNvSpPr txBox="1"/>
          <p:nvPr>
            <p:ph idx="1" type="body"/>
          </p:nvPr>
        </p:nvSpPr>
        <p:spPr>
          <a:xfrm>
            <a:off x="729450" y="2771833"/>
            <a:ext cx="76887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4" name="Google Shape;34;p4"/>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 name="Shape 35"/>
        <p:cNvGrpSpPr/>
        <p:nvPr/>
      </p:nvGrpSpPr>
      <p:grpSpPr>
        <a:xfrm>
          <a:off x="0" y="0"/>
          <a:ext cx="0" cy="0"/>
          <a:chOff x="0" y="0"/>
          <a:chExt cx="0" cy="0"/>
        </a:xfrm>
      </p:grpSpPr>
      <p:sp>
        <p:nvSpPr>
          <p:cNvPr id="36" name="Google Shape;36;p5"/>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5"/>
          <p:cNvGrpSpPr/>
          <p:nvPr/>
        </p:nvGrpSpPr>
        <p:grpSpPr>
          <a:xfrm>
            <a:off x="830392" y="1588427"/>
            <a:ext cx="745763" cy="61102"/>
            <a:chOff x="4580561" y="2589004"/>
            <a:chExt cx="1064464" cy="25200"/>
          </a:xfrm>
        </p:grpSpPr>
        <p:sp>
          <p:nvSpPr>
            <p:cNvPr id="38" name="Google Shape;38;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5"/>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1" name="Google Shape;41;p5"/>
          <p:cNvSpPr txBox="1"/>
          <p:nvPr>
            <p:ph idx="1" type="body"/>
          </p:nvPr>
        </p:nvSpPr>
        <p:spPr>
          <a:xfrm>
            <a:off x="729325"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2" name="Google Shape;42;p5"/>
          <p:cNvSpPr txBox="1"/>
          <p:nvPr>
            <p:ph idx="2" type="body"/>
          </p:nvPr>
        </p:nvSpPr>
        <p:spPr>
          <a:xfrm>
            <a:off x="4643604"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3" name="Google Shape;43;p5"/>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6"/>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6"/>
          <p:cNvGrpSpPr/>
          <p:nvPr/>
        </p:nvGrpSpPr>
        <p:grpSpPr>
          <a:xfrm>
            <a:off x="830392" y="1588427"/>
            <a:ext cx="745763" cy="61102"/>
            <a:chOff x="4580561" y="2589004"/>
            <a:chExt cx="1064464" cy="25200"/>
          </a:xfrm>
        </p:grpSpPr>
        <p:sp>
          <p:nvSpPr>
            <p:cNvPr id="47" name="Google Shape;47;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6"/>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0" name="Google Shape;50;p6"/>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p7"/>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 name="Google Shape;53;p7"/>
          <p:cNvGrpSpPr/>
          <p:nvPr/>
        </p:nvGrpSpPr>
        <p:grpSpPr>
          <a:xfrm>
            <a:off x="830392" y="1588427"/>
            <a:ext cx="745763" cy="61102"/>
            <a:chOff x="4580561" y="2589004"/>
            <a:chExt cx="1064464" cy="25200"/>
          </a:xfrm>
        </p:grpSpPr>
        <p:sp>
          <p:nvSpPr>
            <p:cNvPr id="54" name="Google Shape;54;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7"/>
          <p:cNvSpPr txBox="1"/>
          <p:nvPr>
            <p:ph type="title"/>
          </p:nvPr>
        </p:nvSpPr>
        <p:spPr>
          <a:xfrm>
            <a:off x="730000" y="1758200"/>
            <a:ext cx="3300900" cy="18420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7" name="Google Shape;57;p7"/>
          <p:cNvSpPr txBox="1"/>
          <p:nvPr>
            <p:ph idx="1" type="body"/>
          </p:nvPr>
        </p:nvSpPr>
        <p:spPr>
          <a:xfrm>
            <a:off x="721225" y="3708967"/>
            <a:ext cx="3300900" cy="2130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 name="Google Shape;58;p7"/>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9" name="Shape 59"/>
        <p:cNvGrpSpPr/>
        <p:nvPr/>
      </p:nvGrpSpPr>
      <p:grpSpPr>
        <a:xfrm>
          <a:off x="0" y="0"/>
          <a:ext cx="0" cy="0"/>
          <a:chOff x="0" y="0"/>
          <a:chExt cx="0" cy="0"/>
        </a:xfrm>
      </p:grpSpPr>
      <p:grpSp>
        <p:nvGrpSpPr>
          <p:cNvPr id="60" name="Google Shape;60;p8"/>
          <p:cNvGrpSpPr/>
          <p:nvPr/>
        </p:nvGrpSpPr>
        <p:grpSpPr>
          <a:xfrm>
            <a:off x="830392" y="5558926"/>
            <a:ext cx="745763" cy="61102"/>
            <a:chOff x="4580561" y="2589004"/>
            <a:chExt cx="1064464" cy="25200"/>
          </a:xfrm>
        </p:grpSpPr>
        <p:sp>
          <p:nvSpPr>
            <p:cNvPr id="61" name="Google Shape;61;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8"/>
          <p:cNvSpPr txBox="1"/>
          <p:nvPr>
            <p:ph type="title"/>
          </p:nvPr>
        </p:nvSpPr>
        <p:spPr>
          <a:xfrm>
            <a:off x="729450" y="1152400"/>
            <a:ext cx="7021200" cy="39801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4" name="Google Shape;64;p8"/>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5" name="Shape 65"/>
        <p:cNvGrpSpPr/>
        <p:nvPr/>
      </p:nvGrpSpPr>
      <p:grpSpPr>
        <a:xfrm>
          <a:off x="0" y="0"/>
          <a:ext cx="0" cy="0"/>
          <a:chOff x="0" y="0"/>
          <a:chExt cx="0" cy="0"/>
        </a:xfrm>
      </p:grpSpPr>
      <p:sp>
        <p:nvSpPr>
          <p:cNvPr id="66" name="Google Shape;66;p9"/>
          <p:cNvSpPr/>
          <p:nvPr/>
        </p:nvSpPr>
        <p:spPr>
          <a:xfrm>
            <a:off x="0" y="0"/>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9"/>
          <p:cNvGrpSpPr/>
          <p:nvPr/>
        </p:nvGrpSpPr>
        <p:grpSpPr>
          <a:xfrm>
            <a:off x="830392" y="1588427"/>
            <a:ext cx="745763" cy="61102"/>
            <a:chOff x="4580561" y="2589004"/>
            <a:chExt cx="1064464" cy="25200"/>
          </a:xfrm>
        </p:grpSpPr>
        <p:sp>
          <p:nvSpPr>
            <p:cNvPr id="68" name="Google Shape;68;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9"/>
          <p:cNvSpPr txBox="1"/>
          <p:nvPr>
            <p:ph type="title"/>
          </p:nvPr>
        </p:nvSpPr>
        <p:spPr>
          <a:xfrm>
            <a:off x="730000" y="1758200"/>
            <a:ext cx="3300900" cy="2249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1" name="Google Shape;71;p9"/>
          <p:cNvSpPr txBox="1"/>
          <p:nvPr>
            <p:ph idx="1" type="subTitle"/>
          </p:nvPr>
        </p:nvSpPr>
        <p:spPr>
          <a:xfrm>
            <a:off x="724950" y="4215367"/>
            <a:ext cx="3300900" cy="1011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72" name="Google Shape;72;p9"/>
          <p:cNvSpPr txBox="1"/>
          <p:nvPr>
            <p:ph idx="2" type="body"/>
          </p:nvPr>
        </p:nvSpPr>
        <p:spPr>
          <a:xfrm>
            <a:off x="5174225" y="1803500"/>
            <a:ext cx="3374400" cy="4034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3" name="Google Shape;73;p9"/>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 name="Shape 74"/>
        <p:cNvGrpSpPr/>
        <p:nvPr/>
      </p:nvGrpSpPr>
      <p:grpSpPr>
        <a:xfrm>
          <a:off x="0" y="0"/>
          <a:ext cx="0" cy="0"/>
          <a:chOff x="0" y="0"/>
          <a:chExt cx="0" cy="0"/>
        </a:xfrm>
      </p:grpSpPr>
      <p:sp>
        <p:nvSpPr>
          <p:cNvPr id="75" name="Google Shape;75;p10"/>
          <p:cNvSpPr txBox="1"/>
          <p:nvPr>
            <p:ph idx="1" type="body"/>
          </p:nvPr>
        </p:nvSpPr>
        <p:spPr>
          <a:xfrm>
            <a:off x="724950" y="5830068"/>
            <a:ext cx="7697400" cy="614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6" name="Google Shape;76;p10"/>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7" name="Shape 77"/>
        <p:cNvGrpSpPr/>
        <p:nvPr/>
      </p:nvGrpSpPr>
      <p:grpSpPr>
        <a:xfrm>
          <a:off x="0" y="0"/>
          <a:ext cx="0" cy="0"/>
          <a:chOff x="0" y="0"/>
          <a:chExt cx="0" cy="0"/>
        </a:xfrm>
      </p:grpSpPr>
      <p:grpSp>
        <p:nvGrpSpPr>
          <p:cNvPr id="78" name="Google Shape;78;p11"/>
          <p:cNvGrpSpPr/>
          <p:nvPr/>
        </p:nvGrpSpPr>
        <p:grpSpPr>
          <a:xfrm>
            <a:off x="830392" y="5558926"/>
            <a:ext cx="745763" cy="61102"/>
            <a:chOff x="4580561" y="2589004"/>
            <a:chExt cx="1064464" cy="25200"/>
          </a:xfrm>
        </p:grpSpPr>
        <p:sp>
          <p:nvSpPr>
            <p:cNvPr id="79" name="Google Shape;79;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11"/>
          <p:cNvSpPr txBox="1"/>
          <p:nvPr>
            <p:ph hasCustomPrompt="1" type="title"/>
          </p:nvPr>
        </p:nvSpPr>
        <p:spPr>
          <a:xfrm>
            <a:off x="729450" y="978600"/>
            <a:ext cx="7688400" cy="165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82" name="Google Shape;82;p11"/>
          <p:cNvSpPr txBox="1"/>
          <p:nvPr>
            <p:ph idx="1" type="body"/>
          </p:nvPr>
        </p:nvSpPr>
        <p:spPr>
          <a:xfrm>
            <a:off x="729450" y="3030517"/>
            <a:ext cx="7688400" cy="2107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83" name="Google Shape;83;p11"/>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4" name="Shape 84"/>
        <p:cNvGrpSpPr/>
        <p:nvPr/>
      </p:nvGrpSpPr>
      <p:grpSpPr>
        <a:xfrm>
          <a:off x="0" y="0"/>
          <a:ext cx="0" cy="0"/>
          <a:chOff x="0" y="0"/>
          <a:chExt cx="0" cy="0"/>
        </a:xfrm>
      </p:grpSpPr>
      <p:sp>
        <p:nvSpPr>
          <p:cNvPr id="85" name="Google Shape;85;p1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6" name="Shape 86"/>
        <p:cNvGrpSpPr/>
        <p:nvPr/>
      </p:nvGrpSpPr>
      <p:grpSpPr>
        <a:xfrm>
          <a:off x="0" y="0"/>
          <a:ext cx="0" cy="0"/>
          <a:chOff x="0" y="0"/>
          <a:chExt cx="0" cy="0"/>
        </a:xfrm>
      </p:grpSpPr>
      <p:sp>
        <p:nvSpPr>
          <p:cNvPr id="87" name="Google Shape;87;p13"/>
          <p:cNvSpPr txBox="1"/>
          <p:nvPr>
            <p:ph type="title"/>
          </p:nvPr>
        </p:nvSpPr>
        <p:spPr>
          <a:xfrm>
            <a:off x="457200" y="188913"/>
            <a:ext cx="8218500" cy="565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3"/>
          <p:cNvSpPr txBox="1"/>
          <p:nvPr>
            <p:ph idx="1" type="body"/>
          </p:nvPr>
        </p:nvSpPr>
        <p:spPr>
          <a:xfrm>
            <a:off x="457200" y="1052513"/>
            <a:ext cx="8229600" cy="5073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9" name="Google Shape;89;p13"/>
          <p:cNvSpPr txBox="1"/>
          <p:nvPr>
            <p:ph idx="10" type="dt"/>
          </p:nvPr>
        </p:nvSpPr>
        <p:spPr>
          <a:xfrm>
            <a:off x="6553200" y="6248400"/>
            <a:ext cx="21336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3"/>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3"/>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2" name="Shape 92"/>
        <p:cNvGrpSpPr/>
        <p:nvPr/>
      </p:nvGrpSpPr>
      <p:grpSpPr>
        <a:xfrm>
          <a:off x="0" y="0"/>
          <a:ext cx="0" cy="0"/>
          <a:chOff x="0" y="0"/>
          <a:chExt cx="0" cy="0"/>
        </a:xfrm>
      </p:grpSpPr>
      <p:sp>
        <p:nvSpPr>
          <p:cNvPr id="93" name="Google Shape;93;p14"/>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4"/>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Font typeface="Arial"/>
              <a:buChar char="•"/>
              <a:defRPr sz="3200"/>
            </a:lvl1pPr>
            <a:lvl2pPr indent="-406400" lvl="1" marL="914400" algn="l">
              <a:lnSpc>
                <a:spcPct val="100000"/>
              </a:lnSpc>
              <a:spcBef>
                <a:spcPts val="560"/>
              </a:spcBef>
              <a:spcAft>
                <a:spcPts val="0"/>
              </a:spcAft>
              <a:buClr>
                <a:schemeClr val="dk1"/>
              </a:buClr>
              <a:buSzPts val="2800"/>
              <a:buFont typeface="Arial"/>
              <a:buChar char="–"/>
              <a:defRPr sz="2800"/>
            </a:lvl2pPr>
            <a:lvl3pPr indent="-381000" lvl="2" marL="1371600" algn="l">
              <a:lnSpc>
                <a:spcPct val="100000"/>
              </a:lnSpc>
              <a:spcBef>
                <a:spcPts val="480"/>
              </a:spcBef>
              <a:spcAft>
                <a:spcPts val="0"/>
              </a:spcAft>
              <a:buClr>
                <a:schemeClr val="dk1"/>
              </a:buClr>
              <a:buSzPts val="2400"/>
              <a:buFont typeface="Arial"/>
              <a:buChar char="•"/>
              <a:defRPr sz="2400"/>
            </a:lvl3pPr>
            <a:lvl4pPr indent="-355600" lvl="3" marL="1828800" algn="l">
              <a:lnSpc>
                <a:spcPct val="100000"/>
              </a:lnSpc>
              <a:spcBef>
                <a:spcPts val="400"/>
              </a:spcBef>
              <a:spcAft>
                <a:spcPts val="0"/>
              </a:spcAft>
              <a:buClr>
                <a:schemeClr val="dk1"/>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Arial"/>
              <a:buChar char="»"/>
              <a:defRPr sz="2000"/>
            </a:lvl5pPr>
            <a:lvl6pPr indent="-355600" lvl="5" marL="2743200" algn="l">
              <a:lnSpc>
                <a:spcPct val="100000"/>
              </a:lnSpc>
              <a:spcBef>
                <a:spcPts val="400"/>
              </a:spcBef>
              <a:spcAft>
                <a:spcPts val="0"/>
              </a:spcAft>
              <a:buClr>
                <a:schemeClr val="dk1"/>
              </a:buClr>
              <a:buSzPts val="2000"/>
              <a:buFont typeface="Arial"/>
              <a:buChar char="»"/>
              <a:defRPr sz="2000"/>
            </a:lvl6pPr>
            <a:lvl7pPr indent="-355600" lvl="6" marL="3200400" algn="l">
              <a:lnSpc>
                <a:spcPct val="100000"/>
              </a:lnSpc>
              <a:spcBef>
                <a:spcPts val="400"/>
              </a:spcBef>
              <a:spcAft>
                <a:spcPts val="0"/>
              </a:spcAft>
              <a:buClr>
                <a:schemeClr val="dk1"/>
              </a:buClr>
              <a:buSzPts val="2000"/>
              <a:buFont typeface="Arial"/>
              <a:buChar char="»"/>
              <a:defRPr sz="2000"/>
            </a:lvl7pPr>
            <a:lvl8pPr indent="-355600" lvl="7" marL="3657600" algn="l">
              <a:lnSpc>
                <a:spcPct val="100000"/>
              </a:lnSpc>
              <a:spcBef>
                <a:spcPts val="400"/>
              </a:spcBef>
              <a:spcAft>
                <a:spcPts val="0"/>
              </a:spcAft>
              <a:buClr>
                <a:schemeClr val="dk1"/>
              </a:buClr>
              <a:buSzPts val="2000"/>
              <a:buFont typeface="Arial"/>
              <a:buChar char="»"/>
              <a:defRPr sz="2000"/>
            </a:lvl8pPr>
            <a:lvl9pPr indent="-355600" lvl="8" marL="4114800" algn="l">
              <a:lnSpc>
                <a:spcPct val="100000"/>
              </a:lnSpc>
              <a:spcBef>
                <a:spcPts val="400"/>
              </a:spcBef>
              <a:spcAft>
                <a:spcPts val="0"/>
              </a:spcAft>
              <a:buClr>
                <a:schemeClr val="dk1"/>
              </a:buClr>
              <a:buSzPts val="2000"/>
              <a:buFont typeface="Arial"/>
              <a:buChar char="»"/>
              <a:defRPr sz="2000"/>
            </a:lvl9pPr>
          </a:lstStyle>
          <a:p/>
        </p:txBody>
      </p:sp>
      <p:sp>
        <p:nvSpPr>
          <p:cNvPr id="95" name="Google Shape;95;p14"/>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96" name="Google Shape;96;p14"/>
          <p:cNvSpPr txBox="1"/>
          <p:nvPr>
            <p:ph idx="10" type="dt"/>
          </p:nvPr>
        </p:nvSpPr>
        <p:spPr>
          <a:xfrm>
            <a:off x="6553200" y="6248400"/>
            <a:ext cx="21336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4"/>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4"/>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11" name="Google Shape;11;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12" name="Google Shape;12;p1"/>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ctrTitle"/>
          </p:nvPr>
        </p:nvSpPr>
        <p:spPr>
          <a:xfrm>
            <a:off x="729450" y="2305998"/>
            <a:ext cx="7688100" cy="317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US" sz="3880">
                <a:latin typeface="Times New Roman"/>
                <a:ea typeface="Times New Roman"/>
                <a:cs typeface="Times New Roman"/>
                <a:sym typeface="Times New Roman"/>
              </a:rPr>
              <a:t>Machine Learning</a:t>
            </a:r>
            <a:endParaRPr sz="3880">
              <a:latin typeface="Times New Roman"/>
              <a:ea typeface="Times New Roman"/>
              <a:cs typeface="Times New Roman"/>
              <a:sym typeface="Times New Roman"/>
            </a:endParaRPr>
          </a:p>
          <a:p>
            <a:pPr indent="0" lvl="0" marL="0" rtl="0" algn="ctr">
              <a:spcBef>
                <a:spcPts val="0"/>
              </a:spcBef>
              <a:spcAft>
                <a:spcPts val="0"/>
              </a:spcAft>
              <a:buSzPts val="990"/>
              <a:buNone/>
            </a:pPr>
            <a:r>
              <a:rPr lang="en-US" sz="3880">
                <a:latin typeface="Times New Roman"/>
                <a:ea typeface="Times New Roman"/>
                <a:cs typeface="Times New Roman"/>
                <a:sym typeface="Times New Roman"/>
              </a:rPr>
              <a:t>CSE 403</a:t>
            </a:r>
            <a:endParaRPr sz="3880">
              <a:latin typeface="Times New Roman"/>
              <a:ea typeface="Times New Roman"/>
              <a:cs typeface="Times New Roman"/>
              <a:sym typeface="Times New Roman"/>
            </a:endParaRPr>
          </a:p>
          <a:p>
            <a:pPr indent="0" lvl="0" marL="0" rtl="0" algn="ctr">
              <a:spcBef>
                <a:spcPts val="0"/>
              </a:spcBef>
              <a:spcAft>
                <a:spcPts val="0"/>
              </a:spcAft>
              <a:buSzPts val="990"/>
              <a:buNone/>
            </a:pPr>
            <a:r>
              <a:t/>
            </a:r>
            <a:endParaRPr sz="3880">
              <a:latin typeface="Times New Roman"/>
              <a:ea typeface="Times New Roman"/>
              <a:cs typeface="Times New Roman"/>
              <a:sym typeface="Times New Roman"/>
            </a:endParaRPr>
          </a:p>
          <a:p>
            <a:pPr indent="0" lvl="0" marL="0" rtl="0" algn="ctr">
              <a:spcBef>
                <a:spcPts val="0"/>
              </a:spcBef>
              <a:spcAft>
                <a:spcPts val="0"/>
              </a:spcAft>
              <a:buSzPts val="990"/>
              <a:buNone/>
            </a:pPr>
            <a:r>
              <a:rPr lang="en-US" sz="3880">
                <a:latin typeface="Times New Roman"/>
                <a:ea typeface="Times New Roman"/>
                <a:cs typeface="Times New Roman"/>
                <a:sym typeface="Times New Roman"/>
              </a:rPr>
              <a:t>Lecture 7</a:t>
            </a:r>
            <a:endParaRPr sz="3880">
              <a:latin typeface="Times New Roman"/>
              <a:ea typeface="Times New Roman"/>
              <a:cs typeface="Times New Roman"/>
              <a:sym typeface="Times New Roman"/>
            </a:endParaRPr>
          </a:p>
          <a:p>
            <a:pPr indent="0" lvl="0" marL="0" rtl="0" algn="ctr">
              <a:spcBef>
                <a:spcPts val="0"/>
              </a:spcBef>
              <a:spcAft>
                <a:spcPts val="0"/>
              </a:spcAft>
              <a:buSzPts val="990"/>
              <a:buNone/>
            </a:pPr>
            <a:r>
              <a:rPr lang="en-US" sz="3880">
                <a:latin typeface="Times New Roman"/>
                <a:ea typeface="Times New Roman"/>
                <a:cs typeface="Times New Roman"/>
                <a:sym typeface="Times New Roman"/>
              </a:rPr>
              <a:t>Classifier Performance Evaluation </a:t>
            </a:r>
            <a:endParaRPr sz="3880">
              <a:latin typeface="Times New Roman"/>
              <a:ea typeface="Times New Roman"/>
              <a:cs typeface="Times New Roman"/>
              <a:sym typeface="Times New Roman"/>
            </a:endParaRPr>
          </a:p>
          <a:p>
            <a:pPr indent="0" lvl="0" marL="0" rtl="0" algn="ctr">
              <a:spcBef>
                <a:spcPts val="0"/>
              </a:spcBef>
              <a:spcAft>
                <a:spcPts val="0"/>
              </a:spcAft>
              <a:buSzPts val="990"/>
              <a:buNone/>
            </a:pPr>
            <a:r>
              <a:t/>
            </a:r>
            <a:endParaRPr sz="3880">
              <a:latin typeface="Times New Roman"/>
              <a:ea typeface="Times New Roman"/>
              <a:cs typeface="Times New Roman"/>
              <a:sym typeface="Times New Roman"/>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400">
                <a:solidFill>
                  <a:schemeClr val="accent6"/>
                </a:solidFill>
              </a:rPr>
              <a:t>Outline</a:t>
            </a:r>
            <a:endParaRPr sz="4400">
              <a:solidFill>
                <a:schemeClr val="accent6"/>
              </a:solidFill>
            </a:endParaRPr>
          </a:p>
        </p:txBody>
      </p:sp>
      <p:sp>
        <p:nvSpPr>
          <p:cNvPr id="111" name="Google Shape;111;p16"/>
          <p:cNvSpPr txBox="1"/>
          <p:nvPr>
            <p:ph idx="1" type="body"/>
          </p:nvPr>
        </p:nvSpPr>
        <p:spPr>
          <a:xfrm>
            <a:off x="428625" y="1434875"/>
            <a:ext cx="8229600" cy="4357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Arial"/>
              <a:buChar char="•"/>
            </a:pPr>
            <a:r>
              <a:rPr lang="en-US" sz="2400"/>
              <a:t>Model evaluation &amp; selection</a:t>
            </a:r>
            <a:endParaRPr/>
          </a:p>
          <a:p>
            <a:pPr indent="-342900" lvl="0" marL="342900" rtl="0" algn="l">
              <a:lnSpc>
                <a:spcPct val="100000"/>
              </a:lnSpc>
              <a:spcBef>
                <a:spcPts val="480"/>
              </a:spcBef>
              <a:spcAft>
                <a:spcPts val="0"/>
              </a:spcAft>
              <a:buClr>
                <a:schemeClr val="dk1"/>
              </a:buClr>
              <a:buSzPts val="2400"/>
              <a:buFont typeface="Arial"/>
              <a:buChar char="•"/>
            </a:pPr>
            <a:r>
              <a:rPr lang="en-US" sz="2400"/>
              <a:t>Evaluating classifier accuracy</a:t>
            </a:r>
            <a:endParaRPr/>
          </a:p>
          <a:p>
            <a:pPr indent="-342900" lvl="0" marL="342900" rtl="0" algn="l">
              <a:lnSpc>
                <a:spcPct val="100000"/>
              </a:lnSpc>
              <a:spcBef>
                <a:spcPts val="480"/>
              </a:spcBef>
              <a:spcAft>
                <a:spcPts val="0"/>
              </a:spcAft>
              <a:buClr>
                <a:schemeClr val="dk1"/>
              </a:buClr>
              <a:buSzPts val="2400"/>
              <a:buFont typeface="Arial"/>
              <a:buChar char="•"/>
            </a:pPr>
            <a:r>
              <a:rPr lang="en-US" sz="2400"/>
              <a:t>Metrics for evaluating classifier performance</a:t>
            </a:r>
            <a:endParaRPr/>
          </a:p>
          <a:p>
            <a:pPr indent="-285750" lvl="1" marL="742950" rtl="0" algn="l">
              <a:lnSpc>
                <a:spcPct val="100000"/>
              </a:lnSpc>
              <a:spcBef>
                <a:spcPts val="400"/>
              </a:spcBef>
              <a:spcAft>
                <a:spcPts val="0"/>
              </a:spcAft>
              <a:buClr>
                <a:schemeClr val="dk1"/>
              </a:buClr>
              <a:buSzPts val="2000"/>
              <a:buFont typeface="Arial"/>
              <a:buChar char="–"/>
            </a:pPr>
            <a:r>
              <a:rPr lang="en-US" sz="2000"/>
              <a:t>Confusion matrix</a:t>
            </a:r>
            <a:endParaRPr/>
          </a:p>
          <a:p>
            <a:pPr indent="-342900" lvl="0" marL="342900" rtl="0" algn="l">
              <a:lnSpc>
                <a:spcPct val="100000"/>
              </a:lnSpc>
              <a:spcBef>
                <a:spcPts val="480"/>
              </a:spcBef>
              <a:spcAft>
                <a:spcPts val="0"/>
              </a:spcAft>
              <a:buClr>
                <a:schemeClr val="dk1"/>
              </a:buClr>
              <a:buSzPts val="2400"/>
              <a:buFont typeface="Arial"/>
              <a:buChar char="•"/>
            </a:pPr>
            <a:r>
              <a:rPr lang="en-US" sz="2400"/>
              <a:t>Plotting an ROC curve</a:t>
            </a:r>
            <a:endParaRPr/>
          </a:p>
        </p:txBody>
      </p:sp>
      <p:grpSp>
        <p:nvGrpSpPr>
          <p:cNvPr id="112" name="Google Shape;112;p16"/>
          <p:cNvGrpSpPr/>
          <p:nvPr/>
        </p:nvGrpSpPr>
        <p:grpSpPr>
          <a:xfrm>
            <a:off x="609600" y="533400"/>
            <a:ext cx="303213" cy="303213"/>
            <a:chOff x="703" y="300"/>
            <a:chExt cx="181" cy="181"/>
          </a:xfrm>
        </p:grpSpPr>
        <p:sp>
          <p:nvSpPr>
            <p:cNvPr id="113" name="Google Shape;113;p16"/>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4" name="Google Shape;114;p16"/>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5" name="Google Shape;115;p16"/>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6" name="Google Shape;116;p16"/>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7" name="Google Shape;117;p16"/>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8" name="Google Shape;118;p16"/>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19" name="Google Shape;119;p16"/>
          <p:cNvGrpSpPr/>
          <p:nvPr/>
        </p:nvGrpSpPr>
        <p:grpSpPr>
          <a:xfrm>
            <a:off x="8494713" y="5792788"/>
            <a:ext cx="554037" cy="552450"/>
            <a:chOff x="5369" y="3667"/>
            <a:chExt cx="349" cy="348"/>
          </a:xfrm>
        </p:grpSpPr>
        <p:sp>
          <p:nvSpPr>
            <p:cNvPr id="120" name="Google Shape;120;p16"/>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1" name="Google Shape;121;p16"/>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 name="Google Shape;122;p16"/>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3" name="Google Shape;123;p16"/>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4" name="Google Shape;124;p16"/>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5" name="Google Shape;125;p16"/>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26" name="Google Shape;126;p16"/>
          <p:cNvGrpSpPr/>
          <p:nvPr/>
        </p:nvGrpSpPr>
        <p:grpSpPr>
          <a:xfrm>
            <a:off x="8113713" y="6221413"/>
            <a:ext cx="554037" cy="552450"/>
            <a:chOff x="5129" y="3937"/>
            <a:chExt cx="349" cy="348"/>
          </a:xfrm>
        </p:grpSpPr>
        <p:sp>
          <p:nvSpPr>
            <p:cNvPr id="127" name="Google Shape;127;p16"/>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 name="Google Shape;128;p16"/>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9" name="Google Shape;129;p16"/>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 name="Google Shape;130;p16"/>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1" name="Google Shape;131;p16"/>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2" name="Google Shape;132;p16"/>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33" name="Google Shape;133;p16"/>
          <p:cNvGrpSpPr/>
          <p:nvPr/>
        </p:nvGrpSpPr>
        <p:grpSpPr>
          <a:xfrm>
            <a:off x="8089900" y="5821363"/>
            <a:ext cx="390525" cy="390525"/>
            <a:chOff x="5114" y="3685"/>
            <a:chExt cx="246" cy="246"/>
          </a:xfrm>
        </p:grpSpPr>
        <p:sp>
          <p:nvSpPr>
            <p:cNvPr id="134" name="Google Shape;134;p16"/>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5" name="Google Shape;135;p16"/>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6" name="Google Shape;136;p16"/>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7" name="Google Shape;137;p16"/>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8" name="Google Shape;138;p16"/>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9" name="Google Shape;139;p16"/>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40" name="Google Shape;140;p16"/>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600"/>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500"/>
                                        <p:tgtEl>
                                          <p:spTgt spid="112"/>
                                        </p:tgtEl>
                                      </p:cBhvr>
                                    </p:animEffect>
                                  </p:childTnLst>
                                </p:cTn>
                              </p:par>
                              <p:par>
                                <p:cTn fill="hold" nodeType="withEffect" presetClass="emph" presetID="8" presetSubtype="0">
                                  <p:stCondLst>
                                    <p:cond delay="0"/>
                                  </p:stCondLst>
                                  <p:childTnLst>
                                    <p:animRot by="-21600000">
                                      <p:cBhvr>
                                        <p:cTn dur="500" fill="hold"/>
                                        <p:tgtEl>
                                          <p:spTgt spid="119"/>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126"/>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133"/>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112"/>
                                        </p:tgtEl>
                                        <p:attrNameLst>
                                          <p:attrName>r</p:attrName>
                                        </p:attrNameLst>
                                      </p:cBhvr>
                                    </p:animRot>
                                  </p:childTnLst>
                                </p:cTn>
                              </p:par>
                              <p:par>
                                <p:cTn fill="hold" nodeType="withEffect" presetClass="entr" presetID="23" presetSubtype="16">
                                  <p:stCondLst>
                                    <p:cond delay="500"/>
                                  </p:stCondLst>
                                  <p:childTnLst>
                                    <p:set>
                                      <p:cBhvr>
                                        <p:cTn dur="1" fill="hold">
                                          <p:stCondLst>
                                            <p:cond delay="0"/>
                                          </p:stCondLst>
                                        </p:cTn>
                                        <p:tgtEl>
                                          <p:spTgt spid="111">
                                            <p:txEl>
                                              <p:pRg end="0" st="0"/>
                                            </p:txEl>
                                          </p:spTgt>
                                        </p:tgtEl>
                                        <p:attrNameLst>
                                          <p:attrName>style.visibility</p:attrName>
                                        </p:attrNameLst>
                                      </p:cBhvr>
                                      <p:to>
                                        <p:strVal val="visible"/>
                                      </p:to>
                                    </p:set>
                                    <p:anim calcmode="lin" valueType="num">
                                      <p:cBhvr additive="base">
                                        <p:cTn dur="500"/>
                                        <p:tgtEl>
                                          <p:spTgt spid="111">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111">
                                            <p:txEl>
                                              <p:pRg end="0" st="0"/>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11">
                                            <p:txEl>
                                              <p:pRg end="1" st="1"/>
                                            </p:txEl>
                                          </p:spTgt>
                                        </p:tgtEl>
                                        <p:attrNameLst>
                                          <p:attrName>style.visibility</p:attrName>
                                        </p:attrNameLst>
                                      </p:cBhvr>
                                      <p:to>
                                        <p:strVal val="visible"/>
                                      </p:to>
                                    </p:set>
                                    <p:anim calcmode="lin" valueType="num">
                                      <p:cBhvr additive="base">
                                        <p:cTn dur="500"/>
                                        <p:tgtEl>
                                          <p:spTgt spid="111">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111">
                                            <p:txEl>
                                              <p:pRg end="1" st="1"/>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11">
                                            <p:txEl>
                                              <p:pRg end="2" st="2"/>
                                            </p:txEl>
                                          </p:spTgt>
                                        </p:tgtEl>
                                        <p:attrNameLst>
                                          <p:attrName>style.visibility</p:attrName>
                                        </p:attrNameLst>
                                      </p:cBhvr>
                                      <p:to>
                                        <p:strVal val="visible"/>
                                      </p:to>
                                    </p:set>
                                    <p:anim calcmode="lin" valueType="num">
                                      <p:cBhvr additive="base">
                                        <p:cTn dur="500"/>
                                        <p:tgtEl>
                                          <p:spTgt spid="111">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111">
                                            <p:txEl>
                                              <p:pRg end="2" st="2"/>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11">
                                            <p:txEl>
                                              <p:pRg end="3" st="3"/>
                                            </p:txEl>
                                          </p:spTgt>
                                        </p:tgtEl>
                                        <p:attrNameLst>
                                          <p:attrName>style.visibility</p:attrName>
                                        </p:attrNameLst>
                                      </p:cBhvr>
                                      <p:to>
                                        <p:strVal val="visible"/>
                                      </p:to>
                                    </p:set>
                                    <p:anim calcmode="lin" valueType="num">
                                      <p:cBhvr additive="base">
                                        <p:cTn dur="500"/>
                                        <p:tgtEl>
                                          <p:spTgt spid="111">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111">
                                            <p:txEl>
                                              <p:pRg end="3" st="3"/>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11">
                                            <p:txEl>
                                              <p:pRg end="4" st="4"/>
                                            </p:txEl>
                                          </p:spTgt>
                                        </p:tgtEl>
                                        <p:attrNameLst>
                                          <p:attrName>style.visibility</p:attrName>
                                        </p:attrNameLst>
                                      </p:cBhvr>
                                      <p:to>
                                        <p:strVal val="visible"/>
                                      </p:to>
                                    </p:set>
                                    <p:anim calcmode="lin" valueType="num">
                                      <p:cBhvr additive="base">
                                        <p:cTn dur="500"/>
                                        <p:tgtEl>
                                          <p:spTgt spid="111">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111">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7"/>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100">
                <a:solidFill>
                  <a:schemeClr val="accent6"/>
                </a:solidFill>
              </a:rPr>
              <a:t>Model Evaluation &amp; Selection</a:t>
            </a:r>
            <a:endParaRPr sz="3600">
              <a:solidFill>
                <a:schemeClr val="accent6"/>
              </a:solidFill>
            </a:endParaRPr>
          </a:p>
        </p:txBody>
      </p:sp>
      <p:sp>
        <p:nvSpPr>
          <p:cNvPr id="147" name="Google Shape;147;p17"/>
          <p:cNvSpPr txBox="1"/>
          <p:nvPr>
            <p:ph idx="1" type="body"/>
          </p:nvPr>
        </p:nvSpPr>
        <p:spPr>
          <a:xfrm>
            <a:off x="457200" y="1527325"/>
            <a:ext cx="8382000" cy="4721100"/>
          </a:xfrm>
          <a:prstGeom prst="rect">
            <a:avLst/>
          </a:prstGeom>
          <a:noFill/>
          <a:ln>
            <a:noFill/>
          </a:ln>
        </p:spPr>
        <p:txBody>
          <a:bodyPr anchorCtr="0" anchor="t" bIns="45700" lIns="91425" spcFirstLastPara="1" rIns="91425" wrap="square" tIns="45700">
            <a:noAutofit/>
          </a:bodyPr>
          <a:lstStyle/>
          <a:p>
            <a:pPr indent="-355600" lvl="0" marL="342900" rtl="0" algn="l">
              <a:lnSpc>
                <a:spcPct val="110000"/>
              </a:lnSpc>
              <a:spcBef>
                <a:spcPts val="0"/>
              </a:spcBef>
              <a:spcAft>
                <a:spcPts val="0"/>
              </a:spcAft>
              <a:buSzPts val="2600"/>
              <a:buFont typeface="Arial"/>
              <a:buChar char="•"/>
            </a:pPr>
            <a:r>
              <a:rPr lang="en-US" sz="2600">
                <a:solidFill>
                  <a:schemeClr val="dk1"/>
                </a:solidFill>
              </a:rPr>
              <a:t>How can we measure accuracy?</a:t>
            </a:r>
            <a:endParaRPr sz="1500">
              <a:solidFill>
                <a:schemeClr val="dk1"/>
              </a:solidFill>
            </a:endParaRPr>
          </a:p>
          <a:p>
            <a:pPr indent="-285750" lvl="1" marL="742950" rtl="0" algn="l">
              <a:lnSpc>
                <a:spcPct val="110000"/>
              </a:lnSpc>
              <a:spcBef>
                <a:spcPts val="400"/>
              </a:spcBef>
              <a:spcAft>
                <a:spcPts val="0"/>
              </a:spcAft>
              <a:buClr>
                <a:schemeClr val="dk1"/>
              </a:buClr>
              <a:buSzPts val="2000"/>
              <a:buFont typeface="Arial"/>
              <a:buChar char="–"/>
            </a:pPr>
            <a:r>
              <a:rPr lang="en-US" sz="2000"/>
              <a:t>Use </a:t>
            </a:r>
            <a:r>
              <a:rPr b="1" lang="en-US" sz="2000"/>
              <a:t>test set</a:t>
            </a:r>
            <a:r>
              <a:rPr lang="en-US" sz="2000"/>
              <a:t> of class-labeled tuples instead of training set when assessing accuracy.</a:t>
            </a:r>
            <a:endParaRPr sz="2000"/>
          </a:p>
          <a:p>
            <a:pPr indent="-342900" lvl="0" marL="342900" rtl="0" algn="l">
              <a:lnSpc>
                <a:spcPct val="110000"/>
              </a:lnSpc>
              <a:spcBef>
                <a:spcPts val="480"/>
              </a:spcBef>
              <a:spcAft>
                <a:spcPts val="0"/>
              </a:spcAft>
              <a:buClr>
                <a:schemeClr val="dk1"/>
              </a:buClr>
              <a:buSzPts val="2400"/>
              <a:buFont typeface="Arial"/>
              <a:buChar char="•"/>
            </a:pPr>
            <a:r>
              <a:rPr lang="en-US" sz="2400"/>
              <a:t>Methods for estimating a classifier’s accuracy: </a:t>
            </a:r>
            <a:endParaRPr/>
          </a:p>
          <a:p>
            <a:pPr indent="-285750" lvl="1" marL="742950" rtl="0" algn="l">
              <a:lnSpc>
                <a:spcPct val="110000"/>
              </a:lnSpc>
              <a:spcBef>
                <a:spcPts val="480"/>
              </a:spcBef>
              <a:spcAft>
                <a:spcPts val="0"/>
              </a:spcAft>
              <a:buClr>
                <a:schemeClr val="dk1"/>
              </a:buClr>
              <a:buSzPts val="2400"/>
              <a:buFont typeface="Arial"/>
              <a:buChar char="–"/>
            </a:pPr>
            <a:r>
              <a:rPr lang="en-US" sz="2400"/>
              <a:t>Holdout method, random sub-sampling</a:t>
            </a:r>
            <a:endParaRPr/>
          </a:p>
          <a:p>
            <a:pPr indent="-285750" lvl="1" marL="742950" rtl="0" algn="l">
              <a:lnSpc>
                <a:spcPct val="110000"/>
              </a:lnSpc>
              <a:spcBef>
                <a:spcPts val="480"/>
              </a:spcBef>
              <a:spcAft>
                <a:spcPts val="0"/>
              </a:spcAft>
              <a:buClr>
                <a:schemeClr val="dk1"/>
              </a:buClr>
              <a:buSzPts val="2400"/>
              <a:buFont typeface="Arial"/>
              <a:buChar char="–"/>
            </a:pPr>
            <a:r>
              <a:rPr lang="en-US" sz="2400"/>
              <a:t>Cross-validation</a:t>
            </a:r>
            <a:endParaRPr/>
          </a:p>
          <a:p>
            <a:pPr indent="-285750" lvl="1" marL="742950" rtl="0" algn="l">
              <a:lnSpc>
                <a:spcPct val="110000"/>
              </a:lnSpc>
              <a:spcBef>
                <a:spcPts val="480"/>
              </a:spcBef>
              <a:spcAft>
                <a:spcPts val="0"/>
              </a:spcAft>
              <a:buClr>
                <a:schemeClr val="dk1"/>
              </a:buClr>
              <a:buSzPts val="2400"/>
              <a:buFont typeface="Arial"/>
              <a:buChar char="–"/>
            </a:pPr>
            <a:r>
              <a:rPr lang="en-US" sz="2400"/>
              <a:t>Bootstrap</a:t>
            </a:r>
            <a:endParaRPr/>
          </a:p>
          <a:p>
            <a:pPr indent="-342900" lvl="0" marL="342900" rtl="0" algn="l">
              <a:lnSpc>
                <a:spcPct val="110000"/>
              </a:lnSpc>
              <a:spcBef>
                <a:spcPts val="480"/>
              </a:spcBef>
              <a:spcAft>
                <a:spcPts val="0"/>
              </a:spcAft>
              <a:buClr>
                <a:schemeClr val="dk1"/>
              </a:buClr>
              <a:buSzPts val="2400"/>
              <a:buFont typeface="Arial"/>
              <a:buChar char="•"/>
            </a:pPr>
            <a:r>
              <a:rPr lang="en-US" sz="2400"/>
              <a:t>Comparing classifiers:</a:t>
            </a:r>
            <a:endParaRPr/>
          </a:p>
          <a:p>
            <a:pPr indent="-285750" lvl="1" marL="742950" rtl="0" algn="l">
              <a:lnSpc>
                <a:spcPct val="110000"/>
              </a:lnSpc>
              <a:spcBef>
                <a:spcPts val="480"/>
              </a:spcBef>
              <a:spcAft>
                <a:spcPts val="0"/>
              </a:spcAft>
              <a:buClr>
                <a:schemeClr val="dk1"/>
              </a:buClr>
              <a:buSzPts val="2400"/>
              <a:buFont typeface="Arial"/>
              <a:buChar char="–"/>
            </a:pPr>
            <a:r>
              <a:rPr lang="en-US" sz="2400"/>
              <a:t>Confidence intervals</a:t>
            </a:r>
            <a:endParaRPr/>
          </a:p>
          <a:p>
            <a:pPr indent="-285750" lvl="1" marL="742950" rtl="0" algn="l">
              <a:lnSpc>
                <a:spcPct val="110000"/>
              </a:lnSpc>
              <a:spcBef>
                <a:spcPts val="480"/>
              </a:spcBef>
              <a:spcAft>
                <a:spcPts val="0"/>
              </a:spcAft>
              <a:buClr>
                <a:schemeClr val="dk1"/>
              </a:buClr>
              <a:buSzPts val="2400"/>
              <a:buFont typeface="Arial"/>
              <a:buChar char="–"/>
            </a:pPr>
            <a:r>
              <a:rPr lang="en-US" sz="2400"/>
              <a:t>Cost-benefit analysis and ROC Curves</a:t>
            </a:r>
            <a:endParaRPr/>
          </a:p>
          <a:p>
            <a:pPr indent="-190500" lvl="0" marL="342900" rtl="0" algn="just">
              <a:lnSpc>
                <a:spcPct val="100000"/>
              </a:lnSpc>
              <a:spcBef>
                <a:spcPts val="480"/>
              </a:spcBef>
              <a:spcAft>
                <a:spcPts val="0"/>
              </a:spcAft>
              <a:buClr>
                <a:schemeClr val="dk1"/>
              </a:buClr>
              <a:buSzPts val="2400"/>
              <a:buFont typeface="Arial"/>
              <a:buNone/>
            </a:pPr>
            <a:r>
              <a:t/>
            </a:r>
            <a:endParaRPr sz="2400"/>
          </a:p>
        </p:txBody>
      </p:sp>
      <p:grpSp>
        <p:nvGrpSpPr>
          <p:cNvPr id="148" name="Google Shape;148;p17"/>
          <p:cNvGrpSpPr/>
          <p:nvPr/>
        </p:nvGrpSpPr>
        <p:grpSpPr>
          <a:xfrm>
            <a:off x="609600" y="533400"/>
            <a:ext cx="303213" cy="303213"/>
            <a:chOff x="703" y="300"/>
            <a:chExt cx="181" cy="181"/>
          </a:xfrm>
        </p:grpSpPr>
        <p:sp>
          <p:nvSpPr>
            <p:cNvPr id="149" name="Google Shape;149;p17"/>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0" name="Google Shape;150;p17"/>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1" name="Google Shape;151;p17"/>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2" name="Google Shape;152;p17"/>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3" name="Google Shape;153;p17"/>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4" name="Google Shape;154;p17"/>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55" name="Google Shape;155;p17"/>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par>
                                <p:cTn fill="hold" nodeType="withEffect" presetClass="emph" presetID="8" presetSubtype="0">
                                  <p:stCondLst>
                                    <p:cond delay="500"/>
                                  </p:stCondLst>
                                  <p:childTnLst>
                                    <p:animRot by="-21600000">
                                      <p:cBhvr>
                                        <p:cTn dur="500" fill="hold"/>
                                        <p:tgtEl>
                                          <p:spTgt spid="14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8"/>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Evaluating Classifier Accuracy</a:t>
            </a:r>
            <a:endParaRPr sz="4000">
              <a:solidFill>
                <a:schemeClr val="accent6"/>
              </a:solidFill>
            </a:endParaRPr>
          </a:p>
        </p:txBody>
      </p:sp>
      <p:sp>
        <p:nvSpPr>
          <p:cNvPr id="162" name="Google Shape;162;p18"/>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165100" lvl="0" marL="342900" rtl="0" algn="l">
              <a:lnSpc>
                <a:spcPct val="80000"/>
              </a:lnSpc>
              <a:spcBef>
                <a:spcPts val="0"/>
              </a:spcBef>
              <a:spcAft>
                <a:spcPts val="0"/>
              </a:spcAft>
              <a:buClr>
                <a:schemeClr val="dk1"/>
              </a:buClr>
              <a:buSzPts val="2800"/>
              <a:buFont typeface="Arial"/>
              <a:buNone/>
            </a:pPr>
            <a:r>
              <a:t/>
            </a:r>
            <a:endParaRPr b="1" sz="2800">
              <a:solidFill>
                <a:srgbClr val="024069"/>
              </a:solidFill>
            </a:endParaRPr>
          </a:p>
          <a:p>
            <a:pPr indent="-342900" lvl="0" marL="342900" rtl="0" algn="l">
              <a:lnSpc>
                <a:spcPct val="80000"/>
              </a:lnSpc>
              <a:spcBef>
                <a:spcPts val="560"/>
              </a:spcBef>
              <a:spcAft>
                <a:spcPts val="0"/>
              </a:spcAft>
              <a:buSzPts val="2800"/>
              <a:buFont typeface="Arial"/>
              <a:buChar char="•"/>
            </a:pPr>
            <a:r>
              <a:rPr b="1" lang="en-US" sz="2800">
                <a:solidFill>
                  <a:schemeClr val="dk1"/>
                </a:solidFill>
              </a:rPr>
              <a:t>Holdout method</a:t>
            </a:r>
            <a:endParaRPr b="1" sz="2800">
              <a:solidFill>
                <a:schemeClr val="dk1"/>
              </a:solidFill>
            </a:endParaRPr>
          </a:p>
          <a:p>
            <a:pPr indent="-285750" lvl="1" marL="742950" rtl="0" algn="l">
              <a:lnSpc>
                <a:spcPct val="80000"/>
              </a:lnSpc>
              <a:spcBef>
                <a:spcPts val="480"/>
              </a:spcBef>
              <a:spcAft>
                <a:spcPts val="0"/>
              </a:spcAft>
              <a:buClr>
                <a:schemeClr val="dk1"/>
              </a:buClr>
              <a:buSzPts val="2400"/>
              <a:buFont typeface="Arial"/>
              <a:buChar char="–"/>
            </a:pPr>
            <a:r>
              <a:rPr lang="en-US" sz="2400"/>
              <a:t>Given data is randomly partitioned into two independent sets</a:t>
            </a:r>
            <a:endParaRPr sz="2400"/>
          </a:p>
          <a:p>
            <a:pPr indent="-355600" lvl="2" marL="1371600" rtl="0" algn="l">
              <a:lnSpc>
                <a:spcPct val="80000"/>
              </a:lnSpc>
              <a:spcBef>
                <a:spcPts val="480"/>
              </a:spcBef>
              <a:spcAft>
                <a:spcPts val="0"/>
              </a:spcAft>
              <a:buClr>
                <a:schemeClr val="dk1"/>
              </a:buClr>
              <a:buSzPts val="2000"/>
              <a:buFont typeface="Arial"/>
              <a:buChar char="•"/>
            </a:pPr>
            <a:r>
              <a:rPr lang="en-US" sz="1400"/>
              <a:t>Training set (e.g., 2/3) for model construction</a:t>
            </a:r>
            <a:endParaRPr sz="1400"/>
          </a:p>
          <a:p>
            <a:pPr indent="-355600" lvl="2" marL="1371600" rtl="0" algn="l">
              <a:lnSpc>
                <a:spcPct val="80000"/>
              </a:lnSpc>
              <a:spcBef>
                <a:spcPts val="480"/>
              </a:spcBef>
              <a:spcAft>
                <a:spcPts val="0"/>
              </a:spcAft>
              <a:buClr>
                <a:schemeClr val="dk1"/>
              </a:buClr>
              <a:buSzPts val="2000"/>
              <a:buFont typeface="Arial"/>
              <a:buChar char="•"/>
            </a:pPr>
            <a:r>
              <a:rPr lang="en-US" sz="1400"/>
              <a:t>Test set (e.g., 1/3) for accuracy estimation</a:t>
            </a:r>
            <a:endParaRPr sz="1400"/>
          </a:p>
          <a:p>
            <a:pPr indent="0" lvl="0" marL="914400" rtl="0" algn="l">
              <a:lnSpc>
                <a:spcPct val="80000"/>
              </a:lnSpc>
              <a:spcBef>
                <a:spcPts val="480"/>
              </a:spcBef>
              <a:spcAft>
                <a:spcPts val="0"/>
              </a:spcAft>
              <a:buNone/>
            </a:pPr>
            <a:r>
              <a:t/>
            </a:r>
            <a:endParaRPr sz="2400"/>
          </a:p>
          <a:p>
            <a:pPr indent="-342900" lvl="0" marL="342900" rtl="0" algn="l">
              <a:lnSpc>
                <a:spcPct val="80000"/>
              </a:lnSpc>
              <a:spcBef>
                <a:spcPts val="560"/>
              </a:spcBef>
              <a:spcAft>
                <a:spcPts val="0"/>
              </a:spcAft>
              <a:buSzPts val="2800"/>
              <a:buFont typeface="Arial"/>
              <a:buChar char="•"/>
            </a:pPr>
            <a:r>
              <a:rPr b="1" lang="en-US" sz="2800">
                <a:solidFill>
                  <a:schemeClr val="dk1"/>
                </a:solidFill>
              </a:rPr>
              <a:t>Random Sampling</a:t>
            </a:r>
            <a:endParaRPr sz="2400"/>
          </a:p>
          <a:p>
            <a:pPr indent="-381000" lvl="1" marL="914400" rtl="0" algn="l">
              <a:lnSpc>
                <a:spcPct val="80000"/>
              </a:lnSpc>
              <a:spcBef>
                <a:spcPts val="480"/>
              </a:spcBef>
              <a:spcAft>
                <a:spcPts val="0"/>
              </a:spcAft>
              <a:buSzPts val="2400"/>
              <a:buChar char="–"/>
            </a:pPr>
            <a:r>
              <a:rPr lang="en-US" sz="2400"/>
              <a:t>a variation of holdout</a:t>
            </a:r>
            <a:endParaRPr/>
          </a:p>
          <a:p>
            <a:pPr indent="-355600" lvl="2" marL="1371600" rtl="0" algn="l">
              <a:lnSpc>
                <a:spcPct val="80000"/>
              </a:lnSpc>
              <a:spcBef>
                <a:spcPts val="480"/>
              </a:spcBef>
              <a:spcAft>
                <a:spcPts val="0"/>
              </a:spcAft>
              <a:buSzPts val="2000"/>
              <a:buChar char="•"/>
            </a:pPr>
            <a:r>
              <a:rPr lang="en-US" sz="1400"/>
              <a:t>Repeat holdout k times, accuracy = avg. of the accuracies obtained</a:t>
            </a:r>
            <a:endParaRPr sz="1400"/>
          </a:p>
          <a:p>
            <a:pPr indent="-190500" lvl="0" marL="342900" rtl="0" algn="just">
              <a:lnSpc>
                <a:spcPct val="100000"/>
              </a:lnSpc>
              <a:spcBef>
                <a:spcPts val="480"/>
              </a:spcBef>
              <a:spcAft>
                <a:spcPts val="0"/>
              </a:spcAft>
              <a:buClr>
                <a:schemeClr val="dk1"/>
              </a:buClr>
              <a:buSzPts val="2400"/>
              <a:buFont typeface="Arial"/>
              <a:buNone/>
            </a:pPr>
            <a:r>
              <a:t/>
            </a:r>
            <a:endParaRPr sz="2400"/>
          </a:p>
        </p:txBody>
      </p:sp>
      <p:grpSp>
        <p:nvGrpSpPr>
          <p:cNvPr id="163" name="Google Shape;163;p18"/>
          <p:cNvGrpSpPr/>
          <p:nvPr/>
        </p:nvGrpSpPr>
        <p:grpSpPr>
          <a:xfrm>
            <a:off x="609600" y="533400"/>
            <a:ext cx="303213" cy="303213"/>
            <a:chOff x="703" y="300"/>
            <a:chExt cx="181" cy="181"/>
          </a:xfrm>
        </p:grpSpPr>
        <p:sp>
          <p:nvSpPr>
            <p:cNvPr id="164" name="Google Shape;164;p18"/>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5" name="Google Shape;165;p18"/>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6" name="Google Shape;166;p18"/>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7" name="Google Shape;167;p18"/>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8" name="Google Shape;168;p18"/>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9" name="Google Shape;169;p18"/>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70" name="Google Shape;170;p18"/>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par>
                                <p:cTn fill="hold" nodeType="withEffect" presetClass="emph" presetID="8" presetSubtype="0">
                                  <p:stCondLst>
                                    <p:cond delay="500"/>
                                  </p:stCondLst>
                                  <p:childTnLst>
                                    <p:animRot by="-21600000">
                                      <p:cBhvr>
                                        <p:cTn dur="500" fill="hold"/>
                                        <p:tgtEl>
                                          <p:spTgt spid="163"/>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9"/>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Evaluating Classifier Accuracy</a:t>
            </a:r>
            <a:endParaRPr sz="4000">
              <a:solidFill>
                <a:schemeClr val="accent6"/>
              </a:solidFill>
            </a:endParaRPr>
          </a:p>
        </p:txBody>
      </p:sp>
      <p:sp>
        <p:nvSpPr>
          <p:cNvPr id="177" name="Google Shape;177;p19"/>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2800"/>
              <a:buFont typeface="Arial"/>
              <a:buChar char="•"/>
            </a:pPr>
            <a:r>
              <a:rPr b="1" lang="en-US" sz="2800">
                <a:solidFill>
                  <a:schemeClr val="dk1"/>
                </a:solidFill>
              </a:rPr>
              <a:t>Cross-validation</a:t>
            </a:r>
            <a:endParaRPr>
              <a:solidFill>
                <a:schemeClr val="dk1"/>
              </a:solidFill>
            </a:endParaRPr>
          </a:p>
          <a:p>
            <a:pPr indent="-285750" lvl="1" marL="742950" rtl="0" algn="just">
              <a:lnSpc>
                <a:spcPct val="100000"/>
              </a:lnSpc>
              <a:spcBef>
                <a:spcPts val="480"/>
              </a:spcBef>
              <a:spcAft>
                <a:spcPts val="0"/>
              </a:spcAft>
              <a:buClr>
                <a:schemeClr val="dk1"/>
              </a:buClr>
              <a:buSzPts val="2400"/>
              <a:buFont typeface="Arial"/>
              <a:buChar char="–"/>
            </a:pPr>
            <a:r>
              <a:rPr lang="en-US" sz="2400"/>
              <a:t>In k-fold cross-validation, the initial data are randomly partitioned into k mutually exclusive subsets or “folds,” D</a:t>
            </a:r>
            <a:r>
              <a:rPr baseline="-25000" lang="en-US" sz="2400"/>
              <a:t>1</a:t>
            </a:r>
            <a:r>
              <a:rPr lang="en-US" sz="2400"/>
              <a:t>, D</a:t>
            </a:r>
            <a:r>
              <a:rPr baseline="-25000" lang="en-US" sz="2400"/>
              <a:t>2</a:t>
            </a:r>
            <a:r>
              <a:rPr lang="en-US" sz="2400"/>
              <a:t>,..., D</a:t>
            </a:r>
            <a:r>
              <a:rPr baseline="-25000" lang="en-US" sz="2400"/>
              <a:t>k</a:t>
            </a:r>
            <a:r>
              <a:rPr lang="en-US" sz="2400"/>
              <a:t>, each of approximately equal size. Training and testing is performed k times. In iteration i, partition D</a:t>
            </a:r>
            <a:r>
              <a:rPr baseline="-25000" lang="en-US" sz="2400"/>
              <a:t>i</a:t>
            </a:r>
            <a:r>
              <a:rPr lang="en-US" sz="2400"/>
              <a:t> is reserved as the test set, and the remaining partitions are collectively used to train the model. That is, in the first iteration, subsets D</a:t>
            </a:r>
            <a:r>
              <a:rPr baseline="-25000" lang="en-US" sz="2400"/>
              <a:t>2</a:t>
            </a:r>
            <a:r>
              <a:rPr lang="en-US" sz="2400"/>
              <a:t>,..., D</a:t>
            </a:r>
            <a:r>
              <a:rPr baseline="-25000" lang="en-US" sz="2400"/>
              <a:t>k</a:t>
            </a:r>
            <a:r>
              <a:rPr lang="en-US" sz="2400"/>
              <a:t> collectively serve as the training set to obtain a first model, which is tested on D</a:t>
            </a:r>
            <a:r>
              <a:rPr baseline="-25000" lang="en-US" sz="2400"/>
              <a:t>1</a:t>
            </a:r>
            <a:r>
              <a:rPr lang="en-US" sz="2400"/>
              <a:t>; the second iteration is trained on subsets D</a:t>
            </a:r>
            <a:r>
              <a:rPr baseline="-25000" lang="en-US" sz="2400"/>
              <a:t>1</a:t>
            </a:r>
            <a:r>
              <a:rPr lang="en-US" sz="2400"/>
              <a:t>, D</a:t>
            </a:r>
            <a:r>
              <a:rPr baseline="-25000" lang="en-US" sz="2400"/>
              <a:t>3</a:t>
            </a:r>
            <a:r>
              <a:rPr lang="en-US" sz="2400"/>
              <a:t>,..., D</a:t>
            </a:r>
            <a:r>
              <a:rPr baseline="-25000" lang="en-US" sz="2400"/>
              <a:t>k</a:t>
            </a:r>
            <a:r>
              <a:rPr lang="en-US" sz="2400"/>
              <a:t> and tested on D</a:t>
            </a:r>
            <a:r>
              <a:rPr baseline="-25000" lang="en-US" sz="2400"/>
              <a:t>2</a:t>
            </a:r>
            <a:r>
              <a:rPr lang="en-US" sz="2400"/>
              <a:t>; and so on.</a:t>
            </a:r>
            <a:endParaRPr b="1" sz="2400"/>
          </a:p>
        </p:txBody>
      </p:sp>
      <p:grpSp>
        <p:nvGrpSpPr>
          <p:cNvPr id="178" name="Google Shape;178;p19"/>
          <p:cNvGrpSpPr/>
          <p:nvPr/>
        </p:nvGrpSpPr>
        <p:grpSpPr>
          <a:xfrm>
            <a:off x="609600" y="533400"/>
            <a:ext cx="303213" cy="303213"/>
            <a:chOff x="703" y="300"/>
            <a:chExt cx="181" cy="181"/>
          </a:xfrm>
        </p:grpSpPr>
        <p:sp>
          <p:nvSpPr>
            <p:cNvPr id="179" name="Google Shape;179;p19"/>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0" name="Google Shape;180;p19"/>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1" name="Google Shape;181;p19"/>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2" name="Google Shape;182;p19"/>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3" name="Google Shape;183;p19"/>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4" name="Google Shape;184;p19"/>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85" name="Google Shape;185;p19"/>
          <p:cNvGrpSpPr/>
          <p:nvPr/>
        </p:nvGrpSpPr>
        <p:grpSpPr>
          <a:xfrm>
            <a:off x="8494713" y="5792788"/>
            <a:ext cx="554037" cy="552450"/>
            <a:chOff x="5369" y="3667"/>
            <a:chExt cx="349" cy="348"/>
          </a:xfrm>
        </p:grpSpPr>
        <p:sp>
          <p:nvSpPr>
            <p:cNvPr id="186" name="Google Shape;186;p19"/>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7" name="Google Shape;187;p19"/>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8" name="Google Shape;188;p19"/>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9" name="Google Shape;189;p19"/>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0" name="Google Shape;190;p19"/>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1" name="Google Shape;191;p19"/>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92" name="Google Shape;192;p19"/>
          <p:cNvGrpSpPr/>
          <p:nvPr/>
        </p:nvGrpSpPr>
        <p:grpSpPr>
          <a:xfrm>
            <a:off x="8113713" y="6221413"/>
            <a:ext cx="554037" cy="552450"/>
            <a:chOff x="5129" y="3937"/>
            <a:chExt cx="349" cy="348"/>
          </a:xfrm>
        </p:grpSpPr>
        <p:sp>
          <p:nvSpPr>
            <p:cNvPr id="193" name="Google Shape;193;p19"/>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4" name="Google Shape;194;p19"/>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5" name="Google Shape;195;p19"/>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6" name="Google Shape;196;p19"/>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7" name="Google Shape;197;p19"/>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8" name="Google Shape;198;p19"/>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99" name="Google Shape;199;p19"/>
          <p:cNvGrpSpPr/>
          <p:nvPr/>
        </p:nvGrpSpPr>
        <p:grpSpPr>
          <a:xfrm>
            <a:off x="8089900" y="5821363"/>
            <a:ext cx="390525" cy="390525"/>
            <a:chOff x="5114" y="3685"/>
            <a:chExt cx="246" cy="246"/>
          </a:xfrm>
        </p:grpSpPr>
        <p:sp>
          <p:nvSpPr>
            <p:cNvPr id="200" name="Google Shape;200;p19"/>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1" name="Google Shape;201;p19"/>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2" name="Google Shape;202;p19"/>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3" name="Google Shape;203;p19"/>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4" name="Google Shape;204;p19"/>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5" name="Google Shape;205;p19"/>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06" name="Google Shape;206;p19"/>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par>
                                <p:cTn fill="hold" nodeType="withEffect" presetClass="emph" presetID="8" presetSubtype="0">
                                  <p:stCondLst>
                                    <p:cond delay="0"/>
                                  </p:stCondLst>
                                  <p:childTnLst>
                                    <p:animRot by="-21600000">
                                      <p:cBhvr>
                                        <p:cTn dur="500" fill="hold"/>
                                        <p:tgtEl>
                                          <p:spTgt spid="185"/>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192"/>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199"/>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17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0"/>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000">
                <a:solidFill>
                  <a:schemeClr val="dk1"/>
                </a:solidFill>
              </a:rPr>
              <a:t>Metrics for Evaluating Classifier Performance</a:t>
            </a:r>
            <a:endParaRPr sz="3000">
              <a:solidFill>
                <a:schemeClr val="dk1"/>
              </a:solidFill>
            </a:endParaRPr>
          </a:p>
        </p:txBody>
      </p:sp>
      <p:sp>
        <p:nvSpPr>
          <p:cNvPr id="213" name="Google Shape;213;p20"/>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6"/>
              </a:buClr>
              <a:buSzPts val="2800"/>
              <a:buFont typeface="Arial"/>
              <a:buChar char="•"/>
            </a:pPr>
            <a:r>
              <a:rPr lang="en-US" sz="2800">
                <a:solidFill>
                  <a:schemeClr val="accent6"/>
                </a:solidFill>
              </a:rPr>
              <a:t>True positives (TP)</a:t>
            </a:r>
            <a:endParaRPr>
              <a:solidFill>
                <a:schemeClr val="accent6"/>
              </a:solidFill>
            </a:endParaRPr>
          </a:p>
          <a:p>
            <a:pPr indent="-285750" lvl="1" marL="742950" rtl="0" algn="l">
              <a:lnSpc>
                <a:spcPct val="100000"/>
              </a:lnSpc>
              <a:spcBef>
                <a:spcPts val="480"/>
              </a:spcBef>
              <a:spcAft>
                <a:spcPts val="0"/>
              </a:spcAft>
              <a:buClr>
                <a:schemeClr val="dk1"/>
              </a:buClr>
              <a:buSzPts val="2400"/>
              <a:buFont typeface="Arial"/>
              <a:buChar char="–"/>
            </a:pPr>
            <a:r>
              <a:rPr lang="en-US" sz="2400"/>
              <a:t>These refer to the positive tuples that were correctly labeled by the classifier. Let TP be the number of true positives.</a:t>
            </a:r>
            <a:endParaRPr/>
          </a:p>
          <a:p>
            <a:pPr indent="-165100" lvl="0" marL="342900" rtl="0" algn="l">
              <a:lnSpc>
                <a:spcPct val="100000"/>
              </a:lnSpc>
              <a:spcBef>
                <a:spcPts val="560"/>
              </a:spcBef>
              <a:spcAft>
                <a:spcPts val="0"/>
              </a:spcAft>
              <a:buClr>
                <a:schemeClr val="dk1"/>
              </a:buClr>
              <a:buSzPts val="2800"/>
              <a:buFont typeface="Arial"/>
              <a:buNone/>
            </a:pPr>
            <a:r>
              <a:t/>
            </a:r>
            <a:endParaRPr sz="2800"/>
          </a:p>
          <a:p>
            <a:pPr indent="-342900" lvl="0" marL="342900" rtl="0" algn="l">
              <a:lnSpc>
                <a:spcPct val="100000"/>
              </a:lnSpc>
              <a:spcBef>
                <a:spcPts val="560"/>
              </a:spcBef>
              <a:spcAft>
                <a:spcPts val="0"/>
              </a:spcAft>
              <a:buClr>
                <a:schemeClr val="accent6"/>
              </a:buClr>
              <a:buSzPts val="2800"/>
              <a:buFont typeface="Arial"/>
              <a:buChar char="•"/>
            </a:pPr>
            <a:r>
              <a:rPr lang="en-US" sz="2800">
                <a:solidFill>
                  <a:schemeClr val="accent6"/>
                </a:solidFill>
              </a:rPr>
              <a:t>True negatives(TN)</a:t>
            </a:r>
            <a:endParaRPr>
              <a:solidFill>
                <a:schemeClr val="accent6"/>
              </a:solidFill>
            </a:endParaRPr>
          </a:p>
          <a:p>
            <a:pPr indent="-285750" lvl="1" marL="742950" rtl="0" algn="l">
              <a:lnSpc>
                <a:spcPct val="100000"/>
              </a:lnSpc>
              <a:spcBef>
                <a:spcPts val="480"/>
              </a:spcBef>
              <a:spcAft>
                <a:spcPts val="0"/>
              </a:spcAft>
              <a:buClr>
                <a:schemeClr val="dk1"/>
              </a:buClr>
              <a:buSzPts val="2400"/>
              <a:buFont typeface="Arial"/>
              <a:buChar char="–"/>
            </a:pPr>
            <a:r>
              <a:rPr lang="en-US" sz="2400"/>
              <a:t>These are the negative tuples that were correctly labeled by the classifier. Let TN be the number of true negatives.</a:t>
            </a:r>
            <a:endParaRPr/>
          </a:p>
          <a:p>
            <a:pPr indent="-165100" lvl="0" marL="342900" rtl="0" algn="l">
              <a:lnSpc>
                <a:spcPct val="100000"/>
              </a:lnSpc>
              <a:spcBef>
                <a:spcPts val="560"/>
              </a:spcBef>
              <a:spcAft>
                <a:spcPts val="0"/>
              </a:spcAft>
              <a:buClr>
                <a:schemeClr val="dk1"/>
              </a:buClr>
              <a:buSzPts val="2800"/>
              <a:buFont typeface="Arial"/>
              <a:buNone/>
            </a:pPr>
            <a:r>
              <a:t/>
            </a:r>
            <a:endParaRPr sz="2800"/>
          </a:p>
        </p:txBody>
      </p:sp>
      <p:grpSp>
        <p:nvGrpSpPr>
          <p:cNvPr id="214" name="Google Shape;214;p20"/>
          <p:cNvGrpSpPr/>
          <p:nvPr/>
        </p:nvGrpSpPr>
        <p:grpSpPr>
          <a:xfrm>
            <a:off x="609600" y="533400"/>
            <a:ext cx="303213" cy="303213"/>
            <a:chOff x="703" y="300"/>
            <a:chExt cx="181" cy="181"/>
          </a:xfrm>
        </p:grpSpPr>
        <p:sp>
          <p:nvSpPr>
            <p:cNvPr id="215" name="Google Shape;215;p20"/>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6" name="Google Shape;216;p20"/>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7" name="Google Shape;217;p20"/>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8" name="Google Shape;218;p20"/>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9" name="Google Shape;219;p20"/>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0" name="Google Shape;220;p20"/>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21" name="Google Shape;221;p20"/>
          <p:cNvGrpSpPr/>
          <p:nvPr/>
        </p:nvGrpSpPr>
        <p:grpSpPr>
          <a:xfrm>
            <a:off x="8494713" y="5792788"/>
            <a:ext cx="554037" cy="552450"/>
            <a:chOff x="5369" y="3667"/>
            <a:chExt cx="349" cy="348"/>
          </a:xfrm>
        </p:grpSpPr>
        <p:sp>
          <p:nvSpPr>
            <p:cNvPr id="222" name="Google Shape;222;p20"/>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3" name="Google Shape;223;p20"/>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4" name="Google Shape;224;p20"/>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5" name="Google Shape;225;p20"/>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6" name="Google Shape;226;p20"/>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7" name="Google Shape;227;p20"/>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28" name="Google Shape;228;p20"/>
          <p:cNvGrpSpPr/>
          <p:nvPr/>
        </p:nvGrpSpPr>
        <p:grpSpPr>
          <a:xfrm>
            <a:off x="8113713" y="6221413"/>
            <a:ext cx="554037" cy="552450"/>
            <a:chOff x="5129" y="3937"/>
            <a:chExt cx="349" cy="348"/>
          </a:xfrm>
        </p:grpSpPr>
        <p:sp>
          <p:nvSpPr>
            <p:cNvPr id="229" name="Google Shape;229;p20"/>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0" name="Google Shape;230;p20"/>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1" name="Google Shape;231;p20"/>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2" name="Google Shape;232;p20"/>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3" name="Google Shape;233;p20"/>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4" name="Google Shape;234;p20"/>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35" name="Google Shape;235;p20"/>
          <p:cNvGrpSpPr/>
          <p:nvPr/>
        </p:nvGrpSpPr>
        <p:grpSpPr>
          <a:xfrm>
            <a:off x="8089900" y="5821363"/>
            <a:ext cx="390525" cy="390525"/>
            <a:chOff x="5114" y="3685"/>
            <a:chExt cx="246" cy="246"/>
          </a:xfrm>
        </p:grpSpPr>
        <p:sp>
          <p:nvSpPr>
            <p:cNvPr id="236" name="Google Shape;236;p20"/>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7" name="Google Shape;237;p20"/>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8" name="Google Shape;238;p20"/>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9" name="Google Shape;239;p20"/>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0" name="Google Shape;240;p20"/>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1" name="Google Shape;241;p20"/>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42" name="Google Shape;242;p20"/>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par>
                                <p:cTn fill="hold" nodeType="withEffect" presetClass="emph" presetID="8" presetSubtype="0">
                                  <p:stCondLst>
                                    <p:cond delay="0"/>
                                  </p:stCondLst>
                                  <p:childTnLst>
                                    <p:animRot by="-21600000">
                                      <p:cBhvr>
                                        <p:cTn dur="500" fill="hold"/>
                                        <p:tgtEl>
                                          <p:spTgt spid="221"/>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228"/>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235"/>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214"/>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1"/>
          <p:cNvSpPr txBox="1"/>
          <p:nvPr>
            <p:ph type="title"/>
          </p:nvPr>
        </p:nvSpPr>
        <p:spPr>
          <a:xfrm>
            <a:off x="990600" y="228600"/>
            <a:ext cx="79152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dk1"/>
                </a:solidFill>
              </a:rPr>
              <a:t>Metrics for Evaluating Classifier Performance</a:t>
            </a:r>
            <a:endParaRPr>
              <a:solidFill>
                <a:schemeClr val="dk1"/>
              </a:solidFill>
            </a:endParaRPr>
          </a:p>
        </p:txBody>
      </p:sp>
      <p:sp>
        <p:nvSpPr>
          <p:cNvPr id="249" name="Google Shape;249;p21"/>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6"/>
              </a:buClr>
              <a:buSzPts val="2800"/>
              <a:buFont typeface="Arial"/>
              <a:buChar char="•"/>
            </a:pPr>
            <a:r>
              <a:rPr lang="en-US" sz="2800">
                <a:solidFill>
                  <a:schemeClr val="accent6"/>
                </a:solidFill>
              </a:rPr>
              <a:t>False positives (FP)</a:t>
            </a:r>
            <a:endParaRPr>
              <a:solidFill>
                <a:schemeClr val="accent6"/>
              </a:solidFill>
            </a:endParaRPr>
          </a:p>
          <a:p>
            <a:pPr indent="-285750" lvl="1" marL="742950" rtl="0" algn="l">
              <a:lnSpc>
                <a:spcPct val="100000"/>
              </a:lnSpc>
              <a:spcBef>
                <a:spcPts val="480"/>
              </a:spcBef>
              <a:spcAft>
                <a:spcPts val="0"/>
              </a:spcAft>
              <a:buClr>
                <a:schemeClr val="dk1"/>
              </a:buClr>
              <a:buSzPts val="2400"/>
              <a:buFont typeface="Arial"/>
              <a:buChar char="–"/>
            </a:pPr>
            <a:r>
              <a:rPr lang="en-US" sz="2400"/>
              <a:t>These are the negative tuples that were incorrectly labeled as positive (e.g., tuples of class buys computer = no for which the classifier predicted buys computer = yes). Let FP be the number of false positives.</a:t>
            </a:r>
            <a:endParaRPr b="1" sz="2400"/>
          </a:p>
          <a:p>
            <a:pPr indent="-165100" lvl="0" marL="342900" rtl="0" algn="l">
              <a:lnSpc>
                <a:spcPct val="100000"/>
              </a:lnSpc>
              <a:spcBef>
                <a:spcPts val="560"/>
              </a:spcBef>
              <a:spcAft>
                <a:spcPts val="0"/>
              </a:spcAft>
              <a:buClr>
                <a:schemeClr val="dk1"/>
              </a:buClr>
              <a:buSzPts val="2800"/>
              <a:buFont typeface="Arial"/>
              <a:buNone/>
            </a:pPr>
            <a:r>
              <a:t/>
            </a:r>
            <a:endParaRPr sz="2800"/>
          </a:p>
          <a:p>
            <a:pPr indent="-342900" lvl="0" marL="342900" rtl="0" algn="l">
              <a:lnSpc>
                <a:spcPct val="100000"/>
              </a:lnSpc>
              <a:spcBef>
                <a:spcPts val="560"/>
              </a:spcBef>
              <a:spcAft>
                <a:spcPts val="0"/>
              </a:spcAft>
              <a:buClr>
                <a:schemeClr val="accent6"/>
              </a:buClr>
              <a:buSzPts val="2800"/>
              <a:buFont typeface="Arial"/>
              <a:buChar char="•"/>
            </a:pPr>
            <a:r>
              <a:rPr lang="en-US" sz="2800">
                <a:solidFill>
                  <a:schemeClr val="accent6"/>
                </a:solidFill>
              </a:rPr>
              <a:t>False negatives (FN)</a:t>
            </a:r>
            <a:endParaRPr>
              <a:solidFill>
                <a:schemeClr val="accent6"/>
              </a:solidFill>
            </a:endParaRPr>
          </a:p>
          <a:p>
            <a:pPr indent="-285750" lvl="1" marL="742950" rtl="0" algn="l">
              <a:lnSpc>
                <a:spcPct val="100000"/>
              </a:lnSpc>
              <a:spcBef>
                <a:spcPts val="480"/>
              </a:spcBef>
              <a:spcAft>
                <a:spcPts val="0"/>
              </a:spcAft>
              <a:buClr>
                <a:schemeClr val="dk1"/>
              </a:buClr>
              <a:buSzPts val="2400"/>
              <a:buFont typeface="Arial"/>
              <a:buChar char="–"/>
            </a:pPr>
            <a:r>
              <a:rPr lang="en-US" sz="2400"/>
              <a:t>These are the positive tuples that were mislabeled as negative (e.g., tuples of class buys computer = yes for which the classifier predicted buys computer = no). Let FN be the number of false negatives.</a:t>
            </a:r>
            <a:endParaRPr b="1" sz="2400"/>
          </a:p>
        </p:txBody>
      </p:sp>
      <p:grpSp>
        <p:nvGrpSpPr>
          <p:cNvPr id="250" name="Google Shape;250;p21"/>
          <p:cNvGrpSpPr/>
          <p:nvPr/>
        </p:nvGrpSpPr>
        <p:grpSpPr>
          <a:xfrm>
            <a:off x="609600" y="533400"/>
            <a:ext cx="303213" cy="303213"/>
            <a:chOff x="703" y="300"/>
            <a:chExt cx="181" cy="181"/>
          </a:xfrm>
        </p:grpSpPr>
        <p:sp>
          <p:nvSpPr>
            <p:cNvPr id="251" name="Google Shape;251;p21"/>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2" name="Google Shape;252;p21"/>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3" name="Google Shape;253;p21"/>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4" name="Google Shape;254;p21"/>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5" name="Google Shape;255;p21"/>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6" name="Google Shape;256;p21"/>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57" name="Google Shape;257;p21"/>
          <p:cNvGrpSpPr/>
          <p:nvPr/>
        </p:nvGrpSpPr>
        <p:grpSpPr>
          <a:xfrm>
            <a:off x="8494713" y="5792788"/>
            <a:ext cx="554037" cy="552450"/>
            <a:chOff x="5369" y="3667"/>
            <a:chExt cx="349" cy="348"/>
          </a:xfrm>
        </p:grpSpPr>
        <p:sp>
          <p:nvSpPr>
            <p:cNvPr id="258" name="Google Shape;258;p21"/>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9" name="Google Shape;259;p21"/>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0" name="Google Shape;260;p21"/>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1" name="Google Shape;261;p21"/>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2" name="Google Shape;262;p21"/>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3" name="Google Shape;263;p21"/>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64" name="Google Shape;264;p21"/>
          <p:cNvGrpSpPr/>
          <p:nvPr/>
        </p:nvGrpSpPr>
        <p:grpSpPr>
          <a:xfrm>
            <a:off x="8113713" y="6221413"/>
            <a:ext cx="554037" cy="552450"/>
            <a:chOff x="5129" y="3937"/>
            <a:chExt cx="349" cy="348"/>
          </a:xfrm>
        </p:grpSpPr>
        <p:sp>
          <p:nvSpPr>
            <p:cNvPr id="265" name="Google Shape;265;p21"/>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6" name="Google Shape;266;p21"/>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7" name="Google Shape;267;p21"/>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8" name="Google Shape;268;p21"/>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9" name="Google Shape;269;p21"/>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0" name="Google Shape;270;p21"/>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71" name="Google Shape;271;p21"/>
          <p:cNvGrpSpPr/>
          <p:nvPr/>
        </p:nvGrpSpPr>
        <p:grpSpPr>
          <a:xfrm>
            <a:off x="8089900" y="5821363"/>
            <a:ext cx="390525" cy="390525"/>
            <a:chOff x="5114" y="3685"/>
            <a:chExt cx="246" cy="246"/>
          </a:xfrm>
        </p:grpSpPr>
        <p:sp>
          <p:nvSpPr>
            <p:cNvPr id="272" name="Google Shape;272;p21"/>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3" name="Google Shape;273;p21"/>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4" name="Google Shape;274;p21"/>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5" name="Google Shape;275;p21"/>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6" name="Google Shape;276;p21"/>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7" name="Google Shape;277;p21"/>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78" name="Google Shape;278;p21"/>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par>
                                <p:cTn fill="hold" nodeType="withEffect" presetClass="emph" presetID="8" presetSubtype="0">
                                  <p:stCondLst>
                                    <p:cond delay="0"/>
                                  </p:stCondLst>
                                  <p:childTnLst>
                                    <p:animRot by="-21600000">
                                      <p:cBhvr>
                                        <p:cTn dur="500" fill="hold"/>
                                        <p:tgtEl>
                                          <p:spTgt spid="257"/>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264"/>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271"/>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250"/>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2"/>
          <p:cNvSpPr txBox="1"/>
          <p:nvPr>
            <p:ph type="title"/>
          </p:nvPr>
        </p:nvSpPr>
        <p:spPr>
          <a:xfrm>
            <a:off x="990600" y="228600"/>
            <a:ext cx="80583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dk1"/>
                </a:solidFill>
              </a:rPr>
              <a:t>Metrics for Evaluating Classifier Performance</a:t>
            </a:r>
            <a:endParaRPr>
              <a:solidFill>
                <a:schemeClr val="dk1"/>
              </a:solidFill>
            </a:endParaRPr>
          </a:p>
        </p:txBody>
      </p:sp>
      <p:sp>
        <p:nvSpPr>
          <p:cNvPr id="285" name="Google Shape;285;p22"/>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0" lvl="0" marL="457200" rtl="0" algn="just">
              <a:lnSpc>
                <a:spcPct val="100000"/>
              </a:lnSpc>
              <a:spcBef>
                <a:spcPts val="0"/>
              </a:spcBef>
              <a:spcAft>
                <a:spcPts val="0"/>
              </a:spcAft>
              <a:buNone/>
            </a:pPr>
            <a:r>
              <a:rPr lang="en-US" sz="2800">
                <a:solidFill>
                  <a:schemeClr val="accent6"/>
                </a:solidFill>
              </a:rPr>
              <a:t>Confusion Matrix</a:t>
            </a:r>
            <a:endParaRPr>
              <a:solidFill>
                <a:schemeClr val="accent6"/>
              </a:solidFill>
            </a:endParaRPr>
          </a:p>
          <a:p>
            <a:pPr indent="-285750" lvl="1" marL="742950" rtl="0" algn="just">
              <a:lnSpc>
                <a:spcPct val="100000"/>
              </a:lnSpc>
              <a:spcBef>
                <a:spcPts val="480"/>
              </a:spcBef>
              <a:spcAft>
                <a:spcPts val="0"/>
              </a:spcAft>
              <a:buClr>
                <a:schemeClr val="dk1"/>
              </a:buClr>
              <a:buSzPts val="2400"/>
              <a:buFont typeface="Arial"/>
              <a:buChar char="–"/>
            </a:pPr>
            <a:r>
              <a:rPr lang="en-US" sz="2400"/>
              <a:t>A confusion matrix (also known as an error matrix) is a table that is often used to describe the performance of a classification model (or classifier) on a set of test data for which the true values are known. It allows the visualization of the performance of an algorithm</a:t>
            </a:r>
            <a:endParaRPr/>
          </a:p>
          <a:p>
            <a:pPr indent="-165100" lvl="0" marL="342900" rtl="0" algn="just">
              <a:lnSpc>
                <a:spcPct val="100000"/>
              </a:lnSpc>
              <a:spcBef>
                <a:spcPts val="560"/>
              </a:spcBef>
              <a:spcAft>
                <a:spcPts val="0"/>
              </a:spcAft>
              <a:buClr>
                <a:schemeClr val="dk1"/>
              </a:buClr>
              <a:buSzPts val="2800"/>
              <a:buFont typeface="Arial"/>
              <a:buNone/>
            </a:pPr>
            <a:r>
              <a:t/>
            </a:r>
            <a:endParaRPr sz="2800"/>
          </a:p>
          <a:p>
            <a:pPr indent="-285750" lvl="1" marL="742950" rtl="0" algn="just">
              <a:lnSpc>
                <a:spcPct val="100000"/>
              </a:lnSpc>
              <a:spcBef>
                <a:spcPts val="480"/>
              </a:spcBef>
              <a:spcAft>
                <a:spcPts val="0"/>
              </a:spcAft>
              <a:buClr>
                <a:schemeClr val="dk1"/>
              </a:buClr>
              <a:buSzPts val="2400"/>
              <a:buFont typeface="Arial"/>
              <a:buChar char="–"/>
            </a:pPr>
            <a:r>
              <a:rPr lang="en-US" sz="2400"/>
              <a:t>A confusion matrix is a summary of prediction results on a classification problem. The number of correct and incorrect predictions are summarized with count values and broken down by each class. This is the key to the confusion matrix. </a:t>
            </a:r>
            <a:endParaRPr/>
          </a:p>
        </p:txBody>
      </p:sp>
      <p:grpSp>
        <p:nvGrpSpPr>
          <p:cNvPr id="286" name="Google Shape;286;p22"/>
          <p:cNvGrpSpPr/>
          <p:nvPr/>
        </p:nvGrpSpPr>
        <p:grpSpPr>
          <a:xfrm>
            <a:off x="609600" y="533400"/>
            <a:ext cx="303213" cy="303213"/>
            <a:chOff x="703" y="300"/>
            <a:chExt cx="181" cy="181"/>
          </a:xfrm>
        </p:grpSpPr>
        <p:sp>
          <p:nvSpPr>
            <p:cNvPr id="287" name="Google Shape;287;p22"/>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8" name="Google Shape;288;p22"/>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9" name="Google Shape;289;p22"/>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0" name="Google Shape;290;p22"/>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1" name="Google Shape;291;p22"/>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2" name="Google Shape;292;p22"/>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93" name="Google Shape;293;p22"/>
          <p:cNvGrpSpPr/>
          <p:nvPr/>
        </p:nvGrpSpPr>
        <p:grpSpPr>
          <a:xfrm>
            <a:off x="8494713" y="5792788"/>
            <a:ext cx="554037" cy="552450"/>
            <a:chOff x="5369" y="3667"/>
            <a:chExt cx="349" cy="348"/>
          </a:xfrm>
        </p:grpSpPr>
        <p:sp>
          <p:nvSpPr>
            <p:cNvPr id="294" name="Google Shape;294;p22"/>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5" name="Google Shape;295;p22"/>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6" name="Google Shape;296;p22"/>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7" name="Google Shape;297;p22"/>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8" name="Google Shape;298;p22"/>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9" name="Google Shape;299;p22"/>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00" name="Google Shape;300;p22"/>
          <p:cNvGrpSpPr/>
          <p:nvPr/>
        </p:nvGrpSpPr>
        <p:grpSpPr>
          <a:xfrm>
            <a:off x="8113713" y="6221413"/>
            <a:ext cx="554037" cy="552450"/>
            <a:chOff x="5129" y="3937"/>
            <a:chExt cx="349" cy="348"/>
          </a:xfrm>
        </p:grpSpPr>
        <p:sp>
          <p:nvSpPr>
            <p:cNvPr id="301" name="Google Shape;301;p22"/>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2" name="Google Shape;302;p22"/>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3" name="Google Shape;303;p22"/>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4" name="Google Shape;304;p22"/>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5" name="Google Shape;305;p22"/>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6" name="Google Shape;306;p22"/>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07" name="Google Shape;307;p22"/>
          <p:cNvGrpSpPr/>
          <p:nvPr/>
        </p:nvGrpSpPr>
        <p:grpSpPr>
          <a:xfrm>
            <a:off x="8089900" y="5821363"/>
            <a:ext cx="390525" cy="390525"/>
            <a:chOff x="5114" y="3685"/>
            <a:chExt cx="246" cy="246"/>
          </a:xfrm>
        </p:grpSpPr>
        <p:sp>
          <p:nvSpPr>
            <p:cNvPr id="308" name="Google Shape;308;p22"/>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9" name="Google Shape;309;p22"/>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0" name="Google Shape;310;p22"/>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1" name="Google Shape;311;p22"/>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2" name="Google Shape;312;p22"/>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3" name="Google Shape;313;p22"/>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14" name="Google Shape;314;p22"/>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par>
                                <p:cTn fill="hold" nodeType="withEffect" presetClass="emph" presetID="8" presetSubtype="0">
                                  <p:stCondLst>
                                    <p:cond delay="0"/>
                                  </p:stCondLst>
                                  <p:childTnLst>
                                    <p:animRot by="-21600000">
                                      <p:cBhvr>
                                        <p:cTn dur="500" fill="hold"/>
                                        <p:tgtEl>
                                          <p:spTgt spid="293"/>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300"/>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307"/>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28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3"/>
          <p:cNvSpPr txBox="1"/>
          <p:nvPr>
            <p:ph type="title"/>
          </p:nvPr>
        </p:nvSpPr>
        <p:spPr>
          <a:xfrm>
            <a:off x="990600" y="228600"/>
            <a:ext cx="80583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000">
                <a:solidFill>
                  <a:schemeClr val="dk1"/>
                </a:solidFill>
              </a:rPr>
              <a:t>Metrics for Evaluating Classifier Performance</a:t>
            </a:r>
            <a:endParaRPr sz="3000">
              <a:solidFill>
                <a:schemeClr val="dk1"/>
              </a:solidFill>
            </a:endParaRPr>
          </a:p>
        </p:txBody>
      </p:sp>
      <p:sp>
        <p:nvSpPr>
          <p:cNvPr id="321" name="Google Shape;321;p23"/>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0" lvl="0" marL="457200" rtl="0" algn="just">
              <a:lnSpc>
                <a:spcPct val="100000"/>
              </a:lnSpc>
              <a:spcBef>
                <a:spcPts val="0"/>
              </a:spcBef>
              <a:spcAft>
                <a:spcPts val="0"/>
              </a:spcAft>
              <a:buNone/>
            </a:pPr>
            <a:r>
              <a:rPr lang="en-US" sz="2800">
                <a:solidFill>
                  <a:schemeClr val="accent6"/>
                </a:solidFill>
              </a:rPr>
              <a:t>Confusion Matrix</a:t>
            </a:r>
            <a:endParaRPr sz="2800"/>
          </a:p>
          <a:p>
            <a:pPr indent="-285750" lvl="1" marL="742950" rtl="0" algn="just">
              <a:lnSpc>
                <a:spcPct val="100000"/>
              </a:lnSpc>
              <a:spcBef>
                <a:spcPts val="480"/>
              </a:spcBef>
              <a:spcAft>
                <a:spcPts val="0"/>
              </a:spcAft>
              <a:buClr>
                <a:schemeClr val="dk1"/>
              </a:buClr>
              <a:buSzPts val="2400"/>
              <a:buFont typeface="Arial"/>
              <a:buChar char="–"/>
            </a:pPr>
            <a:r>
              <a:rPr lang="en-US" sz="2400"/>
              <a:t>The confusion matrix shows the ways in which your classification model is confused when it makes predictions</a:t>
            </a:r>
            <a:endParaRPr/>
          </a:p>
          <a:p>
            <a:pPr indent="-285750" lvl="1" marL="742950" rtl="0" algn="just">
              <a:lnSpc>
                <a:spcPct val="100000"/>
              </a:lnSpc>
              <a:spcBef>
                <a:spcPts val="480"/>
              </a:spcBef>
              <a:spcAft>
                <a:spcPts val="0"/>
              </a:spcAft>
              <a:buClr>
                <a:schemeClr val="dk1"/>
              </a:buClr>
              <a:buSzPts val="2400"/>
              <a:buFont typeface="Arial"/>
              <a:buChar char="–"/>
            </a:pPr>
            <a:r>
              <a:rPr lang="en-US" sz="2400"/>
              <a:t>It gives us insight not only into the errors being made by a classifier but more importantly the types of errors that are being made</a:t>
            </a:r>
            <a:endParaRPr/>
          </a:p>
          <a:p>
            <a:pPr indent="-285750" lvl="1" marL="742950" rtl="0" algn="just">
              <a:lnSpc>
                <a:spcPct val="100000"/>
              </a:lnSpc>
              <a:spcBef>
                <a:spcPts val="480"/>
              </a:spcBef>
              <a:spcAft>
                <a:spcPts val="0"/>
              </a:spcAft>
              <a:buClr>
                <a:schemeClr val="dk1"/>
              </a:buClr>
              <a:buSzPts val="2400"/>
              <a:buFont typeface="Arial"/>
              <a:buChar char="–"/>
            </a:pPr>
            <a:r>
              <a:rPr lang="en-US" sz="2400"/>
              <a:t>TP and TN tell us when the classifier is getting things right, while FP and FN tell us when the classifier is getting things wrong</a:t>
            </a:r>
            <a:endParaRPr b="1" sz="2400"/>
          </a:p>
        </p:txBody>
      </p:sp>
      <p:grpSp>
        <p:nvGrpSpPr>
          <p:cNvPr id="322" name="Google Shape;322;p23"/>
          <p:cNvGrpSpPr/>
          <p:nvPr/>
        </p:nvGrpSpPr>
        <p:grpSpPr>
          <a:xfrm>
            <a:off x="609600" y="533400"/>
            <a:ext cx="303213" cy="303213"/>
            <a:chOff x="703" y="300"/>
            <a:chExt cx="181" cy="181"/>
          </a:xfrm>
        </p:grpSpPr>
        <p:sp>
          <p:nvSpPr>
            <p:cNvPr id="323" name="Google Shape;323;p23"/>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4" name="Google Shape;324;p23"/>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5" name="Google Shape;325;p23"/>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6" name="Google Shape;326;p23"/>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7" name="Google Shape;327;p23"/>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8" name="Google Shape;328;p23"/>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29" name="Google Shape;329;p23"/>
          <p:cNvGrpSpPr/>
          <p:nvPr/>
        </p:nvGrpSpPr>
        <p:grpSpPr>
          <a:xfrm>
            <a:off x="8494713" y="5792788"/>
            <a:ext cx="554037" cy="552450"/>
            <a:chOff x="5369" y="3667"/>
            <a:chExt cx="349" cy="348"/>
          </a:xfrm>
        </p:grpSpPr>
        <p:sp>
          <p:nvSpPr>
            <p:cNvPr id="330" name="Google Shape;330;p23"/>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1" name="Google Shape;331;p23"/>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2" name="Google Shape;332;p23"/>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3" name="Google Shape;333;p23"/>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4" name="Google Shape;334;p23"/>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5" name="Google Shape;335;p23"/>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36" name="Google Shape;336;p23"/>
          <p:cNvGrpSpPr/>
          <p:nvPr/>
        </p:nvGrpSpPr>
        <p:grpSpPr>
          <a:xfrm>
            <a:off x="8113713" y="6221413"/>
            <a:ext cx="554037" cy="552450"/>
            <a:chOff x="5129" y="3937"/>
            <a:chExt cx="349" cy="348"/>
          </a:xfrm>
        </p:grpSpPr>
        <p:sp>
          <p:nvSpPr>
            <p:cNvPr id="337" name="Google Shape;337;p23"/>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8" name="Google Shape;338;p23"/>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9" name="Google Shape;339;p23"/>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0" name="Google Shape;340;p23"/>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1" name="Google Shape;341;p23"/>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2" name="Google Shape;342;p23"/>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43" name="Google Shape;343;p23"/>
          <p:cNvGrpSpPr/>
          <p:nvPr/>
        </p:nvGrpSpPr>
        <p:grpSpPr>
          <a:xfrm>
            <a:off x="8089900" y="5821363"/>
            <a:ext cx="390525" cy="390525"/>
            <a:chOff x="5114" y="3685"/>
            <a:chExt cx="246" cy="246"/>
          </a:xfrm>
        </p:grpSpPr>
        <p:sp>
          <p:nvSpPr>
            <p:cNvPr id="344" name="Google Shape;344;p23"/>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5" name="Google Shape;345;p23"/>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6" name="Google Shape;346;p23"/>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7" name="Google Shape;347;p23"/>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8" name="Google Shape;348;p23"/>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9" name="Google Shape;349;p23"/>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50" name="Google Shape;350;p23"/>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500"/>
                                        <p:tgtEl>
                                          <p:spTgt spid="322"/>
                                        </p:tgtEl>
                                      </p:cBhvr>
                                    </p:animEffect>
                                  </p:childTnLst>
                                </p:cTn>
                              </p:par>
                              <p:par>
                                <p:cTn fill="hold" nodeType="withEffect" presetClass="emph" presetID="8" presetSubtype="0">
                                  <p:stCondLst>
                                    <p:cond delay="0"/>
                                  </p:stCondLst>
                                  <p:childTnLst>
                                    <p:animRot by="-21600000">
                                      <p:cBhvr>
                                        <p:cTn dur="500" fill="hold"/>
                                        <p:tgtEl>
                                          <p:spTgt spid="329"/>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336"/>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343"/>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322"/>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4"/>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000">
                <a:solidFill>
                  <a:schemeClr val="dk1"/>
                </a:solidFill>
              </a:rPr>
              <a:t>Metrics for Evaluating Classifier Performance</a:t>
            </a:r>
            <a:endParaRPr sz="3000">
              <a:solidFill>
                <a:schemeClr val="dk1"/>
              </a:solidFill>
            </a:endParaRPr>
          </a:p>
        </p:txBody>
      </p:sp>
      <p:grpSp>
        <p:nvGrpSpPr>
          <p:cNvPr id="357" name="Google Shape;357;p24"/>
          <p:cNvGrpSpPr/>
          <p:nvPr/>
        </p:nvGrpSpPr>
        <p:grpSpPr>
          <a:xfrm>
            <a:off x="609600" y="533400"/>
            <a:ext cx="303213" cy="303213"/>
            <a:chOff x="703" y="300"/>
            <a:chExt cx="181" cy="181"/>
          </a:xfrm>
        </p:grpSpPr>
        <p:sp>
          <p:nvSpPr>
            <p:cNvPr id="358" name="Google Shape;358;p24"/>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9" name="Google Shape;359;p24"/>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0" name="Google Shape;360;p24"/>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1" name="Google Shape;361;p24"/>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2" name="Google Shape;362;p24"/>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3" name="Google Shape;363;p24"/>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64" name="Google Shape;364;p24"/>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descr="C:\Users\JAM\Desktop\Capture.PNG" id="365" name="Google Shape;365;p24"/>
          <p:cNvPicPr preferRelativeResize="0"/>
          <p:nvPr/>
        </p:nvPicPr>
        <p:blipFill rotWithShape="1">
          <a:blip r:embed="rId3">
            <a:alphaModFix/>
          </a:blip>
          <a:srcRect b="0" l="0" r="0" t="0"/>
          <a:stretch/>
        </p:blipFill>
        <p:spPr>
          <a:xfrm>
            <a:off x="2450211" y="2028825"/>
            <a:ext cx="4255389" cy="2085975"/>
          </a:xfrm>
          <a:prstGeom prst="rect">
            <a:avLst/>
          </a:prstGeom>
          <a:noFill/>
          <a:ln>
            <a:noFill/>
          </a:ln>
        </p:spPr>
      </p:pic>
      <p:pic>
        <p:nvPicPr>
          <p:cNvPr descr="C:\Users\JAM\Desktop\3.PNG" id="366" name="Google Shape;366;p24"/>
          <p:cNvPicPr preferRelativeResize="0"/>
          <p:nvPr/>
        </p:nvPicPr>
        <p:blipFill rotWithShape="1">
          <a:blip r:embed="rId4">
            <a:alphaModFix/>
          </a:blip>
          <a:srcRect b="0" l="0" r="0" t="0"/>
          <a:stretch/>
        </p:blipFill>
        <p:spPr>
          <a:xfrm>
            <a:off x="381000" y="4191000"/>
            <a:ext cx="8458200" cy="1981200"/>
          </a:xfrm>
          <a:prstGeom prst="rect">
            <a:avLst/>
          </a:prstGeom>
          <a:noFill/>
          <a:ln>
            <a:noFill/>
          </a:ln>
        </p:spPr>
      </p:pic>
      <p:sp>
        <p:nvSpPr>
          <p:cNvPr id="367" name="Google Shape;367;p24"/>
          <p:cNvSpPr txBox="1"/>
          <p:nvPr/>
        </p:nvSpPr>
        <p:spPr>
          <a:xfrm>
            <a:off x="2667000" y="1504900"/>
            <a:ext cx="38016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400" u="none" cap="none" strike="noStrike">
                <a:solidFill>
                  <a:schemeClr val="accent6"/>
                </a:solidFill>
                <a:latin typeface="Arial"/>
                <a:ea typeface="Arial"/>
                <a:cs typeface="Arial"/>
                <a:sym typeface="Arial"/>
              </a:rPr>
              <a:t>Confusion Matrix</a:t>
            </a:r>
            <a:endParaRPr b="1" i="0" sz="2400" u="none" cap="none" strike="noStrike">
              <a:solidFill>
                <a:schemeClr val="accent6"/>
              </a:solidFill>
              <a:latin typeface="Arial"/>
              <a:ea typeface="Arial"/>
              <a:cs typeface="Arial"/>
              <a:sym typeface="Arial"/>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par>
                                <p:cTn fill="hold" nodeType="withEffect" presetClass="emph" presetID="8" presetSubtype="0">
                                  <p:stCondLst>
                                    <p:cond delay="500"/>
                                  </p:stCondLst>
                                  <p:childTnLst>
                                    <p:animRot by="-21600000">
                                      <p:cBhvr>
                                        <p:cTn dur="500" fill="hold"/>
                                        <p:tgtEl>
                                          <p:spTgt spid="357"/>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5"/>
          <p:cNvSpPr txBox="1"/>
          <p:nvPr>
            <p:ph type="title"/>
          </p:nvPr>
        </p:nvSpPr>
        <p:spPr>
          <a:xfrm>
            <a:off x="533400" y="188925"/>
            <a:ext cx="8142300" cy="565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3000">
                <a:solidFill>
                  <a:schemeClr val="dk1"/>
                </a:solidFill>
              </a:rPr>
              <a:t>Construct a Confusion Matrix</a:t>
            </a:r>
            <a:endParaRPr sz="3000">
              <a:solidFill>
                <a:schemeClr val="dk1"/>
              </a:solidFill>
            </a:endParaRPr>
          </a:p>
        </p:txBody>
      </p:sp>
      <p:sp>
        <p:nvSpPr>
          <p:cNvPr id="374" name="Google Shape;374;p25"/>
          <p:cNvSpPr txBox="1"/>
          <p:nvPr>
            <p:ph idx="1" type="body"/>
          </p:nvPr>
        </p:nvSpPr>
        <p:spPr>
          <a:xfrm>
            <a:off x="457200" y="1052513"/>
            <a:ext cx="8229600" cy="5073600"/>
          </a:xfrm>
          <a:prstGeom prst="rect">
            <a:avLst/>
          </a:prstGeom>
        </p:spPr>
        <p:txBody>
          <a:bodyPr anchorCtr="0" anchor="t" bIns="45700" lIns="91425" spcFirstLastPara="1" rIns="91425" wrap="square" tIns="45700">
            <a:noAutofit/>
          </a:bodyPr>
          <a:lstStyle/>
          <a:p>
            <a:pPr indent="0" lvl="0" marL="0" rtl="0" algn="just">
              <a:spcBef>
                <a:spcPts val="360"/>
              </a:spcBef>
              <a:spcAft>
                <a:spcPts val="0"/>
              </a:spcAft>
              <a:buNone/>
            </a:pPr>
            <a:r>
              <a:rPr lang="en-US" sz="3000"/>
              <a:t>C</a:t>
            </a:r>
            <a:r>
              <a:rPr lang="en-US" sz="3000"/>
              <a:t>onsider the performance of a model that identifies lemons in an image filled with 20 lemons and 20 limes. With lemons as the positive class, the model correctly identifies 16 of the lemons but also incorrectly classifies 8 limes as lemons. The model also correctly ignores 12 of the limes but incorrectly fails to highlight 4 lemons.</a:t>
            </a:r>
            <a:endParaRPr sz="3000"/>
          </a:p>
        </p:txBody>
      </p:sp>
      <p:sp>
        <p:nvSpPr>
          <p:cNvPr id="375" name="Google Shape;375;p25"/>
          <p:cNvSpPr txBox="1"/>
          <p:nvPr>
            <p:ph idx="12" type="sldNum"/>
          </p:nvPr>
        </p:nvSpPr>
        <p:spPr>
          <a:xfrm>
            <a:off x="533400" y="6248400"/>
            <a:ext cx="2133600" cy="47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grpSp>
        <p:nvGrpSpPr>
          <p:cNvPr id="376" name="Google Shape;376;p25"/>
          <p:cNvGrpSpPr/>
          <p:nvPr/>
        </p:nvGrpSpPr>
        <p:grpSpPr>
          <a:xfrm>
            <a:off x="153950" y="319825"/>
            <a:ext cx="303246" cy="303397"/>
            <a:chOff x="703" y="300"/>
            <a:chExt cx="181" cy="181"/>
          </a:xfrm>
        </p:grpSpPr>
        <p:sp>
          <p:nvSpPr>
            <p:cNvPr id="377" name="Google Shape;377;p25"/>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8" name="Google Shape;378;p25"/>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9" name="Google Shape;379;p25"/>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0" name="Google Shape;380;p25"/>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1" name="Google Shape;381;p25"/>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2" name="Google Shape;382;p25"/>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6"/>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dk1"/>
                </a:solidFill>
              </a:rPr>
              <a:t>Metrics for Evaluating Classifier Performance</a:t>
            </a:r>
            <a:endParaRPr>
              <a:solidFill>
                <a:schemeClr val="dk1"/>
              </a:solidFill>
            </a:endParaRPr>
          </a:p>
        </p:txBody>
      </p:sp>
      <p:grpSp>
        <p:nvGrpSpPr>
          <p:cNvPr id="389" name="Google Shape;389;p26"/>
          <p:cNvGrpSpPr/>
          <p:nvPr/>
        </p:nvGrpSpPr>
        <p:grpSpPr>
          <a:xfrm>
            <a:off x="609600" y="533400"/>
            <a:ext cx="303213" cy="303213"/>
            <a:chOff x="703" y="300"/>
            <a:chExt cx="181" cy="181"/>
          </a:xfrm>
        </p:grpSpPr>
        <p:sp>
          <p:nvSpPr>
            <p:cNvPr id="390" name="Google Shape;390;p26"/>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1" name="Google Shape;391;p26"/>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2" name="Google Shape;392;p26"/>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3" name="Google Shape;393;p26"/>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4" name="Google Shape;394;p26"/>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5" name="Google Shape;395;p26"/>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96" name="Google Shape;396;p26"/>
          <p:cNvGrpSpPr/>
          <p:nvPr/>
        </p:nvGrpSpPr>
        <p:grpSpPr>
          <a:xfrm>
            <a:off x="8494713" y="5792788"/>
            <a:ext cx="554037" cy="552450"/>
            <a:chOff x="5369" y="3667"/>
            <a:chExt cx="349" cy="348"/>
          </a:xfrm>
        </p:grpSpPr>
        <p:sp>
          <p:nvSpPr>
            <p:cNvPr id="397" name="Google Shape;397;p26"/>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8" name="Google Shape;398;p26"/>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9" name="Google Shape;399;p26"/>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0" name="Google Shape;400;p26"/>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1" name="Google Shape;401;p26"/>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2" name="Google Shape;402;p26"/>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03" name="Google Shape;403;p26"/>
          <p:cNvGrpSpPr/>
          <p:nvPr/>
        </p:nvGrpSpPr>
        <p:grpSpPr>
          <a:xfrm>
            <a:off x="8113713" y="6221413"/>
            <a:ext cx="554037" cy="552450"/>
            <a:chOff x="5129" y="3937"/>
            <a:chExt cx="349" cy="348"/>
          </a:xfrm>
        </p:grpSpPr>
        <p:sp>
          <p:nvSpPr>
            <p:cNvPr id="404" name="Google Shape;404;p26"/>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5" name="Google Shape;405;p26"/>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6" name="Google Shape;406;p26"/>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7" name="Google Shape;407;p26"/>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8" name="Google Shape;408;p26"/>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9" name="Google Shape;409;p26"/>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10" name="Google Shape;410;p26"/>
          <p:cNvGrpSpPr/>
          <p:nvPr/>
        </p:nvGrpSpPr>
        <p:grpSpPr>
          <a:xfrm>
            <a:off x="8089900" y="5821363"/>
            <a:ext cx="390525" cy="390525"/>
            <a:chOff x="5114" y="3685"/>
            <a:chExt cx="246" cy="246"/>
          </a:xfrm>
        </p:grpSpPr>
        <p:sp>
          <p:nvSpPr>
            <p:cNvPr id="411" name="Google Shape;411;p26"/>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2" name="Google Shape;412;p26"/>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3" name="Google Shape;413;p26"/>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4" name="Google Shape;414;p26"/>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5" name="Google Shape;415;p26"/>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6" name="Google Shape;416;p26"/>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17" name="Google Shape;417;p26"/>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descr="C:\Users\JAM\Desktop\1.PNG" id="418" name="Google Shape;418;p26"/>
          <p:cNvPicPr preferRelativeResize="0"/>
          <p:nvPr/>
        </p:nvPicPr>
        <p:blipFill rotWithShape="1">
          <a:blip r:embed="rId3">
            <a:alphaModFix/>
          </a:blip>
          <a:srcRect b="0" l="0" r="0" t="0"/>
          <a:stretch/>
        </p:blipFill>
        <p:spPr>
          <a:xfrm>
            <a:off x="990600" y="1217900"/>
            <a:ext cx="7620000" cy="49940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par>
                                <p:cTn fill="hold" nodeType="withEffect" presetClass="emph" presetID="8" presetSubtype="0">
                                  <p:stCondLst>
                                    <p:cond delay="0"/>
                                  </p:stCondLst>
                                  <p:childTnLst>
                                    <p:animRot by="-21600000">
                                      <p:cBhvr>
                                        <p:cTn dur="500" fill="hold"/>
                                        <p:tgtEl>
                                          <p:spTgt spid="396"/>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403"/>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410"/>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389"/>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7"/>
          <p:cNvSpPr txBox="1"/>
          <p:nvPr>
            <p:ph idx="1" type="body"/>
          </p:nvPr>
        </p:nvSpPr>
        <p:spPr>
          <a:xfrm>
            <a:off x="457200" y="556650"/>
            <a:ext cx="8229600" cy="55695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sz="3000"/>
              <a:t>Precision is then calculated by dividing the number of true positives by the sum of true positives and false positives:</a:t>
            </a:r>
            <a:endParaRPr sz="3000"/>
          </a:p>
          <a:p>
            <a:pPr indent="0" lvl="0" marL="0" rtl="0" algn="l">
              <a:spcBef>
                <a:spcPts val="360"/>
              </a:spcBef>
              <a:spcAft>
                <a:spcPts val="0"/>
              </a:spcAft>
              <a:buNone/>
            </a:pPr>
            <a:r>
              <a:t/>
            </a:r>
            <a:endParaRPr sz="3000"/>
          </a:p>
          <a:p>
            <a:pPr indent="0" lvl="0" marL="0" rtl="0" algn="l">
              <a:spcBef>
                <a:spcPts val="360"/>
              </a:spcBef>
              <a:spcAft>
                <a:spcPts val="0"/>
              </a:spcAft>
              <a:buNone/>
            </a:pPr>
            <a:r>
              <a:t/>
            </a:r>
            <a:endParaRPr sz="3000"/>
          </a:p>
          <a:p>
            <a:pPr indent="0" lvl="0" marL="0" rtl="0" algn="l">
              <a:spcBef>
                <a:spcPts val="360"/>
              </a:spcBef>
              <a:spcAft>
                <a:spcPts val="0"/>
              </a:spcAft>
              <a:buNone/>
            </a:pPr>
            <a:r>
              <a:t/>
            </a:r>
            <a:endParaRPr sz="3000"/>
          </a:p>
          <a:p>
            <a:pPr indent="0" lvl="0" marL="0" rtl="0" algn="l">
              <a:spcBef>
                <a:spcPts val="360"/>
              </a:spcBef>
              <a:spcAft>
                <a:spcPts val="0"/>
              </a:spcAft>
              <a:buNone/>
            </a:pPr>
            <a:r>
              <a:rPr lang="en-US" sz="3000"/>
              <a:t>Recall is then calculated by dividing the number of true positives by the sum of true positives and false negatives:</a:t>
            </a:r>
            <a:endParaRPr sz="3000"/>
          </a:p>
          <a:p>
            <a:pPr indent="0" lvl="0" marL="0" rtl="0" algn="l">
              <a:spcBef>
                <a:spcPts val="360"/>
              </a:spcBef>
              <a:spcAft>
                <a:spcPts val="0"/>
              </a:spcAft>
              <a:buNone/>
            </a:pPr>
            <a:r>
              <a:t/>
            </a:r>
            <a:endParaRPr sz="3000"/>
          </a:p>
        </p:txBody>
      </p:sp>
      <p:sp>
        <p:nvSpPr>
          <p:cNvPr id="425" name="Google Shape;425;p27"/>
          <p:cNvSpPr txBox="1"/>
          <p:nvPr>
            <p:ph idx="12" type="sldNum"/>
          </p:nvPr>
        </p:nvSpPr>
        <p:spPr>
          <a:xfrm>
            <a:off x="533400" y="6248400"/>
            <a:ext cx="2133600" cy="47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id="426" name="Google Shape;426;p27"/>
          <p:cNvPicPr preferRelativeResize="0"/>
          <p:nvPr/>
        </p:nvPicPr>
        <p:blipFill>
          <a:blip r:embed="rId3">
            <a:alphaModFix/>
          </a:blip>
          <a:stretch>
            <a:fillRect/>
          </a:stretch>
        </p:blipFill>
        <p:spPr>
          <a:xfrm>
            <a:off x="2667000" y="2249950"/>
            <a:ext cx="3010900" cy="1117908"/>
          </a:xfrm>
          <a:prstGeom prst="rect">
            <a:avLst/>
          </a:prstGeom>
          <a:noFill/>
          <a:ln>
            <a:noFill/>
          </a:ln>
        </p:spPr>
      </p:pic>
      <p:pic>
        <p:nvPicPr>
          <p:cNvPr id="427" name="Google Shape;427;p27"/>
          <p:cNvPicPr preferRelativeResize="0"/>
          <p:nvPr/>
        </p:nvPicPr>
        <p:blipFill>
          <a:blip r:embed="rId4">
            <a:alphaModFix/>
          </a:blip>
          <a:stretch>
            <a:fillRect/>
          </a:stretch>
        </p:blipFill>
        <p:spPr>
          <a:xfrm>
            <a:off x="2783275" y="5165775"/>
            <a:ext cx="2789400" cy="116833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8"/>
          <p:cNvSpPr txBox="1"/>
          <p:nvPr>
            <p:ph type="title"/>
          </p:nvPr>
        </p:nvSpPr>
        <p:spPr>
          <a:xfrm>
            <a:off x="734775" y="89075"/>
            <a:ext cx="7941000" cy="576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dk1"/>
                </a:solidFill>
              </a:rPr>
              <a:t>Precision and Recall Trade-offs</a:t>
            </a:r>
            <a:endParaRPr>
              <a:solidFill>
                <a:schemeClr val="dk1"/>
              </a:solidFill>
            </a:endParaRPr>
          </a:p>
        </p:txBody>
      </p:sp>
      <p:sp>
        <p:nvSpPr>
          <p:cNvPr id="434" name="Google Shape;434;p28"/>
          <p:cNvSpPr txBox="1"/>
          <p:nvPr>
            <p:ph idx="1" type="body"/>
          </p:nvPr>
        </p:nvSpPr>
        <p:spPr>
          <a:xfrm>
            <a:off x="457200" y="828025"/>
            <a:ext cx="8449200" cy="54204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100"/>
              <a:buFont typeface="Arial"/>
              <a:buNone/>
            </a:pPr>
            <a:r>
              <a:rPr lang="en-US" sz="2700"/>
              <a:t>Scenario 1: Email Spam Classifier</a:t>
            </a:r>
            <a:endParaRPr sz="2700"/>
          </a:p>
          <a:p>
            <a:pPr indent="-400050" lvl="0" marL="457200" rtl="0" algn="l">
              <a:spcBef>
                <a:spcPts val="360"/>
              </a:spcBef>
              <a:spcAft>
                <a:spcPts val="0"/>
              </a:spcAft>
              <a:buSzPts val="2700"/>
              <a:buChar char="●"/>
            </a:pPr>
            <a:r>
              <a:rPr lang="en-US" sz="2700"/>
              <a:t>Precision matters more: Minimizing false positives is critical to avoid classifying important emails as spam.</a:t>
            </a:r>
            <a:endParaRPr sz="2700"/>
          </a:p>
          <a:p>
            <a:pPr indent="0" lvl="0" marL="0" rtl="0" algn="l">
              <a:spcBef>
                <a:spcPts val="360"/>
              </a:spcBef>
              <a:spcAft>
                <a:spcPts val="0"/>
              </a:spcAft>
              <a:buClr>
                <a:schemeClr val="dk1"/>
              </a:buClr>
              <a:buSzPts val="1100"/>
              <a:buFont typeface="Arial"/>
              <a:buNone/>
            </a:pPr>
            <a:r>
              <a:rPr lang="en-US" sz="2700"/>
              <a:t>Scenario 2: Cancer Detection</a:t>
            </a:r>
            <a:endParaRPr sz="2700"/>
          </a:p>
          <a:p>
            <a:pPr indent="-400050" lvl="0" marL="457200" rtl="0" algn="l">
              <a:spcBef>
                <a:spcPts val="360"/>
              </a:spcBef>
              <a:spcAft>
                <a:spcPts val="0"/>
              </a:spcAft>
              <a:buSzPts val="2700"/>
              <a:buChar char="●"/>
            </a:pPr>
            <a:r>
              <a:rPr lang="en-US" sz="2700"/>
              <a:t>Recall matters more: Minimizing false negatives ensures that no cases of cancer go undetected.</a:t>
            </a:r>
            <a:endParaRPr sz="2700"/>
          </a:p>
          <a:p>
            <a:pPr indent="0" lvl="0" marL="0" rtl="0" algn="l">
              <a:spcBef>
                <a:spcPts val="360"/>
              </a:spcBef>
              <a:spcAft>
                <a:spcPts val="0"/>
              </a:spcAft>
              <a:buNone/>
            </a:pPr>
            <a:r>
              <a:rPr lang="en-US" sz="2700"/>
              <a:t>Scenario 3: </a:t>
            </a:r>
            <a:endParaRPr sz="2700"/>
          </a:p>
          <a:p>
            <a:pPr indent="-495300" lvl="0" marL="457200" rtl="0" algn="l">
              <a:spcBef>
                <a:spcPts val="360"/>
              </a:spcBef>
              <a:spcAft>
                <a:spcPts val="0"/>
              </a:spcAft>
              <a:buSzPts val="4200"/>
              <a:buChar char="•"/>
            </a:pPr>
            <a:r>
              <a:rPr lang="en-US" sz="2700"/>
              <a:t>weapon-detecting measures at airports to capture every possible positive, as a false alarm (a false positive) would be much more desirable than missing a threat (a false negative).</a:t>
            </a:r>
            <a:endParaRPr sz="2700"/>
          </a:p>
        </p:txBody>
      </p:sp>
      <p:sp>
        <p:nvSpPr>
          <p:cNvPr id="435" name="Google Shape;435;p28"/>
          <p:cNvSpPr txBox="1"/>
          <p:nvPr>
            <p:ph idx="12" type="sldNum"/>
          </p:nvPr>
        </p:nvSpPr>
        <p:spPr>
          <a:xfrm>
            <a:off x="533400" y="6248400"/>
            <a:ext cx="2133600" cy="47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grpSp>
        <p:nvGrpSpPr>
          <p:cNvPr id="436" name="Google Shape;436;p28"/>
          <p:cNvGrpSpPr/>
          <p:nvPr/>
        </p:nvGrpSpPr>
        <p:grpSpPr>
          <a:xfrm>
            <a:off x="153950" y="225525"/>
            <a:ext cx="303246" cy="303397"/>
            <a:chOff x="703" y="300"/>
            <a:chExt cx="181" cy="181"/>
          </a:xfrm>
        </p:grpSpPr>
        <p:sp>
          <p:nvSpPr>
            <p:cNvPr id="437" name="Google Shape;437;p28"/>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8" name="Google Shape;438;p28"/>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9" name="Google Shape;439;p28"/>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0" name="Google Shape;440;p28"/>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1" name="Google Shape;441;p28"/>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2" name="Google Shape;442;p28"/>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9"/>
          <p:cNvSpPr txBox="1"/>
          <p:nvPr>
            <p:ph type="title"/>
          </p:nvPr>
        </p:nvSpPr>
        <p:spPr>
          <a:xfrm>
            <a:off x="734775" y="89075"/>
            <a:ext cx="7941000" cy="576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dk1"/>
                </a:solidFill>
              </a:rPr>
              <a:t>Precision and Recall Trade-offs</a:t>
            </a:r>
            <a:endParaRPr>
              <a:solidFill>
                <a:schemeClr val="dk1"/>
              </a:solidFill>
            </a:endParaRPr>
          </a:p>
        </p:txBody>
      </p:sp>
      <p:sp>
        <p:nvSpPr>
          <p:cNvPr id="449" name="Google Shape;449;p29"/>
          <p:cNvSpPr txBox="1"/>
          <p:nvPr>
            <p:ph idx="1" type="body"/>
          </p:nvPr>
        </p:nvSpPr>
        <p:spPr>
          <a:xfrm>
            <a:off x="457200" y="665375"/>
            <a:ext cx="8449200" cy="55830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sz="2500"/>
          </a:p>
          <a:p>
            <a:pPr indent="-387350" lvl="0" marL="457200" rtl="0" algn="l">
              <a:spcBef>
                <a:spcPts val="360"/>
              </a:spcBef>
              <a:spcAft>
                <a:spcPts val="0"/>
              </a:spcAft>
              <a:buSzPts val="2500"/>
              <a:buChar char="•"/>
            </a:pPr>
            <a:r>
              <a:rPr lang="en-US" sz="2500"/>
              <a:t>A trade-off exists when making improvements to precision and recall, as changes that improve one measure typically result in a decrease in the other.</a:t>
            </a:r>
            <a:endParaRPr sz="2500"/>
          </a:p>
          <a:p>
            <a:pPr indent="-387350" lvl="0" marL="457200" rtl="0" algn="l">
              <a:spcBef>
                <a:spcPts val="0"/>
              </a:spcBef>
              <a:spcAft>
                <a:spcPts val="0"/>
              </a:spcAft>
              <a:buSzPts val="2500"/>
              <a:buChar char="•"/>
            </a:pPr>
            <a:r>
              <a:rPr lang="en-US" sz="2500"/>
              <a:t> For example, lowering the threshold for positive identifications would improve recall by making it less likely for the model to miss positive cases; however, it would also lead to a greater chance of false positives, causing a decrease in precision. </a:t>
            </a:r>
            <a:endParaRPr sz="2500"/>
          </a:p>
          <a:p>
            <a:pPr indent="-387350" lvl="0" marL="457200" rtl="0" algn="l">
              <a:spcBef>
                <a:spcPts val="0"/>
              </a:spcBef>
              <a:spcAft>
                <a:spcPts val="0"/>
              </a:spcAft>
              <a:buSzPts val="2500"/>
              <a:buChar char="•"/>
            </a:pPr>
            <a:r>
              <a:rPr lang="en-US" sz="2500"/>
              <a:t>Increasing the identification threshold would have the inverse effect: the model’s precision would improve, but its recall would decrease through the higher likelihood of missing positive observations.</a:t>
            </a:r>
            <a:endParaRPr sz="2500"/>
          </a:p>
          <a:p>
            <a:pPr indent="-387350" lvl="0" marL="457200" rtl="0" algn="l">
              <a:spcBef>
                <a:spcPts val="0"/>
              </a:spcBef>
              <a:spcAft>
                <a:spcPts val="0"/>
              </a:spcAft>
              <a:buSzPts val="2500"/>
              <a:buChar char="•"/>
            </a:pPr>
            <a:r>
              <a:rPr lang="en-US" sz="2500"/>
              <a:t>The F1 score balances this trade-off.</a:t>
            </a:r>
            <a:endParaRPr sz="2500"/>
          </a:p>
          <a:p>
            <a:pPr indent="0" lvl="0" marL="0" rtl="0" algn="l">
              <a:spcBef>
                <a:spcPts val="360"/>
              </a:spcBef>
              <a:spcAft>
                <a:spcPts val="0"/>
              </a:spcAft>
              <a:buNone/>
            </a:pPr>
            <a:r>
              <a:t/>
            </a:r>
            <a:endParaRPr sz="2400"/>
          </a:p>
        </p:txBody>
      </p:sp>
      <p:sp>
        <p:nvSpPr>
          <p:cNvPr id="450" name="Google Shape;450;p29"/>
          <p:cNvSpPr txBox="1"/>
          <p:nvPr>
            <p:ph idx="12" type="sldNum"/>
          </p:nvPr>
        </p:nvSpPr>
        <p:spPr>
          <a:xfrm>
            <a:off x="533400" y="6248400"/>
            <a:ext cx="2133600" cy="47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grpSp>
        <p:nvGrpSpPr>
          <p:cNvPr id="451" name="Google Shape;451;p29"/>
          <p:cNvGrpSpPr/>
          <p:nvPr/>
        </p:nvGrpSpPr>
        <p:grpSpPr>
          <a:xfrm>
            <a:off x="153950" y="225525"/>
            <a:ext cx="303246" cy="303397"/>
            <a:chOff x="703" y="300"/>
            <a:chExt cx="181" cy="181"/>
          </a:xfrm>
        </p:grpSpPr>
        <p:sp>
          <p:nvSpPr>
            <p:cNvPr id="452" name="Google Shape;452;p29"/>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3" name="Google Shape;453;p29"/>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4" name="Google Shape;454;p29"/>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5" name="Google Shape;455;p29"/>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6" name="Google Shape;456;p29"/>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7" name="Google Shape;457;p29"/>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0"/>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b="1" lang="en-US" sz="2500">
                <a:solidFill>
                  <a:schemeClr val="dk1"/>
                </a:solidFill>
              </a:rPr>
              <a:t>Multi Class Confusion Matrix </a:t>
            </a:r>
            <a:endParaRPr sz="2500">
              <a:solidFill>
                <a:schemeClr val="dk1"/>
              </a:solidFill>
            </a:endParaRPr>
          </a:p>
        </p:txBody>
      </p:sp>
      <p:sp>
        <p:nvSpPr>
          <p:cNvPr id="464" name="Google Shape;464;p30"/>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640"/>
              </a:spcBef>
              <a:spcAft>
                <a:spcPts val="0"/>
              </a:spcAft>
              <a:buSzPts val="3200"/>
              <a:buNone/>
            </a:pPr>
            <a:r>
              <a:t/>
            </a:r>
            <a:endParaRPr/>
          </a:p>
        </p:txBody>
      </p:sp>
      <p:sp>
        <p:nvSpPr>
          <p:cNvPr id="465" name="Google Shape;465;p30"/>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sz="1400"/>
              <a:t>‹#›</a:t>
            </a:fld>
            <a:endParaRPr sz="1400"/>
          </a:p>
        </p:txBody>
      </p:sp>
      <p:pic>
        <p:nvPicPr>
          <p:cNvPr id="466" name="Google Shape;466;p30"/>
          <p:cNvPicPr preferRelativeResize="0"/>
          <p:nvPr/>
        </p:nvPicPr>
        <p:blipFill rotWithShape="1">
          <a:blip r:embed="rId3">
            <a:alphaModFix/>
          </a:blip>
          <a:srcRect b="0" l="0" r="0" t="0"/>
          <a:stretch/>
        </p:blipFill>
        <p:spPr>
          <a:xfrm>
            <a:off x="3645250" y="348275"/>
            <a:ext cx="5111700" cy="4794800"/>
          </a:xfrm>
          <a:prstGeom prst="rect">
            <a:avLst/>
          </a:prstGeom>
          <a:noFill/>
          <a:ln>
            <a:noFill/>
          </a:ln>
        </p:spPr>
      </p:pic>
      <p:sp>
        <p:nvSpPr>
          <p:cNvPr id="467" name="Google Shape;467;p30"/>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80"/>
              </a:spcBef>
              <a:spcAft>
                <a:spcPts val="0"/>
              </a:spcAft>
              <a:buSzPts val="1400"/>
              <a:buNone/>
            </a:pPr>
            <a:r>
              <a:rPr b="1" lang="en-US" sz="1600"/>
              <a:t>For class Setosa</a:t>
            </a:r>
            <a:endParaRPr b="1" sz="1600"/>
          </a:p>
          <a:p>
            <a:pPr indent="0" lvl="0" marL="0" rtl="0" algn="l">
              <a:lnSpc>
                <a:spcPct val="100000"/>
              </a:lnSpc>
              <a:spcBef>
                <a:spcPts val="280"/>
              </a:spcBef>
              <a:spcAft>
                <a:spcPts val="0"/>
              </a:spcAft>
              <a:buSzPts val="1400"/>
              <a:buNone/>
            </a:pPr>
            <a:r>
              <a:rPr lang="en-US" sz="1600"/>
              <a:t>TP: The actual value and predicted value should be the same. So concerning Setosa class, the value of cell 1 is the TP value.</a:t>
            </a:r>
            <a:endParaRPr sz="1600"/>
          </a:p>
          <a:p>
            <a:pPr indent="0" lvl="0" marL="0" rtl="0" algn="l">
              <a:lnSpc>
                <a:spcPct val="100000"/>
              </a:lnSpc>
              <a:spcBef>
                <a:spcPts val="280"/>
              </a:spcBef>
              <a:spcAft>
                <a:spcPts val="0"/>
              </a:spcAft>
              <a:buClr>
                <a:schemeClr val="dk1"/>
              </a:buClr>
              <a:buSzPts val="1100"/>
              <a:buFont typeface="Arial"/>
              <a:buNone/>
            </a:pPr>
            <a:r>
              <a:rPr lang="en-US" sz="1600"/>
              <a:t>TP=16</a:t>
            </a:r>
            <a:endParaRPr sz="1600"/>
          </a:p>
          <a:p>
            <a:pPr indent="0" lvl="0" marL="0" rtl="0" algn="l">
              <a:lnSpc>
                <a:spcPct val="100000"/>
              </a:lnSpc>
              <a:spcBef>
                <a:spcPts val="280"/>
              </a:spcBef>
              <a:spcAft>
                <a:spcPts val="0"/>
              </a:spcAft>
              <a:buClr>
                <a:schemeClr val="dk1"/>
              </a:buClr>
              <a:buSzPts val="1100"/>
              <a:buFont typeface="Arial"/>
              <a:buNone/>
            </a:pPr>
            <a:r>
              <a:rPr lang="en-US" sz="1600"/>
              <a:t>FN = (cell 2 + cell3)</a:t>
            </a:r>
            <a:endParaRPr sz="1600"/>
          </a:p>
          <a:p>
            <a:pPr indent="0" lvl="0" marL="0" rtl="0" algn="l">
              <a:lnSpc>
                <a:spcPct val="100000"/>
              </a:lnSpc>
              <a:spcBef>
                <a:spcPts val="280"/>
              </a:spcBef>
              <a:spcAft>
                <a:spcPts val="0"/>
              </a:spcAft>
              <a:buClr>
                <a:schemeClr val="dk1"/>
              </a:buClr>
              <a:buSzPts val="1100"/>
              <a:buFont typeface="Arial"/>
              <a:buNone/>
            </a:pPr>
            <a:r>
              <a:rPr lang="en-US" sz="1600"/>
              <a:t>= (0 + 0)</a:t>
            </a:r>
            <a:endParaRPr sz="1600"/>
          </a:p>
          <a:p>
            <a:pPr indent="0" lvl="0" marL="0" rtl="0" algn="l">
              <a:lnSpc>
                <a:spcPct val="100000"/>
              </a:lnSpc>
              <a:spcBef>
                <a:spcPts val="280"/>
              </a:spcBef>
              <a:spcAft>
                <a:spcPts val="0"/>
              </a:spcAft>
              <a:buClr>
                <a:schemeClr val="dk1"/>
              </a:buClr>
              <a:buSzPts val="1100"/>
              <a:buFont typeface="Arial"/>
              <a:buNone/>
            </a:pPr>
            <a:r>
              <a:rPr lang="en-US" sz="1600"/>
              <a:t>= 0</a:t>
            </a:r>
            <a:endParaRPr sz="1600"/>
          </a:p>
          <a:p>
            <a:pPr indent="0" lvl="0" marL="0" rtl="0" algn="l">
              <a:lnSpc>
                <a:spcPct val="100000"/>
              </a:lnSpc>
              <a:spcBef>
                <a:spcPts val="280"/>
              </a:spcBef>
              <a:spcAft>
                <a:spcPts val="0"/>
              </a:spcAft>
              <a:buClr>
                <a:schemeClr val="dk1"/>
              </a:buClr>
              <a:buSzPts val="1100"/>
              <a:buFont typeface="Arial"/>
              <a:buNone/>
            </a:pPr>
            <a:r>
              <a:rPr lang="en-US" sz="1600"/>
              <a:t>FP = (cell 4 + cell 7)</a:t>
            </a:r>
            <a:endParaRPr sz="1600"/>
          </a:p>
          <a:p>
            <a:pPr indent="0" lvl="0" marL="0" rtl="0" algn="l">
              <a:lnSpc>
                <a:spcPct val="100000"/>
              </a:lnSpc>
              <a:spcBef>
                <a:spcPts val="280"/>
              </a:spcBef>
              <a:spcAft>
                <a:spcPts val="0"/>
              </a:spcAft>
              <a:buClr>
                <a:schemeClr val="dk1"/>
              </a:buClr>
              <a:buSzPts val="1100"/>
              <a:buFont typeface="Arial"/>
              <a:buNone/>
            </a:pPr>
            <a:r>
              <a:rPr lang="en-US" sz="1600"/>
              <a:t>= (0 + 0)</a:t>
            </a:r>
            <a:endParaRPr sz="1600"/>
          </a:p>
          <a:p>
            <a:pPr indent="0" lvl="0" marL="0" rtl="0" algn="l">
              <a:lnSpc>
                <a:spcPct val="100000"/>
              </a:lnSpc>
              <a:spcBef>
                <a:spcPts val="280"/>
              </a:spcBef>
              <a:spcAft>
                <a:spcPts val="0"/>
              </a:spcAft>
              <a:buClr>
                <a:schemeClr val="dk1"/>
              </a:buClr>
              <a:buSzPts val="1100"/>
              <a:buFont typeface="Arial"/>
              <a:buNone/>
            </a:pPr>
            <a:r>
              <a:rPr lang="en-US" sz="1600"/>
              <a:t>= 0</a:t>
            </a:r>
            <a:endParaRPr sz="1600"/>
          </a:p>
          <a:p>
            <a:pPr indent="0" lvl="0" marL="0" rtl="0" algn="l">
              <a:lnSpc>
                <a:spcPct val="100000"/>
              </a:lnSpc>
              <a:spcBef>
                <a:spcPts val="280"/>
              </a:spcBef>
              <a:spcAft>
                <a:spcPts val="0"/>
              </a:spcAft>
              <a:buClr>
                <a:schemeClr val="dk1"/>
              </a:buClr>
              <a:buSzPts val="1100"/>
              <a:buFont typeface="Arial"/>
              <a:buNone/>
            </a:pPr>
            <a:r>
              <a:rPr lang="en-US" sz="1600"/>
              <a:t>TN = (cell 5 + cell 6 + cell 8 + cell 9)</a:t>
            </a:r>
            <a:endParaRPr sz="1600"/>
          </a:p>
          <a:p>
            <a:pPr indent="0" lvl="0" marL="0" rtl="0" algn="l">
              <a:lnSpc>
                <a:spcPct val="100000"/>
              </a:lnSpc>
              <a:spcBef>
                <a:spcPts val="280"/>
              </a:spcBef>
              <a:spcAft>
                <a:spcPts val="0"/>
              </a:spcAft>
              <a:buClr>
                <a:schemeClr val="dk1"/>
              </a:buClr>
              <a:buSzPts val="1100"/>
              <a:buFont typeface="Arial"/>
              <a:buNone/>
            </a:pPr>
            <a:r>
              <a:rPr lang="en-US" sz="1600"/>
              <a:t>= 17 + 1 +0 + 11</a:t>
            </a:r>
            <a:endParaRPr sz="1600"/>
          </a:p>
          <a:p>
            <a:pPr indent="0" lvl="0" marL="0" rtl="0" algn="l">
              <a:lnSpc>
                <a:spcPct val="100000"/>
              </a:lnSpc>
              <a:spcBef>
                <a:spcPts val="280"/>
              </a:spcBef>
              <a:spcAft>
                <a:spcPts val="0"/>
              </a:spcAft>
              <a:buClr>
                <a:schemeClr val="dk1"/>
              </a:buClr>
              <a:buSzPts val="1100"/>
              <a:buFont typeface="Arial"/>
              <a:buNone/>
            </a:pPr>
            <a:r>
              <a:rPr lang="en-US" sz="1600"/>
              <a:t>= 29</a:t>
            </a:r>
            <a:endParaRPr sz="950">
              <a:solidFill>
                <a:srgbClr val="222222"/>
              </a:solidFill>
              <a:highlight>
                <a:srgbClr val="FFFFFF"/>
              </a:highlight>
            </a:endParaRPr>
          </a:p>
          <a:p>
            <a:pPr indent="0" lvl="0" marL="0" rtl="0" algn="l">
              <a:lnSpc>
                <a:spcPct val="100000"/>
              </a:lnSpc>
              <a:spcBef>
                <a:spcPts val="280"/>
              </a:spcBef>
              <a:spcAft>
                <a:spcPts val="0"/>
              </a:spcAft>
              <a:buSzPts val="14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1"/>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500">
                <a:solidFill>
                  <a:schemeClr val="dk1"/>
                </a:solidFill>
              </a:rPr>
              <a:t>Multi Class Confusion Matrix </a:t>
            </a:r>
            <a:endParaRPr sz="2500">
              <a:solidFill>
                <a:schemeClr val="dk1"/>
              </a:solidFill>
            </a:endParaRPr>
          </a:p>
        </p:txBody>
      </p:sp>
      <p:sp>
        <p:nvSpPr>
          <p:cNvPr id="474" name="Google Shape;474;p31"/>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640"/>
              </a:spcBef>
              <a:spcAft>
                <a:spcPts val="0"/>
              </a:spcAft>
              <a:buSzPts val="3200"/>
              <a:buNone/>
            </a:pPr>
            <a:r>
              <a:t/>
            </a:r>
            <a:endParaRPr/>
          </a:p>
        </p:txBody>
      </p:sp>
      <p:sp>
        <p:nvSpPr>
          <p:cNvPr id="475" name="Google Shape;475;p31"/>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400"/>
              <a:buFont typeface="Arial"/>
              <a:buNone/>
            </a:pPr>
            <a:fld id="{00000000-1234-1234-1234-123412341234}" type="slidenum">
              <a:rPr lang="en-US"/>
              <a:t>‹#›</a:t>
            </a:fld>
            <a:endParaRPr/>
          </a:p>
        </p:txBody>
      </p:sp>
      <p:pic>
        <p:nvPicPr>
          <p:cNvPr id="476" name="Google Shape;476;p31"/>
          <p:cNvPicPr preferRelativeResize="0"/>
          <p:nvPr/>
        </p:nvPicPr>
        <p:blipFill rotWithShape="1">
          <a:blip r:embed="rId3">
            <a:alphaModFix/>
          </a:blip>
          <a:srcRect b="0" l="0" r="0" t="0"/>
          <a:stretch/>
        </p:blipFill>
        <p:spPr>
          <a:xfrm>
            <a:off x="3645250" y="348275"/>
            <a:ext cx="5111700" cy="4794800"/>
          </a:xfrm>
          <a:prstGeom prst="rect">
            <a:avLst/>
          </a:prstGeom>
          <a:noFill/>
          <a:ln>
            <a:noFill/>
          </a:ln>
        </p:spPr>
      </p:pic>
      <p:sp>
        <p:nvSpPr>
          <p:cNvPr id="477" name="Google Shape;477;p31"/>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80"/>
              </a:spcBef>
              <a:spcAft>
                <a:spcPts val="0"/>
              </a:spcAft>
              <a:buSzPts val="1400"/>
              <a:buNone/>
            </a:pPr>
            <a:r>
              <a:rPr lang="en-US"/>
              <a:t>Similarly, for the Versicolor class, the values/metrics are calculated as below:</a:t>
            </a:r>
            <a:endParaRPr/>
          </a:p>
          <a:p>
            <a:pPr indent="0" lvl="0" marL="0" rtl="0" algn="l">
              <a:lnSpc>
                <a:spcPct val="100000"/>
              </a:lnSpc>
              <a:spcBef>
                <a:spcPts val="280"/>
              </a:spcBef>
              <a:spcAft>
                <a:spcPts val="0"/>
              </a:spcAft>
              <a:buSzPts val="1400"/>
              <a:buNone/>
            </a:pPr>
            <a:r>
              <a:rPr lang="en-US"/>
              <a:t>TP: 17 (cell 5)</a:t>
            </a:r>
            <a:endParaRPr/>
          </a:p>
          <a:p>
            <a:pPr indent="0" lvl="0" marL="0" rtl="0" algn="l">
              <a:lnSpc>
                <a:spcPct val="100000"/>
              </a:lnSpc>
              <a:spcBef>
                <a:spcPts val="280"/>
              </a:spcBef>
              <a:spcAft>
                <a:spcPts val="0"/>
              </a:spcAft>
              <a:buSzPts val="1400"/>
              <a:buNone/>
            </a:pPr>
            <a:r>
              <a:rPr lang="en-US"/>
              <a:t>FN : 0 + 1 = 1 (cell 4 +cell 6)</a:t>
            </a:r>
            <a:endParaRPr/>
          </a:p>
          <a:p>
            <a:pPr indent="0" lvl="0" marL="0" rtl="0" algn="l">
              <a:lnSpc>
                <a:spcPct val="100000"/>
              </a:lnSpc>
              <a:spcBef>
                <a:spcPts val="280"/>
              </a:spcBef>
              <a:spcAft>
                <a:spcPts val="0"/>
              </a:spcAft>
              <a:buSzPts val="1400"/>
              <a:buNone/>
            </a:pPr>
            <a:r>
              <a:rPr lang="en-US"/>
              <a:t>FP : 0 + 0 = 0 (cell 2 + cell 8)</a:t>
            </a:r>
            <a:endParaRPr/>
          </a:p>
          <a:p>
            <a:pPr indent="0" lvl="0" marL="0" rtl="0" algn="l">
              <a:lnSpc>
                <a:spcPct val="100000"/>
              </a:lnSpc>
              <a:spcBef>
                <a:spcPts val="280"/>
              </a:spcBef>
              <a:spcAft>
                <a:spcPts val="0"/>
              </a:spcAft>
              <a:buSzPts val="1400"/>
              <a:buNone/>
            </a:pPr>
            <a:r>
              <a:rPr lang="en-US"/>
              <a:t>TN : 16 +0 +0 + 11 =27 (cell 1 + cell 3 + cell 7 + cell 9).</a:t>
            </a:r>
            <a:endParaRPr/>
          </a:p>
          <a:p>
            <a:pPr indent="0" lvl="0" marL="0" rtl="0" algn="l">
              <a:lnSpc>
                <a:spcPct val="100000"/>
              </a:lnSpc>
              <a:spcBef>
                <a:spcPts val="280"/>
              </a:spcBef>
              <a:spcAft>
                <a:spcPts val="0"/>
              </a:spcAft>
              <a:buSzPts val="1400"/>
              <a:buNone/>
            </a:pPr>
            <a:r>
              <a:t/>
            </a:r>
            <a:endParaRPr/>
          </a:p>
          <a:p>
            <a:pPr indent="0" lvl="0" marL="0" rtl="0" algn="l">
              <a:lnSpc>
                <a:spcPct val="100000"/>
              </a:lnSpc>
              <a:spcBef>
                <a:spcPts val="280"/>
              </a:spcBef>
              <a:spcAft>
                <a:spcPts val="0"/>
              </a:spcAft>
              <a:buSzPts val="1400"/>
              <a:buNone/>
            </a:pPr>
            <a:r>
              <a:rPr lang="en-US"/>
              <a:t>For the Virginica class,</a:t>
            </a:r>
            <a:endParaRPr/>
          </a:p>
          <a:p>
            <a:pPr indent="0" lvl="0" marL="0" rtl="0" algn="l">
              <a:lnSpc>
                <a:spcPct val="100000"/>
              </a:lnSpc>
              <a:spcBef>
                <a:spcPts val="280"/>
              </a:spcBef>
              <a:spcAft>
                <a:spcPts val="0"/>
              </a:spcAft>
              <a:buSzPts val="1400"/>
              <a:buNone/>
            </a:pPr>
            <a:r>
              <a:rPr lang="en-US"/>
              <a:t>TP: 11</a:t>
            </a:r>
            <a:endParaRPr/>
          </a:p>
          <a:p>
            <a:pPr indent="0" lvl="0" marL="0" rtl="0" algn="l">
              <a:lnSpc>
                <a:spcPct val="100000"/>
              </a:lnSpc>
              <a:spcBef>
                <a:spcPts val="280"/>
              </a:spcBef>
              <a:spcAft>
                <a:spcPts val="0"/>
              </a:spcAft>
              <a:buSzPts val="1400"/>
              <a:buNone/>
            </a:pPr>
            <a:r>
              <a:rPr lang="en-US"/>
              <a:t>FN: 0 + 0 = 0 (cell 7+ cell 8)</a:t>
            </a:r>
            <a:endParaRPr/>
          </a:p>
          <a:p>
            <a:pPr indent="0" lvl="0" marL="0" rtl="0" algn="l">
              <a:lnSpc>
                <a:spcPct val="100000"/>
              </a:lnSpc>
              <a:spcBef>
                <a:spcPts val="280"/>
              </a:spcBef>
              <a:spcAft>
                <a:spcPts val="0"/>
              </a:spcAft>
              <a:buSzPts val="1400"/>
              <a:buNone/>
            </a:pPr>
            <a:r>
              <a:rPr lang="en-US"/>
              <a:t>FP: 0 +1 = 1 (cell 3 + cell 6)</a:t>
            </a:r>
            <a:endParaRPr/>
          </a:p>
          <a:p>
            <a:pPr indent="0" lvl="0" marL="0" rtl="0" algn="l">
              <a:lnSpc>
                <a:spcPct val="100000"/>
              </a:lnSpc>
              <a:spcBef>
                <a:spcPts val="280"/>
              </a:spcBef>
              <a:spcAft>
                <a:spcPts val="0"/>
              </a:spcAft>
              <a:buSzPts val="1400"/>
              <a:buNone/>
            </a:pPr>
            <a:r>
              <a:rPr lang="en-US"/>
              <a:t>TN: 16+0+0+17 = 33 (cell 1 + cell 2 + cell 4 + cell 5).</a:t>
            </a:r>
            <a:endParaRPr/>
          </a:p>
          <a:p>
            <a:pPr indent="0" lvl="0" marL="0" rtl="0" algn="l">
              <a:lnSpc>
                <a:spcPct val="100000"/>
              </a:lnSpc>
              <a:spcBef>
                <a:spcPts val="280"/>
              </a:spcBef>
              <a:spcAft>
                <a:spcPts val="0"/>
              </a:spcAft>
              <a:buSzPts val="1400"/>
              <a:buNone/>
            </a:pPr>
            <a:r>
              <a:t/>
            </a:r>
            <a:endParaRPr/>
          </a:p>
          <a:p>
            <a:pPr indent="0" lvl="0" marL="0" rtl="0" algn="l">
              <a:lnSpc>
                <a:spcPct val="100000"/>
              </a:lnSpc>
              <a:spcBef>
                <a:spcPts val="280"/>
              </a:spcBef>
              <a:spcAft>
                <a:spcPts val="0"/>
              </a:spcAft>
              <a:buSzPts val="1400"/>
              <a:buNone/>
            </a:pPr>
            <a:r>
              <a:rPr lang="en-US"/>
              <a:t>Total sample: TP + FN + FP+TN = 45</a:t>
            </a:r>
            <a:endParaRPr/>
          </a:p>
          <a:p>
            <a:pPr indent="0" lvl="0" marL="0" rtl="0" algn="l">
              <a:lnSpc>
                <a:spcPct val="100000"/>
              </a:lnSpc>
              <a:spcBef>
                <a:spcPts val="280"/>
              </a:spcBef>
              <a:spcAft>
                <a:spcPts val="0"/>
              </a:spcAft>
              <a:buSzPts val="1400"/>
              <a:buNone/>
            </a:pPr>
            <a:r>
              <a:t/>
            </a:r>
            <a:endParaRPr/>
          </a:p>
          <a:p>
            <a:pPr indent="0" lvl="0" marL="0" rtl="0" algn="l">
              <a:lnSpc>
                <a:spcPct val="100000"/>
              </a:lnSpc>
              <a:spcBef>
                <a:spcPts val="280"/>
              </a:spcBef>
              <a:spcAft>
                <a:spcPts val="0"/>
              </a:spcAft>
              <a:buSzPts val="1400"/>
              <a:buNone/>
            </a:pPr>
            <a:r>
              <a:t/>
            </a:r>
            <a:endParaRPr/>
          </a:p>
          <a:p>
            <a:pPr indent="0" lvl="0" marL="0" rtl="0" algn="l">
              <a:lnSpc>
                <a:spcPct val="100000"/>
              </a:lnSpc>
              <a:spcBef>
                <a:spcPts val="280"/>
              </a:spcBef>
              <a:spcAft>
                <a:spcPts val="0"/>
              </a:spcAft>
              <a:buSzPts val="1400"/>
              <a:buNone/>
            </a:pPr>
            <a:r>
              <a:t/>
            </a:r>
            <a:endParaRPr/>
          </a:p>
          <a:p>
            <a:pPr indent="0" lvl="0" marL="0" rtl="0" algn="l">
              <a:lnSpc>
                <a:spcPct val="100000"/>
              </a:lnSpc>
              <a:spcBef>
                <a:spcPts val="280"/>
              </a:spcBef>
              <a:spcAft>
                <a:spcPts val="0"/>
              </a:spcAft>
              <a:buSzPts val="1400"/>
              <a:buNone/>
            </a:pPr>
            <a:r>
              <a:t/>
            </a:r>
            <a:endParaRPr/>
          </a:p>
          <a:p>
            <a:pPr indent="0" lvl="0" marL="0" rtl="0" algn="l">
              <a:lnSpc>
                <a:spcPct val="100000"/>
              </a:lnSpc>
              <a:spcBef>
                <a:spcPts val="280"/>
              </a:spcBef>
              <a:spcAft>
                <a:spcPts val="0"/>
              </a:spcAft>
              <a:buSzPts val="1400"/>
              <a:buNone/>
            </a:pPr>
            <a:r>
              <a:t/>
            </a:r>
            <a:endParaRPr b="1" sz="1600"/>
          </a:p>
          <a:p>
            <a:pPr indent="0" lvl="0" marL="0" rtl="0" algn="l">
              <a:lnSpc>
                <a:spcPct val="100000"/>
              </a:lnSpc>
              <a:spcBef>
                <a:spcPts val="280"/>
              </a:spcBef>
              <a:spcAft>
                <a:spcPts val="0"/>
              </a:spcAft>
              <a:buSzPts val="14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32"/>
          <p:cNvSpPr txBox="1"/>
          <p:nvPr>
            <p:ph type="title"/>
          </p:nvPr>
        </p:nvSpPr>
        <p:spPr>
          <a:xfrm>
            <a:off x="130350" y="0"/>
            <a:ext cx="3673200" cy="1312800"/>
          </a:xfrm>
          <a:prstGeom prst="rect">
            <a:avLst/>
          </a:prstGeom>
          <a:solidFill>
            <a:schemeClr val="lt1"/>
          </a:solidFill>
          <a:ln>
            <a:noFill/>
          </a:ln>
        </p:spPr>
        <p:txBody>
          <a:bodyPr anchorCtr="0" anchor="b" bIns="45700" lIns="91425" spcFirstLastPara="1" rIns="91425" wrap="square" tIns="45700">
            <a:noAutofit/>
          </a:bodyPr>
          <a:lstStyle/>
          <a:p>
            <a:pPr indent="0" lvl="0" marL="0" rtl="0" algn="l">
              <a:spcBef>
                <a:spcPts val="0"/>
              </a:spcBef>
              <a:spcAft>
                <a:spcPts val="0"/>
              </a:spcAft>
              <a:buSzPts val="1400"/>
              <a:buNone/>
            </a:pPr>
            <a:r>
              <a:rPr lang="en-US" sz="2500">
                <a:solidFill>
                  <a:schemeClr val="dk1"/>
                </a:solidFill>
              </a:rPr>
              <a:t>Measuring Evaluation Metrics</a:t>
            </a:r>
            <a:endParaRPr sz="2500">
              <a:solidFill>
                <a:schemeClr val="dk1"/>
              </a:solidFill>
            </a:endParaRPr>
          </a:p>
        </p:txBody>
      </p:sp>
      <p:sp>
        <p:nvSpPr>
          <p:cNvPr id="484" name="Google Shape;484;p32"/>
          <p:cNvSpPr txBox="1"/>
          <p:nvPr>
            <p:ph idx="1" type="body"/>
          </p:nvPr>
        </p:nvSpPr>
        <p:spPr>
          <a:xfrm>
            <a:off x="3645250" y="273050"/>
            <a:ext cx="5324700" cy="585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640"/>
              </a:spcBef>
              <a:spcAft>
                <a:spcPts val="0"/>
              </a:spcAft>
              <a:buSzPts val="3200"/>
              <a:buNone/>
            </a:pPr>
            <a:r>
              <a:rPr lang="en-US" sz="1800"/>
              <a:t>For the Setosa class:TP = 16, FN = 0, FP = 0, TN = 29</a:t>
            </a:r>
            <a:endParaRPr sz="1800"/>
          </a:p>
          <a:p>
            <a:pPr indent="0" lvl="0" marL="0" rtl="0" algn="l">
              <a:lnSpc>
                <a:spcPct val="100000"/>
              </a:lnSpc>
              <a:spcBef>
                <a:spcPts val="640"/>
              </a:spcBef>
              <a:spcAft>
                <a:spcPts val="0"/>
              </a:spcAft>
              <a:buClr>
                <a:schemeClr val="dk1"/>
              </a:buClr>
              <a:buSzPts val="1100"/>
              <a:buFont typeface="Arial"/>
              <a:buNone/>
            </a:pPr>
            <a:r>
              <a:rPr lang="en-US" sz="1800"/>
              <a:t>Accuracy_Setosa = (16 + 29) / (16 + 29 + 0 + 0) = 45 / 45 = 1</a:t>
            </a:r>
            <a:endParaRPr sz="1800"/>
          </a:p>
          <a:p>
            <a:pPr indent="0" lvl="0" marL="0" rtl="0" algn="l">
              <a:lnSpc>
                <a:spcPct val="100000"/>
              </a:lnSpc>
              <a:spcBef>
                <a:spcPts val="640"/>
              </a:spcBef>
              <a:spcAft>
                <a:spcPts val="0"/>
              </a:spcAft>
              <a:buClr>
                <a:schemeClr val="dk1"/>
              </a:buClr>
              <a:buSzPts val="1100"/>
              <a:buFont typeface="Arial"/>
              <a:buNone/>
            </a:pPr>
            <a:r>
              <a:rPr lang="en-US" sz="1800"/>
              <a:t>Precision_Setosa = 16 / (16 + 0) = 1</a:t>
            </a:r>
            <a:endParaRPr sz="1800"/>
          </a:p>
          <a:p>
            <a:pPr indent="0" lvl="0" marL="0" rtl="0" algn="l">
              <a:lnSpc>
                <a:spcPct val="100000"/>
              </a:lnSpc>
              <a:spcBef>
                <a:spcPts val="640"/>
              </a:spcBef>
              <a:spcAft>
                <a:spcPts val="0"/>
              </a:spcAft>
              <a:buClr>
                <a:schemeClr val="dk1"/>
              </a:buClr>
              <a:buSzPts val="1100"/>
              <a:buFont typeface="Arial"/>
              <a:buNone/>
            </a:pPr>
            <a:r>
              <a:rPr lang="en-US" sz="1800"/>
              <a:t>Recall_Setosa = 16 / (16 + 0) = 1</a:t>
            </a:r>
            <a:endParaRPr sz="1800"/>
          </a:p>
          <a:p>
            <a:pPr indent="0" lvl="0" marL="0" rtl="0" algn="l">
              <a:lnSpc>
                <a:spcPct val="100000"/>
              </a:lnSpc>
              <a:spcBef>
                <a:spcPts val="640"/>
              </a:spcBef>
              <a:spcAft>
                <a:spcPts val="0"/>
              </a:spcAft>
              <a:buClr>
                <a:schemeClr val="dk1"/>
              </a:buClr>
              <a:buSzPts val="1100"/>
              <a:buFont typeface="Arial"/>
              <a:buNone/>
            </a:pPr>
            <a:r>
              <a:rPr lang="en-US" sz="1800"/>
              <a:t>F1-score_Setosa = 2 * (1 * 1) / (1 + 1) = 2 / 2 = 1</a:t>
            </a:r>
            <a:endParaRPr sz="1800"/>
          </a:p>
          <a:p>
            <a:pPr indent="0" lvl="0" marL="0" rtl="0" algn="l">
              <a:lnSpc>
                <a:spcPct val="100000"/>
              </a:lnSpc>
              <a:spcBef>
                <a:spcPts val="640"/>
              </a:spcBef>
              <a:spcAft>
                <a:spcPts val="0"/>
              </a:spcAft>
              <a:buSzPts val="3200"/>
              <a:buNone/>
            </a:pPr>
            <a:r>
              <a:rPr lang="en-US" sz="1800"/>
              <a:t>For the Versicolor class:TP = 17, FN = 1, FP = 0, TN = 27</a:t>
            </a:r>
            <a:endParaRPr sz="1800"/>
          </a:p>
          <a:p>
            <a:pPr indent="0" lvl="0" marL="0" rtl="0" algn="l">
              <a:lnSpc>
                <a:spcPct val="100000"/>
              </a:lnSpc>
              <a:spcBef>
                <a:spcPts val="640"/>
              </a:spcBef>
              <a:spcAft>
                <a:spcPts val="0"/>
              </a:spcAft>
              <a:buClr>
                <a:schemeClr val="dk1"/>
              </a:buClr>
              <a:buSzPts val="1100"/>
              <a:buFont typeface="Arial"/>
              <a:buNone/>
            </a:pPr>
            <a:r>
              <a:rPr lang="en-US" sz="1800"/>
              <a:t>Accuracy_Versicolor = (17 + 27) / (17 + 27 + 0 + 1) = 44 / 45 ≈ 0.9778</a:t>
            </a:r>
            <a:endParaRPr sz="1800"/>
          </a:p>
          <a:p>
            <a:pPr indent="0" lvl="0" marL="0" rtl="0" algn="l">
              <a:lnSpc>
                <a:spcPct val="100000"/>
              </a:lnSpc>
              <a:spcBef>
                <a:spcPts val="640"/>
              </a:spcBef>
              <a:spcAft>
                <a:spcPts val="0"/>
              </a:spcAft>
              <a:buClr>
                <a:schemeClr val="dk1"/>
              </a:buClr>
              <a:buSzPts val="1100"/>
              <a:buFont typeface="Arial"/>
              <a:buNone/>
            </a:pPr>
            <a:r>
              <a:rPr lang="en-US" sz="1800"/>
              <a:t>Precision_Versicolor = 17 / (17 + 0) = 1</a:t>
            </a:r>
            <a:endParaRPr sz="1800"/>
          </a:p>
          <a:p>
            <a:pPr indent="0" lvl="0" marL="0" rtl="0" algn="l">
              <a:lnSpc>
                <a:spcPct val="100000"/>
              </a:lnSpc>
              <a:spcBef>
                <a:spcPts val="640"/>
              </a:spcBef>
              <a:spcAft>
                <a:spcPts val="0"/>
              </a:spcAft>
              <a:buClr>
                <a:schemeClr val="dk1"/>
              </a:buClr>
              <a:buSzPts val="1100"/>
              <a:buFont typeface="Arial"/>
              <a:buNone/>
            </a:pPr>
            <a:r>
              <a:rPr lang="en-US" sz="1800"/>
              <a:t>Recall_Versicolor = 17 / (17 + 1) = 17 / 18 ≈ 0.9444</a:t>
            </a:r>
            <a:endParaRPr sz="1800"/>
          </a:p>
          <a:p>
            <a:pPr indent="0" lvl="0" marL="0" rtl="0" algn="l">
              <a:lnSpc>
                <a:spcPct val="100000"/>
              </a:lnSpc>
              <a:spcBef>
                <a:spcPts val="640"/>
              </a:spcBef>
              <a:spcAft>
                <a:spcPts val="0"/>
              </a:spcAft>
              <a:buClr>
                <a:schemeClr val="dk1"/>
              </a:buClr>
              <a:buSzPts val="1100"/>
              <a:buFont typeface="Arial"/>
              <a:buNone/>
            </a:pPr>
            <a:r>
              <a:rPr lang="en-US" sz="1800"/>
              <a:t>F1-score_Versicolor = 2 * (1 * 0.9444) / (1 + 0.9444) ≈ 1.9706 / 1.9444 ≈ 1.0159</a:t>
            </a:r>
            <a:endParaRPr sz="1800"/>
          </a:p>
          <a:p>
            <a:pPr indent="0" lvl="0" marL="0" rtl="0" algn="l">
              <a:lnSpc>
                <a:spcPct val="100000"/>
              </a:lnSpc>
              <a:spcBef>
                <a:spcPts val="640"/>
              </a:spcBef>
              <a:spcAft>
                <a:spcPts val="0"/>
              </a:spcAft>
              <a:buSzPts val="3200"/>
              <a:buNone/>
            </a:pPr>
            <a:r>
              <a:t/>
            </a:r>
            <a:endParaRPr sz="1800"/>
          </a:p>
        </p:txBody>
      </p:sp>
      <p:sp>
        <p:nvSpPr>
          <p:cNvPr id="485" name="Google Shape;485;p32"/>
          <p:cNvSpPr txBox="1"/>
          <p:nvPr>
            <p:ph idx="2" type="body"/>
          </p:nvPr>
        </p:nvSpPr>
        <p:spPr>
          <a:xfrm>
            <a:off x="457200" y="1435100"/>
            <a:ext cx="3019500" cy="4691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80"/>
              </a:spcBef>
              <a:spcAft>
                <a:spcPts val="0"/>
              </a:spcAft>
              <a:buSzPts val="1400"/>
              <a:buNone/>
            </a:pPr>
            <a:r>
              <a:rPr lang="en-US" sz="1600"/>
              <a:t>Accuracy = (TP + TN)  / Total Sample</a:t>
            </a:r>
            <a:endParaRPr sz="1600"/>
          </a:p>
          <a:p>
            <a:pPr indent="0" lvl="0" marL="0" rtl="0" algn="l">
              <a:lnSpc>
                <a:spcPct val="100000"/>
              </a:lnSpc>
              <a:spcBef>
                <a:spcPts val="280"/>
              </a:spcBef>
              <a:spcAft>
                <a:spcPts val="0"/>
              </a:spcAft>
              <a:buSzPts val="1400"/>
              <a:buNone/>
            </a:pPr>
            <a:r>
              <a:rPr lang="en-US" sz="1600"/>
              <a:t>Or, Accuracy = (TP + TN) / (TP + TN + FP + FN)</a:t>
            </a:r>
            <a:endParaRPr sz="1600"/>
          </a:p>
          <a:p>
            <a:pPr indent="0" lvl="0" marL="0" rtl="0" algn="l">
              <a:lnSpc>
                <a:spcPct val="100000"/>
              </a:lnSpc>
              <a:spcBef>
                <a:spcPts val="280"/>
              </a:spcBef>
              <a:spcAft>
                <a:spcPts val="0"/>
              </a:spcAft>
              <a:buSzPts val="1400"/>
              <a:buNone/>
            </a:pPr>
            <a:r>
              <a:t/>
            </a:r>
            <a:endParaRPr sz="1600"/>
          </a:p>
          <a:p>
            <a:pPr indent="0" lvl="0" marL="0" rtl="0" algn="l">
              <a:lnSpc>
                <a:spcPct val="100000"/>
              </a:lnSpc>
              <a:spcBef>
                <a:spcPts val="280"/>
              </a:spcBef>
              <a:spcAft>
                <a:spcPts val="0"/>
              </a:spcAft>
              <a:buSzPts val="1400"/>
              <a:buNone/>
            </a:pPr>
            <a:r>
              <a:rPr lang="en-US" sz="1600"/>
              <a:t>Precision = TP / (TP + FP)</a:t>
            </a:r>
            <a:endParaRPr sz="1600"/>
          </a:p>
          <a:p>
            <a:pPr indent="0" lvl="0" marL="0" rtl="0" algn="l">
              <a:lnSpc>
                <a:spcPct val="100000"/>
              </a:lnSpc>
              <a:spcBef>
                <a:spcPts val="280"/>
              </a:spcBef>
              <a:spcAft>
                <a:spcPts val="0"/>
              </a:spcAft>
              <a:buSzPts val="1400"/>
              <a:buNone/>
            </a:pPr>
            <a:r>
              <a:t/>
            </a:r>
            <a:endParaRPr sz="1600"/>
          </a:p>
          <a:p>
            <a:pPr indent="0" lvl="0" marL="0" rtl="0" algn="l">
              <a:lnSpc>
                <a:spcPct val="100000"/>
              </a:lnSpc>
              <a:spcBef>
                <a:spcPts val="280"/>
              </a:spcBef>
              <a:spcAft>
                <a:spcPts val="0"/>
              </a:spcAft>
              <a:buSzPts val="1400"/>
              <a:buNone/>
            </a:pPr>
            <a:r>
              <a:rPr lang="en-US" sz="1600"/>
              <a:t>Recall = TP / (TP + FN)</a:t>
            </a:r>
            <a:endParaRPr sz="1600"/>
          </a:p>
          <a:p>
            <a:pPr indent="0" lvl="0" marL="0" rtl="0" algn="l">
              <a:lnSpc>
                <a:spcPct val="100000"/>
              </a:lnSpc>
              <a:spcBef>
                <a:spcPts val="280"/>
              </a:spcBef>
              <a:spcAft>
                <a:spcPts val="0"/>
              </a:spcAft>
              <a:buSzPts val="1400"/>
              <a:buNone/>
            </a:pPr>
            <a:r>
              <a:rPr lang="en-US" sz="1600"/>
              <a:t>Or, Recall = TP/P</a:t>
            </a:r>
            <a:endParaRPr sz="1600"/>
          </a:p>
          <a:p>
            <a:pPr indent="0" lvl="0" marL="0" rtl="0" algn="l">
              <a:lnSpc>
                <a:spcPct val="100000"/>
              </a:lnSpc>
              <a:spcBef>
                <a:spcPts val="280"/>
              </a:spcBef>
              <a:spcAft>
                <a:spcPts val="0"/>
              </a:spcAft>
              <a:buSzPts val="1400"/>
              <a:buNone/>
            </a:pPr>
            <a:r>
              <a:t/>
            </a:r>
            <a:endParaRPr sz="1600"/>
          </a:p>
          <a:p>
            <a:pPr indent="0" lvl="0" marL="0" rtl="0" algn="l">
              <a:lnSpc>
                <a:spcPct val="100000"/>
              </a:lnSpc>
              <a:spcBef>
                <a:spcPts val="280"/>
              </a:spcBef>
              <a:spcAft>
                <a:spcPts val="0"/>
              </a:spcAft>
              <a:buSzPts val="1400"/>
              <a:buNone/>
            </a:pPr>
            <a:r>
              <a:rPr lang="en-US" sz="1600"/>
              <a:t>F1-score = 2 * (Precision * Recall) / (Precision + Recall)</a:t>
            </a:r>
            <a:endParaRPr>
              <a:solidFill>
                <a:srgbClr val="D1D5DB"/>
              </a:solidFill>
              <a:highlight>
                <a:srgbClr val="444654"/>
              </a:highlight>
              <a:latin typeface="Roboto"/>
              <a:ea typeface="Roboto"/>
              <a:cs typeface="Roboto"/>
              <a:sym typeface="Roboto"/>
            </a:endParaRPr>
          </a:p>
          <a:p>
            <a:pPr indent="0" lvl="0" marL="0" rtl="0" algn="l">
              <a:lnSpc>
                <a:spcPct val="100000"/>
              </a:lnSpc>
              <a:spcBef>
                <a:spcPts val="280"/>
              </a:spcBef>
              <a:spcAft>
                <a:spcPts val="0"/>
              </a:spcAft>
              <a:buSzPts val="1400"/>
              <a:buNone/>
            </a:pPr>
            <a:r>
              <a:t/>
            </a:r>
            <a:endParaRPr/>
          </a:p>
        </p:txBody>
      </p:sp>
      <p:sp>
        <p:nvSpPr>
          <p:cNvPr id="486" name="Google Shape;486;p32"/>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3"/>
          <p:cNvSpPr txBox="1"/>
          <p:nvPr>
            <p:ph type="title"/>
          </p:nvPr>
        </p:nvSpPr>
        <p:spPr>
          <a:xfrm>
            <a:off x="457200" y="188913"/>
            <a:ext cx="8218500" cy="565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3" name="Google Shape;493;p33"/>
          <p:cNvSpPr txBox="1"/>
          <p:nvPr>
            <p:ph idx="1" type="body"/>
          </p:nvPr>
        </p:nvSpPr>
        <p:spPr>
          <a:xfrm>
            <a:off x="457200" y="1052513"/>
            <a:ext cx="8229600" cy="5073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640"/>
              </a:spcBef>
              <a:spcAft>
                <a:spcPts val="0"/>
              </a:spcAft>
              <a:buClr>
                <a:schemeClr val="dk1"/>
              </a:buClr>
              <a:buSzPts val="1100"/>
              <a:buFont typeface="Arial"/>
              <a:buNone/>
            </a:pPr>
            <a:r>
              <a:rPr lang="en-US" sz="1800"/>
              <a:t>For the Virginica class:TP = 11, FN = 0, FP = 1, TN = 33</a:t>
            </a:r>
            <a:endParaRPr sz="1800"/>
          </a:p>
          <a:p>
            <a:pPr indent="0" lvl="0" marL="0" rtl="0" algn="l">
              <a:lnSpc>
                <a:spcPct val="100000"/>
              </a:lnSpc>
              <a:spcBef>
                <a:spcPts val="640"/>
              </a:spcBef>
              <a:spcAft>
                <a:spcPts val="0"/>
              </a:spcAft>
              <a:buClr>
                <a:schemeClr val="dk1"/>
              </a:buClr>
              <a:buSzPts val="1100"/>
              <a:buFont typeface="Arial"/>
              <a:buNone/>
            </a:pPr>
            <a:r>
              <a:rPr lang="en-US" sz="1800"/>
              <a:t>Accuracy_Virginica = (11 + 33) / (11 + 33 + 1 + 0) = 44 / 45 ≈ 0.9778</a:t>
            </a:r>
            <a:endParaRPr sz="1800"/>
          </a:p>
          <a:p>
            <a:pPr indent="0" lvl="0" marL="0" rtl="0" algn="l">
              <a:lnSpc>
                <a:spcPct val="100000"/>
              </a:lnSpc>
              <a:spcBef>
                <a:spcPts val="640"/>
              </a:spcBef>
              <a:spcAft>
                <a:spcPts val="0"/>
              </a:spcAft>
              <a:buClr>
                <a:schemeClr val="dk1"/>
              </a:buClr>
              <a:buSzPts val="1100"/>
              <a:buFont typeface="Arial"/>
              <a:buNone/>
            </a:pPr>
            <a:r>
              <a:rPr lang="en-US" sz="1800"/>
              <a:t>Precision_Virginica = 11 / (11 + 1) = 11 / 12 ≈ 0.9167</a:t>
            </a:r>
            <a:endParaRPr sz="1800"/>
          </a:p>
          <a:p>
            <a:pPr indent="0" lvl="0" marL="0" rtl="0" algn="l">
              <a:lnSpc>
                <a:spcPct val="100000"/>
              </a:lnSpc>
              <a:spcBef>
                <a:spcPts val="640"/>
              </a:spcBef>
              <a:spcAft>
                <a:spcPts val="0"/>
              </a:spcAft>
              <a:buClr>
                <a:schemeClr val="dk1"/>
              </a:buClr>
              <a:buSzPts val="1100"/>
              <a:buFont typeface="Arial"/>
              <a:buNone/>
            </a:pPr>
            <a:r>
              <a:rPr lang="en-US" sz="1800"/>
              <a:t>Recall_Virginica = 11 / (11 + 0) = 1</a:t>
            </a:r>
            <a:endParaRPr sz="1800"/>
          </a:p>
          <a:p>
            <a:pPr indent="0" lvl="0" marL="0" rtl="0" algn="l">
              <a:lnSpc>
                <a:spcPct val="100000"/>
              </a:lnSpc>
              <a:spcBef>
                <a:spcPts val="640"/>
              </a:spcBef>
              <a:spcAft>
                <a:spcPts val="0"/>
              </a:spcAft>
              <a:buClr>
                <a:schemeClr val="dk1"/>
              </a:buClr>
              <a:buSzPts val="1100"/>
              <a:buFont typeface="Arial"/>
              <a:buNone/>
            </a:pPr>
            <a:r>
              <a:rPr lang="en-US" sz="1800"/>
              <a:t>F1-score_Virginica = 2 * (0.9167 * 1) / (0.9167 + 1) ≈ 1.8333 / 1.9167 ≈ 0.9565</a:t>
            </a:r>
            <a:endParaRPr sz="1800"/>
          </a:p>
          <a:p>
            <a:pPr indent="0" lvl="0" marL="0" rtl="0" algn="l">
              <a:lnSpc>
                <a:spcPct val="100000"/>
              </a:lnSpc>
              <a:spcBef>
                <a:spcPts val="640"/>
              </a:spcBef>
              <a:spcAft>
                <a:spcPts val="0"/>
              </a:spcAft>
              <a:buSzPts val="1800"/>
              <a:buNone/>
            </a:pPr>
            <a:r>
              <a:rPr lang="en-US" sz="1800"/>
              <a:t>Overall Accuracy = (TP_Setosa + TP_Versicolor + TP_Virginica) / Total Samples = (16 + 17 + 11) / 45 ≈ 0.9778</a:t>
            </a:r>
            <a:endParaRPr sz="1800"/>
          </a:p>
          <a:p>
            <a:pPr indent="0" lvl="0" marL="0" rtl="0" algn="l">
              <a:lnSpc>
                <a:spcPct val="100000"/>
              </a:lnSpc>
              <a:spcBef>
                <a:spcPts val="640"/>
              </a:spcBef>
              <a:spcAft>
                <a:spcPts val="0"/>
              </a:spcAft>
              <a:buSzPts val="1800"/>
              <a:buNone/>
            </a:pPr>
            <a:r>
              <a:t/>
            </a:r>
            <a:endParaRPr sz="1800"/>
          </a:p>
          <a:p>
            <a:pPr indent="0" lvl="0" marL="0" rtl="0" algn="l">
              <a:lnSpc>
                <a:spcPct val="100000"/>
              </a:lnSpc>
              <a:spcBef>
                <a:spcPts val="360"/>
              </a:spcBef>
              <a:spcAft>
                <a:spcPts val="0"/>
              </a:spcAft>
              <a:buSzPts val="1800"/>
              <a:buNone/>
            </a:pPr>
            <a:r>
              <a:rPr lang="en-US" sz="1800"/>
              <a:t>Overall Accuracy = (TP_Setosa + TP_Versicolor + TP_Virginica) / Total Samples = (16 + 17 + 11) / 45 ≈ 0.9778</a:t>
            </a:r>
            <a:endParaRPr sz="1800"/>
          </a:p>
          <a:p>
            <a:pPr indent="0" lvl="0" marL="0" rtl="0" algn="l">
              <a:lnSpc>
                <a:spcPct val="100000"/>
              </a:lnSpc>
              <a:spcBef>
                <a:spcPts val="360"/>
              </a:spcBef>
              <a:spcAft>
                <a:spcPts val="0"/>
              </a:spcAft>
              <a:buSzPts val="1800"/>
              <a:buNone/>
            </a:pPr>
            <a:r>
              <a:rPr lang="en-US" sz="1800"/>
              <a:t>Average Accuracy = (Accuracy_Setosa + Accuracy_Versicolor + Accuracy_Virginica) / 3 = (1 + 0.9778 + 0.9778) / 3</a:t>
            </a:r>
            <a:endParaRPr sz="1800"/>
          </a:p>
          <a:p>
            <a:pPr indent="0" lvl="0" marL="0" rtl="0" algn="l">
              <a:lnSpc>
                <a:spcPct val="100000"/>
              </a:lnSpc>
              <a:spcBef>
                <a:spcPts val="360"/>
              </a:spcBef>
              <a:spcAft>
                <a:spcPts val="0"/>
              </a:spcAft>
              <a:buClr>
                <a:schemeClr val="dk1"/>
              </a:buClr>
              <a:buSzPts val="1100"/>
              <a:buFont typeface="Arial"/>
              <a:buNone/>
            </a:pPr>
            <a:r>
              <a:rPr lang="en-US" sz="1800"/>
              <a:t>Average Accuracy ≈ 0.9852</a:t>
            </a:r>
            <a:endParaRPr sz="1800">
              <a:solidFill>
                <a:srgbClr val="D1D5DB"/>
              </a:solidFill>
              <a:highlight>
                <a:srgbClr val="444654"/>
              </a:highlight>
              <a:latin typeface="Roboto"/>
              <a:ea typeface="Roboto"/>
              <a:cs typeface="Roboto"/>
              <a:sym typeface="Roboto"/>
            </a:endParaRPr>
          </a:p>
          <a:p>
            <a:pPr indent="0" lvl="0" marL="0" rtl="0" algn="l">
              <a:lnSpc>
                <a:spcPct val="100000"/>
              </a:lnSpc>
              <a:spcBef>
                <a:spcPts val="640"/>
              </a:spcBef>
              <a:spcAft>
                <a:spcPts val="0"/>
              </a:spcAft>
              <a:buClr>
                <a:schemeClr val="dk1"/>
              </a:buClr>
              <a:buSzPts val="1100"/>
              <a:buFont typeface="Arial"/>
              <a:buNone/>
            </a:pPr>
            <a:r>
              <a:rPr lang="en-US" sz="1800"/>
              <a:t>Average</a:t>
            </a:r>
            <a:r>
              <a:rPr lang="en-US" sz="1800"/>
              <a:t> F1-score = (F1-score_Setosa + F1-score_Versicolor + F1-score_Virginica) / 3 = (1 + 1.0159 + 0.9565) / 3 ≈ 0.9908</a:t>
            </a:r>
            <a:endParaRPr sz="1800"/>
          </a:p>
          <a:p>
            <a:pPr indent="0" lvl="0" marL="0" rtl="0" algn="l">
              <a:lnSpc>
                <a:spcPct val="100000"/>
              </a:lnSpc>
              <a:spcBef>
                <a:spcPts val="640"/>
              </a:spcBef>
              <a:spcAft>
                <a:spcPts val="0"/>
              </a:spcAft>
              <a:buClr>
                <a:schemeClr val="dk1"/>
              </a:buClr>
              <a:buSzPts val="1100"/>
              <a:buFont typeface="Arial"/>
              <a:buNone/>
            </a:pPr>
            <a:r>
              <a:t/>
            </a:r>
            <a:endParaRPr sz="1800"/>
          </a:p>
          <a:p>
            <a:pPr indent="0" lvl="0" marL="0" rtl="0" algn="l">
              <a:lnSpc>
                <a:spcPct val="100000"/>
              </a:lnSpc>
              <a:spcBef>
                <a:spcPts val="360"/>
              </a:spcBef>
              <a:spcAft>
                <a:spcPts val="0"/>
              </a:spcAft>
              <a:buSzPts val="1800"/>
              <a:buNone/>
            </a:pPr>
            <a:r>
              <a:t/>
            </a:r>
            <a:endParaRPr/>
          </a:p>
        </p:txBody>
      </p:sp>
      <p:sp>
        <p:nvSpPr>
          <p:cNvPr id="494" name="Google Shape;494;p33"/>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4"/>
          <p:cNvSpPr txBox="1"/>
          <p:nvPr>
            <p:ph type="title"/>
          </p:nvPr>
        </p:nvSpPr>
        <p:spPr>
          <a:xfrm>
            <a:off x="935175" y="188925"/>
            <a:ext cx="7740600" cy="565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US" sz="4400">
                <a:solidFill>
                  <a:schemeClr val="accent6"/>
                </a:solidFill>
              </a:rPr>
              <a:t>ROC curve</a:t>
            </a:r>
            <a:endParaRPr b="1"/>
          </a:p>
        </p:txBody>
      </p:sp>
      <p:sp>
        <p:nvSpPr>
          <p:cNvPr id="501" name="Google Shape;501;p34"/>
          <p:cNvSpPr txBox="1"/>
          <p:nvPr>
            <p:ph idx="1" type="body"/>
          </p:nvPr>
        </p:nvSpPr>
        <p:spPr>
          <a:xfrm>
            <a:off x="457200" y="1052526"/>
            <a:ext cx="8229600" cy="5315700"/>
          </a:xfrm>
          <a:prstGeom prst="rect">
            <a:avLst/>
          </a:prstGeom>
          <a:noFill/>
          <a:ln>
            <a:noFill/>
          </a:ln>
        </p:spPr>
        <p:txBody>
          <a:bodyPr anchorCtr="0" anchor="t" bIns="45700" lIns="91425" spcFirstLastPara="1" rIns="91425" wrap="square" tIns="45700">
            <a:noAutofit/>
          </a:bodyPr>
          <a:lstStyle/>
          <a:p>
            <a:pPr indent="-381000" lvl="0" marL="457200" rtl="0" algn="l">
              <a:spcBef>
                <a:spcPts val="360"/>
              </a:spcBef>
              <a:spcAft>
                <a:spcPts val="0"/>
              </a:spcAft>
              <a:buSzPts val="2400"/>
              <a:buChar char="•"/>
            </a:pPr>
            <a:r>
              <a:rPr lang="en-US" sz="2400"/>
              <a:t>ROC stands for Receiver Operating Characteristics, </a:t>
            </a:r>
            <a:endParaRPr sz="2400"/>
          </a:p>
          <a:p>
            <a:pPr indent="-381000" lvl="0" marL="457200" rtl="0" algn="l">
              <a:spcBef>
                <a:spcPts val="0"/>
              </a:spcBef>
              <a:spcAft>
                <a:spcPts val="0"/>
              </a:spcAft>
              <a:buSzPts val="2400"/>
              <a:buChar char="•"/>
            </a:pPr>
            <a:r>
              <a:rPr lang="en-US" sz="2400"/>
              <a:t>and the ROC curve is the graphical representation of the effectiveness of the classification model. </a:t>
            </a:r>
            <a:endParaRPr sz="2400"/>
          </a:p>
          <a:p>
            <a:pPr indent="-381000" lvl="0" marL="457200" rtl="0" algn="l">
              <a:spcBef>
                <a:spcPts val="0"/>
              </a:spcBef>
              <a:spcAft>
                <a:spcPts val="0"/>
              </a:spcAft>
              <a:buSzPts val="2400"/>
              <a:buChar char="•"/>
            </a:pPr>
            <a:r>
              <a:rPr lang="en-US" sz="2400"/>
              <a:t>It plots the true positive rate (TPR) vs the false positive rate (FPR) at different classification thresholds.</a:t>
            </a:r>
            <a:endParaRPr sz="2400"/>
          </a:p>
          <a:p>
            <a:pPr indent="-381000" lvl="0" marL="457200" rtl="0" algn="l">
              <a:spcBef>
                <a:spcPts val="0"/>
              </a:spcBef>
              <a:spcAft>
                <a:spcPts val="0"/>
              </a:spcAft>
              <a:buSzPts val="2400"/>
              <a:buChar char="•"/>
            </a:pPr>
            <a:r>
              <a:rPr lang="en-US" sz="2400"/>
              <a:t>The TPR, or “Sensitivity”, is a measure of the proportion of positive cases in the data that are correctly identified as such. TPR = TP / TP + FN</a:t>
            </a:r>
            <a:endParaRPr sz="2400"/>
          </a:p>
          <a:p>
            <a:pPr indent="-381000" lvl="0" marL="457200" rtl="0" algn="l">
              <a:spcBef>
                <a:spcPts val="0"/>
              </a:spcBef>
              <a:spcAft>
                <a:spcPts val="0"/>
              </a:spcAft>
              <a:buSzPts val="2400"/>
              <a:buChar char="•"/>
            </a:pPr>
            <a:r>
              <a:rPr lang="en-US" sz="2400"/>
              <a:t>or, TPR = TP/P</a:t>
            </a:r>
            <a:endParaRPr sz="2400"/>
          </a:p>
          <a:p>
            <a:pPr indent="-381000" lvl="0" marL="457200" rtl="0" algn="l">
              <a:spcBef>
                <a:spcPts val="0"/>
              </a:spcBef>
              <a:spcAft>
                <a:spcPts val="0"/>
              </a:spcAft>
              <a:buSzPts val="2400"/>
              <a:buChar char="•"/>
            </a:pPr>
            <a:r>
              <a:rPr lang="en-US" sz="2400"/>
              <a:t>The FPR, or “Fall-Out”, is the proportion of negative cases incorrectly identified as positive cases in the data. FPR = FP/ FP+TN</a:t>
            </a:r>
            <a:endParaRPr sz="2400"/>
          </a:p>
          <a:p>
            <a:pPr indent="-381000" lvl="0" marL="457200" rtl="0" algn="l">
              <a:spcBef>
                <a:spcPts val="360"/>
              </a:spcBef>
              <a:spcAft>
                <a:spcPts val="0"/>
              </a:spcAft>
              <a:buSzPts val="2400"/>
              <a:buChar char="•"/>
            </a:pPr>
            <a:r>
              <a:rPr lang="en-US" sz="2400"/>
              <a:t>or, FPR = FP/N</a:t>
            </a:r>
            <a:endParaRPr sz="2400"/>
          </a:p>
        </p:txBody>
      </p:sp>
      <p:sp>
        <p:nvSpPr>
          <p:cNvPr id="502" name="Google Shape;502;p34"/>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grpSp>
        <p:nvGrpSpPr>
          <p:cNvPr id="503" name="Google Shape;503;p34"/>
          <p:cNvGrpSpPr/>
          <p:nvPr/>
        </p:nvGrpSpPr>
        <p:grpSpPr>
          <a:xfrm>
            <a:off x="457200" y="319825"/>
            <a:ext cx="303246" cy="303397"/>
            <a:chOff x="703" y="300"/>
            <a:chExt cx="181" cy="181"/>
          </a:xfrm>
        </p:grpSpPr>
        <p:sp>
          <p:nvSpPr>
            <p:cNvPr id="504" name="Google Shape;504;p34"/>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5" name="Google Shape;505;p34"/>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6" name="Google Shape;506;p34"/>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7" name="Google Shape;507;p34"/>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8" name="Google Shape;508;p34"/>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9" name="Google Shape;509;p34"/>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5"/>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400">
                <a:solidFill>
                  <a:schemeClr val="accent6"/>
                </a:solidFill>
              </a:rPr>
              <a:t>Plotting an ROC curve</a:t>
            </a:r>
            <a:endParaRPr sz="4400">
              <a:solidFill>
                <a:schemeClr val="accent6"/>
              </a:solidFill>
            </a:endParaRPr>
          </a:p>
        </p:txBody>
      </p:sp>
      <p:grpSp>
        <p:nvGrpSpPr>
          <p:cNvPr id="516" name="Google Shape;516;p35"/>
          <p:cNvGrpSpPr/>
          <p:nvPr/>
        </p:nvGrpSpPr>
        <p:grpSpPr>
          <a:xfrm>
            <a:off x="609600" y="533400"/>
            <a:ext cx="303213" cy="303213"/>
            <a:chOff x="703" y="300"/>
            <a:chExt cx="181" cy="181"/>
          </a:xfrm>
        </p:grpSpPr>
        <p:sp>
          <p:nvSpPr>
            <p:cNvPr id="517" name="Google Shape;517;p35"/>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8" name="Google Shape;518;p35"/>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9" name="Google Shape;519;p35"/>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0" name="Google Shape;520;p35"/>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1" name="Google Shape;521;p35"/>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2" name="Google Shape;522;p35"/>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523" name="Google Shape;523;p35"/>
          <p:cNvGrpSpPr/>
          <p:nvPr/>
        </p:nvGrpSpPr>
        <p:grpSpPr>
          <a:xfrm>
            <a:off x="8494713" y="5792788"/>
            <a:ext cx="554037" cy="552450"/>
            <a:chOff x="5369" y="3667"/>
            <a:chExt cx="349" cy="348"/>
          </a:xfrm>
        </p:grpSpPr>
        <p:sp>
          <p:nvSpPr>
            <p:cNvPr id="524" name="Google Shape;524;p35"/>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5" name="Google Shape;525;p35"/>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6" name="Google Shape;526;p35"/>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7" name="Google Shape;527;p35"/>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8" name="Google Shape;528;p35"/>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9" name="Google Shape;529;p35"/>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530" name="Google Shape;530;p35"/>
          <p:cNvGrpSpPr/>
          <p:nvPr/>
        </p:nvGrpSpPr>
        <p:grpSpPr>
          <a:xfrm>
            <a:off x="8113713" y="6221413"/>
            <a:ext cx="554037" cy="552450"/>
            <a:chOff x="5129" y="3937"/>
            <a:chExt cx="349" cy="348"/>
          </a:xfrm>
        </p:grpSpPr>
        <p:sp>
          <p:nvSpPr>
            <p:cNvPr id="531" name="Google Shape;531;p35"/>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2" name="Google Shape;532;p35"/>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3" name="Google Shape;533;p35"/>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4" name="Google Shape;534;p35"/>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5" name="Google Shape;535;p35"/>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6" name="Google Shape;536;p35"/>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537" name="Google Shape;537;p35"/>
          <p:cNvGrpSpPr/>
          <p:nvPr/>
        </p:nvGrpSpPr>
        <p:grpSpPr>
          <a:xfrm>
            <a:off x="8089900" y="5821363"/>
            <a:ext cx="390525" cy="390525"/>
            <a:chOff x="5114" y="3685"/>
            <a:chExt cx="246" cy="246"/>
          </a:xfrm>
        </p:grpSpPr>
        <p:sp>
          <p:nvSpPr>
            <p:cNvPr id="538" name="Google Shape;538;p35"/>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9" name="Google Shape;539;p35"/>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0" name="Google Shape;540;p35"/>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1" name="Google Shape;541;p35"/>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2" name="Google Shape;542;p35"/>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3" name="Google Shape;543;p35"/>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44" name="Google Shape;544;p35"/>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descr="C:\Users\JAM\Desktop\4.PNG" id="545" name="Google Shape;545;p35"/>
          <p:cNvPicPr preferRelativeResize="0"/>
          <p:nvPr/>
        </p:nvPicPr>
        <p:blipFill rotWithShape="1">
          <a:blip r:embed="rId3">
            <a:alphaModFix/>
          </a:blip>
          <a:srcRect b="0" l="0" r="0" t="0"/>
          <a:stretch/>
        </p:blipFill>
        <p:spPr>
          <a:xfrm>
            <a:off x="457200" y="1524000"/>
            <a:ext cx="8299724" cy="4648200"/>
          </a:xfrm>
          <a:prstGeom prst="rect">
            <a:avLst/>
          </a:prstGeom>
          <a:noFill/>
          <a:ln>
            <a:noFill/>
          </a:ln>
        </p:spPr>
      </p:pic>
      <p:sp>
        <p:nvSpPr>
          <p:cNvPr id="546" name="Google Shape;546;p35"/>
          <p:cNvSpPr txBox="1"/>
          <p:nvPr/>
        </p:nvSpPr>
        <p:spPr>
          <a:xfrm>
            <a:off x="5429250" y="5258600"/>
            <a:ext cx="390600" cy="3906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7" name="Google Shape;547;p35"/>
          <p:cNvSpPr txBox="1"/>
          <p:nvPr/>
        </p:nvSpPr>
        <p:spPr>
          <a:xfrm>
            <a:off x="6232925" y="5258375"/>
            <a:ext cx="390600" cy="3906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Arial"/>
                <a:ea typeface="Arial"/>
                <a:cs typeface="Arial"/>
                <a:sym typeface="Arial"/>
              </a:rPr>
              <a:t>0</a:t>
            </a:r>
            <a:endParaRPr b="0" i="0" sz="2500" u="none" cap="none" strike="noStrike">
              <a:solidFill>
                <a:schemeClr val="dk1"/>
              </a:solidFill>
              <a:latin typeface="Arial"/>
              <a:ea typeface="Arial"/>
              <a:cs typeface="Arial"/>
              <a:sym typeface="Arial"/>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par>
                                <p:cTn fill="hold" nodeType="withEffect" presetClass="emph" presetID="8" presetSubtype="0">
                                  <p:stCondLst>
                                    <p:cond delay="0"/>
                                  </p:stCondLst>
                                  <p:childTnLst>
                                    <p:animRot by="-21600000">
                                      <p:cBhvr>
                                        <p:cTn dur="500" fill="hold"/>
                                        <p:tgtEl>
                                          <p:spTgt spid="523"/>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530"/>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537"/>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51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6"/>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400">
                <a:solidFill>
                  <a:schemeClr val="accent6"/>
                </a:solidFill>
              </a:rPr>
              <a:t>Plotting an ROC curve</a:t>
            </a:r>
            <a:endParaRPr sz="4400">
              <a:solidFill>
                <a:schemeClr val="accent6"/>
              </a:solidFill>
            </a:endParaRPr>
          </a:p>
        </p:txBody>
      </p:sp>
      <p:sp>
        <p:nvSpPr>
          <p:cNvPr id="554" name="Google Shape;554;p36"/>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None/>
            </a:pPr>
            <a:r>
              <a:rPr lang="en-US" sz="2800">
                <a:solidFill>
                  <a:schemeClr val="dk1"/>
                </a:solidFill>
              </a:rPr>
              <a:t>Receiver Operating Characteristics Curve</a:t>
            </a:r>
            <a:endParaRPr>
              <a:solidFill>
                <a:schemeClr val="dk1"/>
              </a:solidFill>
            </a:endParaRPr>
          </a:p>
          <a:p>
            <a:pPr indent="-342900" lvl="0" marL="342900" rtl="0" algn="just">
              <a:lnSpc>
                <a:spcPct val="100000"/>
              </a:lnSpc>
              <a:spcBef>
                <a:spcPts val="480"/>
              </a:spcBef>
              <a:spcAft>
                <a:spcPts val="0"/>
              </a:spcAft>
              <a:buClr>
                <a:schemeClr val="dk1"/>
              </a:buClr>
              <a:buSzPts val="2400"/>
              <a:buFont typeface="Arial"/>
              <a:buChar char="•"/>
            </a:pPr>
            <a:r>
              <a:rPr lang="en-US" sz="2400"/>
              <a:t>The figure shows the probability value (column 3) returned by a probabilistic classifier for each of the 10 tuples in a test set, sorted by decreasing probability order. Column 1 is merely a tuple identification number, which aids in our explanation. Column 2 is the actual class label of the tuple. There are five positive tuples and five negative tuples, thus P = 5 and N = 5. As we examine the known class label of each tuple, we can determine the values of the remaining columns, TP, FP, TN, FN, TPR, and FPR. </a:t>
            </a:r>
            <a:endParaRPr b="1" sz="2400"/>
          </a:p>
        </p:txBody>
      </p:sp>
      <p:grpSp>
        <p:nvGrpSpPr>
          <p:cNvPr id="555" name="Google Shape;555;p36"/>
          <p:cNvGrpSpPr/>
          <p:nvPr/>
        </p:nvGrpSpPr>
        <p:grpSpPr>
          <a:xfrm>
            <a:off x="609600" y="533400"/>
            <a:ext cx="303213" cy="303213"/>
            <a:chOff x="703" y="300"/>
            <a:chExt cx="181" cy="181"/>
          </a:xfrm>
        </p:grpSpPr>
        <p:sp>
          <p:nvSpPr>
            <p:cNvPr id="556" name="Google Shape;556;p36"/>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7" name="Google Shape;557;p36"/>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8" name="Google Shape;558;p36"/>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9" name="Google Shape;559;p36"/>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0" name="Google Shape;560;p36"/>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1" name="Google Shape;561;p36"/>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562" name="Google Shape;562;p36"/>
          <p:cNvGrpSpPr/>
          <p:nvPr/>
        </p:nvGrpSpPr>
        <p:grpSpPr>
          <a:xfrm>
            <a:off x="8494713" y="5792788"/>
            <a:ext cx="554037" cy="552450"/>
            <a:chOff x="5369" y="3667"/>
            <a:chExt cx="349" cy="348"/>
          </a:xfrm>
        </p:grpSpPr>
        <p:sp>
          <p:nvSpPr>
            <p:cNvPr id="563" name="Google Shape;563;p36"/>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4" name="Google Shape;564;p36"/>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5" name="Google Shape;565;p36"/>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6" name="Google Shape;566;p36"/>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7" name="Google Shape;567;p36"/>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8" name="Google Shape;568;p36"/>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569" name="Google Shape;569;p36"/>
          <p:cNvGrpSpPr/>
          <p:nvPr/>
        </p:nvGrpSpPr>
        <p:grpSpPr>
          <a:xfrm>
            <a:off x="8113713" y="6221413"/>
            <a:ext cx="554037" cy="552450"/>
            <a:chOff x="5129" y="3937"/>
            <a:chExt cx="349" cy="348"/>
          </a:xfrm>
        </p:grpSpPr>
        <p:sp>
          <p:nvSpPr>
            <p:cNvPr id="570" name="Google Shape;570;p36"/>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1" name="Google Shape;571;p36"/>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2" name="Google Shape;572;p36"/>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3" name="Google Shape;573;p36"/>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4" name="Google Shape;574;p36"/>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5" name="Google Shape;575;p36"/>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576" name="Google Shape;576;p36"/>
          <p:cNvGrpSpPr/>
          <p:nvPr/>
        </p:nvGrpSpPr>
        <p:grpSpPr>
          <a:xfrm>
            <a:off x="8089900" y="5821363"/>
            <a:ext cx="390525" cy="390525"/>
            <a:chOff x="5114" y="3685"/>
            <a:chExt cx="246" cy="246"/>
          </a:xfrm>
        </p:grpSpPr>
        <p:sp>
          <p:nvSpPr>
            <p:cNvPr id="577" name="Google Shape;577;p36"/>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8" name="Google Shape;578;p36"/>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9" name="Google Shape;579;p36"/>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0" name="Google Shape;580;p36"/>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1" name="Google Shape;581;p36"/>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2" name="Google Shape;582;p36"/>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83" name="Google Shape;583;p36"/>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500"/>
                                        <p:tgtEl>
                                          <p:spTgt spid="555"/>
                                        </p:tgtEl>
                                      </p:cBhvr>
                                    </p:animEffect>
                                  </p:childTnLst>
                                </p:cTn>
                              </p:par>
                              <p:par>
                                <p:cTn fill="hold" nodeType="withEffect" presetClass="emph" presetID="8" presetSubtype="0">
                                  <p:stCondLst>
                                    <p:cond delay="0"/>
                                  </p:stCondLst>
                                  <p:childTnLst>
                                    <p:animRot by="-21600000">
                                      <p:cBhvr>
                                        <p:cTn dur="500" fill="hold"/>
                                        <p:tgtEl>
                                          <p:spTgt spid="562"/>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569"/>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576"/>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55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37"/>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400">
                <a:solidFill>
                  <a:schemeClr val="accent6"/>
                </a:solidFill>
              </a:rPr>
              <a:t>Plotting an ROC curve</a:t>
            </a:r>
            <a:endParaRPr sz="4400">
              <a:solidFill>
                <a:schemeClr val="accent6"/>
              </a:solidFill>
            </a:endParaRPr>
          </a:p>
        </p:txBody>
      </p:sp>
      <p:sp>
        <p:nvSpPr>
          <p:cNvPr id="590" name="Google Shape;590;p37"/>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Font typeface="Arial"/>
              <a:buChar char="•"/>
            </a:pPr>
            <a:r>
              <a:rPr lang="en-US" sz="2400"/>
              <a:t>We start with tuple 1, which has the highest probability score, and take that score as our threshold, that is, t = 0.9. Thus, the classifier considers tuple 1 to be positive, and all the other tuples are considered negative. Since the actual class label of tuple 1 is positive, we have a true positive, hence TP = 1 and FP = 0.</a:t>
            </a:r>
            <a:endParaRPr/>
          </a:p>
          <a:p>
            <a:pPr indent="-342900" lvl="0" marL="342900" rtl="0" algn="just">
              <a:lnSpc>
                <a:spcPct val="100000"/>
              </a:lnSpc>
              <a:spcBef>
                <a:spcPts val="480"/>
              </a:spcBef>
              <a:spcAft>
                <a:spcPts val="0"/>
              </a:spcAft>
              <a:buClr>
                <a:schemeClr val="dk1"/>
              </a:buClr>
              <a:buSzPts val="2400"/>
              <a:buFont typeface="Arial"/>
              <a:buChar char="•"/>
            </a:pPr>
            <a:r>
              <a:rPr lang="en-US" sz="2400"/>
              <a:t>Among the remaining nine tuples, which are all classified as negative, five actually are negative (thus, TN = 5). The remaining four are all actually positive, thus, FN = 4. We can therefore compute TPR = TP/P = 1/5 = 0.2, while FPR = 0. Thus, we have the point (0.2,0) for the ROC curve.</a:t>
            </a:r>
            <a:endParaRPr b="1" sz="2400"/>
          </a:p>
        </p:txBody>
      </p:sp>
      <p:grpSp>
        <p:nvGrpSpPr>
          <p:cNvPr id="591" name="Google Shape;591;p37"/>
          <p:cNvGrpSpPr/>
          <p:nvPr/>
        </p:nvGrpSpPr>
        <p:grpSpPr>
          <a:xfrm>
            <a:off x="609600" y="533400"/>
            <a:ext cx="303213" cy="303213"/>
            <a:chOff x="703" y="300"/>
            <a:chExt cx="181" cy="181"/>
          </a:xfrm>
        </p:grpSpPr>
        <p:sp>
          <p:nvSpPr>
            <p:cNvPr id="592" name="Google Shape;592;p37"/>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3" name="Google Shape;593;p37"/>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4" name="Google Shape;594;p37"/>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5" name="Google Shape;595;p37"/>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6" name="Google Shape;596;p37"/>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7" name="Google Shape;597;p37"/>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598" name="Google Shape;598;p37"/>
          <p:cNvGrpSpPr/>
          <p:nvPr/>
        </p:nvGrpSpPr>
        <p:grpSpPr>
          <a:xfrm>
            <a:off x="8494713" y="5792788"/>
            <a:ext cx="554037" cy="552450"/>
            <a:chOff x="5369" y="3667"/>
            <a:chExt cx="349" cy="348"/>
          </a:xfrm>
        </p:grpSpPr>
        <p:sp>
          <p:nvSpPr>
            <p:cNvPr id="599" name="Google Shape;599;p37"/>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0" name="Google Shape;600;p37"/>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1" name="Google Shape;601;p37"/>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2" name="Google Shape;602;p37"/>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3" name="Google Shape;603;p37"/>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4" name="Google Shape;604;p37"/>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05" name="Google Shape;605;p37"/>
          <p:cNvGrpSpPr/>
          <p:nvPr/>
        </p:nvGrpSpPr>
        <p:grpSpPr>
          <a:xfrm>
            <a:off x="8113713" y="6221413"/>
            <a:ext cx="554037" cy="552450"/>
            <a:chOff x="5129" y="3937"/>
            <a:chExt cx="349" cy="348"/>
          </a:xfrm>
        </p:grpSpPr>
        <p:sp>
          <p:nvSpPr>
            <p:cNvPr id="606" name="Google Shape;606;p37"/>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7" name="Google Shape;607;p37"/>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8" name="Google Shape;608;p37"/>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9" name="Google Shape;609;p37"/>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0" name="Google Shape;610;p37"/>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1" name="Google Shape;611;p37"/>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12" name="Google Shape;612;p37"/>
          <p:cNvGrpSpPr/>
          <p:nvPr/>
        </p:nvGrpSpPr>
        <p:grpSpPr>
          <a:xfrm>
            <a:off x="8089900" y="5821363"/>
            <a:ext cx="390525" cy="390525"/>
            <a:chOff x="5114" y="3685"/>
            <a:chExt cx="246" cy="246"/>
          </a:xfrm>
        </p:grpSpPr>
        <p:sp>
          <p:nvSpPr>
            <p:cNvPr id="613" name="Google Shape;613;p37"/>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4" name="Google Shape;614;p37"/>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5" name="Google Shape;615;p37"/>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6" name="Google Shape;616;p37"/>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7" name="Google Shape;617;p37"/>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8" name="Google Shape;618;p37"/>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619" name="Google Shape;619;p37"/>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500"/>
                                        <p:tgtEl>
                                          <p:spTgt spid="591"/>
                                        </p:tgtEl>
                                      </p:cBhvr>
                                    </p:animEffect>
                                  </p:childTnLst>
                                </p:cTn>
                              </p:par>
                              <p:par>
                                <p:cTn fill="hold" nodeType="withEffect" presetClass="emph" presetID="8" presetSubtype="0">
                                  <p:stCondLst>
                                    <p:cond delay="0"/>
                                  </p:stCondLst>
                                  <p:childTnLst>
                                    <p:animRot by="-21600000">
                                      <p:cBhvr>
                                        <p:cTn dur="500" fill="hold"/>
                                        <p:tgtEl>
                                          <p:spTgt spid="598"/>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605"/>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612"/>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59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38"/>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400">
                <a:solidFill>
                  <a:schemeClr val="accent6"/>
                </a:solidFill>
              </a:rPr>
              <a:t>Plotting an ROC curve</a:t>
            </a:r>
            <a:endParaRPr sz="4400">
              <a:solidFill>
                <a:schemeClr val="accent6"/>
              </a:solidFill>
            </a:endParaRPr>
          </a:p>
        </p:txBody>
      </p:sp>
      <p:sp>
        <p:nvSpPr>
          <p:cNvPr id="626" name="Google Shape;626;p38"/>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200"/>
              <a:buFont typeface="Arial"/>
              <a:buChar char="•"/>
            </a:pPr>
            <a:r>
              <a:rPr lang="en-US" sz="2200"/>
              <a:t>Next, threshold t is set to 0.8, the probability value for tuple 2, so this tuple is now also considered positive, while tuples 3 through 10 are considered negative. The actual class label of tuple 2 is positive, thus now TP = 2. The rest of the row can easily be computed, resulting in the point (0.4,0). </a:t>
            </a:r>
            <a:endParaRPr/>
          </a:p>
          <a:p>
            <a:pPr indent="-342900" lvl="0" marL="342900" rtl="0" algn="just">
              <a:lnSpc>
                <a:spcPct val="100000"/>
              </a:lnSpc>
              <a:spcBef>
                <a:spcPts val="440"/>
              </a:spcBef>
              <a:spcAft>
                <a:spcPts val="0"/>
              </a:spcAft>
              <a:buClr>
                <a:schemeClr val="dk1"/>
              </a:buClr>
              <a:buSzPts val="2200"/>
              <a:buFont typeface="Arial"/>
              <a:buChar char="•"/>
            </a:pPr>
            <a:r>
              <a:rPr lang="en-US" sz="2200"/>
              <a:t>Next, we examine the class label of tuple 3 and let t be 0.7, the probability value returned by the classifier for that tuple. Thus, tuple 3 is considered positive, yet its actual label is negative, and so it is a false positive. Thus, TP stays the same and FP increments so that FP = 1. The rest of the values in the row can also be easily computed, yielding the point (0.4,0.2).</a:t>
            </a:r>
            <a:endParaRPr b="1" sz="2200"/>
          </a:p>
        </p:txBody>
      </p:sp>
      <p:grpSp>
        <p:nvGrpSpPr>
          <p:cNvPr id="627" name="Google Shape;627;p38"/>
          <p:cNvGrpSpPr/>
          <p:nvPr/>
        </p:nvGrpSpPr>
        <p:grpSpPr>
          <a:xfrm>
            <a:off x="609600" y="533400"/>
            <a:ext cx="303213" cy="303213"/>
            <a:chOff x="703" y="300"/>
            <a:chExt cx="181" cy="181"/>
          </a:xfrm>
        </p:grpSpPr>
        <p:sp>
          <p:nvSpPr>
            <p:cNvPr id="628" name="Google Shape;628;p38"/>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9" name="Google Shape;629;p38"/>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0" name="Google Shape;630;p38"/>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1" name="Google Shape;631;p38"/>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2" name="Google Shape;632;p38"/>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3" name="Google Shape;633;p38"/>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634" name="Google Shape;634;p38"/>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500"/>
                                        <p:tgtEl>
                                          <p:spTgt spid="627"/>
                                        </p:tgtEl>
                                      </p:cBhvr>
                                    </p:animEffect>
                                  </p:childTnLst>
                                </p:cTn>
                              </p:par>
                              <p:par>
                                <p:cTn fill="hold" nodeType="withEffect" presetClass="emph" presetID="8" presetSubtype="0">
                                  <p:stCondLst>
                                    <p:cond delay="500"/>
                                  </p:stCondLst>
                                  <p:childTnLst>
                                    <p:animRot by="-21600000">
                                      <p:cBhvr>
                                        <p:cTn dur="500" fill="hold"/>
                                        <p:tgtEl>
                                          <p:spTgt spid="627"/>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39"/>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400">
                <a:solidFill>
                  <a:schemeClr val="accent6"/>
                </a:solidFill>
              </a:rPr>
              <a:t>Plotting an ROC curve</a:t>
            </a:r>
            <a:endParaRPr sz="4400">
              <a:solidFill>
                <a:schemeClr val="accent6"/>
              </a:solidFill>
            </a:endParaRPr>
          </a:p>
        </p:txBody>
      </p:sp>
      <p:grpSp>
        <p:nvGrpSpPr>
          <p:cNvPr id="641" name="Google Shape;641;p39"/>
          <p:cNvGrpSpPr/>
          <p:nvPr/>
        </p:nvGrpSpPr>
        <p:grpSpPr>
          <a:xfrm>
            <a:off x="609600" y="533400"/>
            <a:ext cx="303213" cy="303213"/>
            <a:chOff x="703" y="300"/>
            <a:chExt cx="181" cy="181"/>
          </a:xfrm>
        </p:grpSpPr>
        <p:sp>
          <p:nvSpPr>
            <p:cNvPr id="642" name="Google Shape;642;p39"/>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3" name="Google Shape;643;p39"/>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4" name="Google Shape;644;p39"/>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5" name="Google Shape;645;p39"/>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6" name="Google Shape;646;p39"/>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7" name="Google Shape;647;p39"/>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648" name="Google Shape;648;p39"/>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descr="C:\Users\JAM\Desktop\Capturjue.PNG" id="649" name="Google Shape;649;p39"/>
          <p:cNvPicPr preferRelativeResize="0"/>
          <p:nvPr/>
        </p:nvPicPr>
        <p:blipFill rotWithShape="1">
          <a:blip r:embed="rId3">
            <a:alphaModFix/>
          </a:blip>
          <a:srcRect b="0" l="0" r="0" t="0"/>
          <a:stretch/>
        </p:blipFill>
        <p:spPr>
          <a:xfrm>
            <a:off x="912825" y="1371600"/>
            <a:ext cx="7316775" cy="519695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500"/>
                                        <p:tgtEl>
                                          <p:spTgt spid="641"/>
                                        </p:tgtEl>
                                      </p:cBhvr>
                                    </p:animEffect>
                                  </p:childTnLst>
                                </p:cTn>
                              </p:par>
                              <p:par>
                                <p:cTn fill="hold" nodeType="withEffect" presetClass="emph" presetID="8" presetSubtype="0">
                                  <p:stCondLst>
                                    <p:cond delay="500"/>
                                  </p:stCondLst>
                                  <p:childTnLst>
                                    <p:animRot by="-21600000">
                                      <p:cBhvr>
                                        <p:cTn dur="500" fill="hold"/>
                                        <p:tgtEl>
                                          <p:spTgt spid="64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40"/>
          <p:cNvSpPr txBox="1"/>
          <p:nvPr>
            <p:ph type="title"/>
          </p:nvPr>
        </p:nvSpPr>
        <p:spPr>
          <a:xfrm>
            <a:off x="457200" y="188913"/>
            <a:ext cx="8218500" cy="565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3500">
                <a:solidFill>
                  <a:schemeClr val="accent6"/>
                </a:solidFill>
              </a:rPr>
              <a:t>AUC</a:t>
            </a:r>
            <a:endParaRPr b="1" sz="3500">
              <a:solidFill>
                <a:schemeClr val="accent6"/>
              </a:solidFill>
            </a:endParaRPr>
          </a:p>
        </p:txBody>
      </p:sp>
      <p:sp>
        <p:nvSpPr>
          <p:cNvPr id="656" name="Google Shape;656;p40"/>
          <p:cNvSpPr txBox="1"/>
          <p:nvPr>
            <p:ph idx="1" type="body"/>
          </p:nvPr>
        </p:nvSpPr>
        <p:spPr>
          <a:xfrm>
            <a:off x="457200" y="1052513"/>
            <a:ext cx="8229600" cy="5073600"/>
          </a:xfrm>
          <a:prstGeom prst="rect">
            <a:avLst/>
          </a:prstGeom>
          <a:noFill/>
          <a:ln>
            <a:noFill/>
          </a:ln>
        </p:spPr>
        <p:txBody>
          <a:bodyPr anchorCtr="0" anchor="t" bIns="45700" lIns="91425" spcFirstLastPara="1" rIns="91425" wrap="square" tIns="45700">
            <a:noAutofit/>
          </a:bodyPr>
          <a:lstStyle/>
          <a:p>
            <a:pPr indent="-368300" lvl="0" marL="457200" rtl="0" algn="l">
              <a:lnSpc>
                <a:spcPct val="100000"/>
              </a:lnSpc>
              <a:spcBef>
                <a:spcPts val="360"/>
              </a:spcBef>
              <a:spcAft>
                <a:spcPts val="0"/>
              </a:spcAft>
              <a:buSzPts val="2200"/>
              <a:buChar char="•"/>
            </a:pPr>
            <a:r>
              <a:rPr lang="en-US" sz="3000"/>
              <a:t>AUC stands for the Area Under the Curve, </a:t>
            </a:r>
            <a:endParaRPr sz="3000"/>
          </a:p>
          <a:p>
            <a:pPr indent="-368300" lvl="0" marL="457200" rtl="0" algn="l">
              <a:lnSpc>
                <a:spcPct val="100000"/>
              </a:lnSpc>
              <a:spcBef>
                <a:spcPts val="0"/>
              </a:spcBef>
              <a:spcAft>
                <a:spcPts val="0"/>
              </a:spcAft>
              <a:buSzPts val="2200"/>
              <a:buChar char="•"/>
            </a:pPr>
            <a:r>
              <a:rPr lang="en-US" sz="3000"/>
              <a:t>and the AUC curve represents the area under the ROC curve. </a:t>
            </a:r>
            <a:endParaRPr sz="3000"/>
          </a:p>
          <a:p>
            <a:pPr indent="-368300" lvl="0" marL="457200" rtl="0" algn="l">
              <a:lnSpc>
                <a:spcPct val="100000"/>
              </a:lnSpc>
              <a:spcBef>
                <a:spcPts val="0"/>
              </a:spcBef>
              <a:spcAft>
                <a:spcPts val="0"/>
              </a:spcAft>
              <a:buSzPts val="2200"/>
              <a:buChar char="•"/>
            </a:pPr>
            <a:r>
              <a:rPr lang="en-US" sz="3000"/>
              <a:t>It measures the overall performance of the binary classification model.</a:t>
            </a:r>
            <a:endParaRPr sz="3000"/>
          </a:p>
          <a:p>
            <a:pPr indent="-368300" lvl="0" marL="457200" rtl="0" algn="l">
              <a:lnSpc>
                <a:spcPct val="100000"/>
              </a:lnSpc>
              <a:spcBef>
                <a:spcPts val="0"/>
              </a:spcBef>
              <a:spcAft>
                <a:spcPts val="0"/>
              </a:spcAft>
              <a:buSzPts val="2200"/>
              <a:buChar char="•"/>
            </a:pPr>
            <a:r>
              <a:rPr lang="en-US" sz="3000"/>
              <a:t>As both TPR and FPR range between 0 to 1, So, the area will always lie between 0 and 1. </a:t>
            </a:r>
            <a:endParaRPr sz="3000"/>
          </a:p>
          <a:p>
            <a:pPr indent="-368300" lvl="0" marL="457200" rtl="0" algn="l">
              <a:lnSpc>
                <a:spcPct val="100000"/>
              </a:lnSpc>
              <a:spcBef>
                <a:spcPts val="0"/>
              </a:spcBef>
              <a:spcAft>
                <a:spcPts val="0"/>
              </a:spcAft>
              <a:buSzPts val="2200"/>
              <a:buChar char="•"/>
            </a:pPr>
            <a:r>
              <a:rPr lang="en-US" sz="3000"/>
              <a:t>and A greater value of AUC denotes better model performance. </a:t>
            </a:r>
            <a:endParaRPr sz="3000"/>
          </a:p>
        </p:txBody>
      </p:sp>
      <p:sp>
        <p:nvSpPr>
          <p:cNvPr id="657" name="Google Shape;657;p40"/>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41"/>
          <p:cNvSpPr txBox="1"/>
          <p:nvPr>
            <p:ph type="title"/>
          </p:nvPr>
        </p:nvSpPr>
        <p:spPr>
          <a:xfrm>
            <a:off x="457200" y="188928"/>
            <a:ext cx="8218500" cy="741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3500">
                <a:solidFill>
                  <a:schemeClr val="accent6"/>
                </a:solidFill>
              </a:rPr>
              <a:t>ROC and AUC</a:t>
            </a:r>
            <a:endParaRPr b="1" sz="3500">
              <a:solidFill>
                <a:schemeClr val="accent6"/>
              </a:solidFill>
            </a:endParaRPr>
          </a:p>
        </p:txBody>
      </p:sp>
      <p:sp>
        <p:nvSpPr>
          <p:cNvPr id="664" name="Google Shape;664;p41"/>
          <p:cNvSpPr txBox="1"/>
          <p:nvPr>
            <p:ph idx="1" type="body"/>
          </p:nvPr>
        </p:nvSpPr>
        <p:spPr>
          <a:xfrm>
            <a:off x="457200" y="1052513"/>
            <a:ext cx="8229600" cy="50736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360"/>
              </a:spcBef>
              <a:spcAft>
                <a:spcPts val="0"/>
              </a:spcAft>
              <a:buSzPts val="1800"/>
              <a:buChar char="•"/>
            </a:pPr>
            <a:r>
              <a:rPr lang="en-US" sz="2700"/>
              <a:t>AUC - ROC curve is a performance measurement for the classification problems at various threshold settings. </a:t>
            </a:r>
            <a:endParaRPr sz="2700"/>
          </a:p>
          <a:p>
            <a:pPr indent="-342900" lvl="0" marL="457200" rtl="0" algn="l">
              <a:lnSpc>
                <a:spcPct val="100000"/>
              </a:lnSpc>
              <a:spcBef>
                <a:spcPts val="0"/>
              </a:spcBef>
              <a:spcAft>
                <a:spcPts val="0"/>
              </a:spcAft>
              <a:buSzPts val="1800"/>
              <a:buChar char="•"/>
            </a:pPr>
            <a:r>
              <a:rPr lang="en-US" sz="2700"/>
              <a:t>ROC is a probability curve and AUC represents the degree or measure of separability. It tells how much the model is capable of distinguishing between classes. </a:t>
            </a:r>
            <a:endParaRPr sz="2700"/>
          </a:p>
          <a:p>
            <a:pPr indent="-342900" lvl="0" marL="457200" rtl="0" algn="l">
              <a:lnSpc>
                <a:spcPct val="100000"/>
              </a:lnSpc>
              <a:spcBef>
                <a:spcPts val="0"/>
              </a:spcBef>
              <a:spcAft>
                <a:spcPts val="0"/>
              </a:spcAft>
              <a:buSzPts val="1800"/>
              <a:buChar char="•"/>
            </a:pPr>
            <a:r>
              <a:rPr lang="en-US" sz="2700"/>
              <a:t>Higher the AUC, the better the model is at predicting 0 classes as 0 and 1 classes as 1. </a:t>
            </a:r>
            <a:endParaRPr sz="2700"/>
          </a:p>
          <a:p>
            <a:pPr indent="-342900" lvl="0" marL="457200" rtl="0" algn="l">
              <a:lnSpc>
                <a:spcPct val="100000"/>
              </a:lnSpc>
              <a:spcBef>
                <a:spcPts val="0"/>
              </a:spcBef>
              <a:spcAft>
                <a:spcPts val="0"/>
              </a:spcAft>
              <a:buSzPts val="1800"/>
              <a:buChar char="•"/>
            </a:pPr>
            <a:r>
              <a:rPr lang="en-US" sz="2700"/>
              <a:t>By analogy, the Higher the AUC, the better the model is at distinguishing between patients with the disease and no disease.</a:t>
            </a:r>
            <a:endParaRPr sz="2700"/>
          </a:p>
        </p:txBody>
      </p:sp>
      <p:sp>
        <p:nvSpPr>
          <p:cNvPr id="665" name="Google Shape;665;p41"/>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42"/>
          <p:cNvSpPr txBox="1"/>
          <p:nvPr>
            <p:ph type="title"/>
          </p:nvPr>
        </p:nvSpPr>
        <p:spPr>
          <a:xfrm>
            <a:off x="457200" y="419275"/>
            <a:ext cx="8218500" cy="1062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sz="3200">
                <a:solidFill>
                  <a:schemeClr val="accent6"/>
                </a:solidFill>
              </a:rPr>
              <a:t>How to speculate about the performance of the model?</a:t>
            </a:r>
            <a:endParaRPr b="1" sz="3200">
              <a:solidFill>
                <a:schemeClr val="accent6"/>
              </a:solidFill>
            </a:endParaRPr>
          </a:p>
        </p:txBody>
      </p:sp>
      <p:sp>
        <p:nvSpPr>
          <p:cNvPr id="672" name="Google Shape;672;p42"/>
          <p:cNvSpPr txBox="1"/>
          <p:nvPr>
            <p:ph idx="1" type="body"/>
          </p:nvPr>
        </p:nvSpPr>
        <p:spPr>
          <a:xfrm>
            <a:off x="457200" y="1750223"/>
            <a:ext cx="8229600" cy="43758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360"/>
              </a:spcBef>
              <a:spcAft>
                <a:spcPts val="0"/>
              </a:spcAft>
              <a:buSzPts val="1800"/>
              <a:buChar char="•"/>
            </a:pPr>
            <a:r>
              <a:rPr lang="en-US" sz="2700"/>
              <a:t>An excellent model has AUC near to the 1 which means it has a good measure of separability. </a:t>
            </a:r>
            <a:endParaRPr sz="2700"/>
          </a:p>
          <a:p>
            <a:pPr indent="-342900" lvl="0" marL="457200" rtl="0" algn="l">
              <a:lnSpc>
                <a:spcPct val="100000"/>
              </a:lnSpc>
              <a:spcBef>
                <a:spcPts val="0"/>
              </a:spcBef>
              <a:spcAft>
                <a:spcPts val="0"/>
              </a:spcAft>
              <a:buSzPts val="1800"/>
              <a:buChar char="•"/>
            </a:pPr>
            <a:r>
              <a:rPr lang="en-US" sz="2700"/>
              <a:t>A poor model has an AUC near 0 which means it has the worst measure of separability. </a:t>
            </a:r>
            <a:endParaRPr sz="2700"/>
          </a:p>
          <a:p>
            <a:pPr indent="-342900" lvl="0" marL="457200" rtl="0" algn="l">
              <a:lnSpc>
                <a:spcPct val="100000"/>
              </a:lnSpc>
              <a:spcBef>
                <a:spcPts val="0"/>
              </a:spcBef>
              <a:spcAft>
                <a:spcPts val="0"/>
              </a:spcAft>
              <a:buSzPts val="1800"/>
              <a:buChar char="•"/>
            </a:pPr>
            <a:r>
              <a:rPr lang="en-US" sz="2700"/>
              <a:t>In fact, it means it is reciprocating the result. It is predicting 0s as 1s and 1s as 0s. </a:t>
            </a:r>
            <a:endParaRPr sz="2700"/>
          </a:p>
          <a:p>
            <a:pPr indent="-342900" lvl="0" marL="457200" rtl="0" algn="l">
              <a:lnSpc>
                <a:spcPct val="100000"/>
              </a:lnSpc>
              <a:spcBef>
                <a:spcPts val="0"/>
              </a:spcBef>
              <a:spcAft>
                <a:spcPts val="0"/>
              </a:spcAft>
              <a:buSzPts val="1800"/>
              <a:buChar char="•"/>
            </a:pPr>
            <a:r>
              <a:rPr lang="en-US" sz="2700"/>
              <a:t>And when AUC is 0.5, it means the model has no class separation capacity whatsoever.</a:t>
            </a:r>
            <a:endParaRPr sz="2700"/>
          </a:p>
        </p:txBody>
      </p:sp>
      <p:sp>
        <p:nvSpPr>
          <p:cNvPr id="673" name="Google Shape;673;p42"/>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43"/>
          <p:cNvSpPr txBox="1"/>
          <p:nvPr>
            <p:ph idx="1" type="body"/>
          </p:nvPr>
        </p:nvSpPr>
        <p:spPr>
          <a:xfrm>
            <a:off x="457200" y="552351"/>
            <a:ext cx="8229600" cy="5573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rPr lang="en-US" sz="1900"/>
              <a:t>Red distribution curve is of the positive class (patients with disease) and the green distribution curve is of the negative class(patients with no disease).</a:t>
            </a:r>
            <a:endParaRPr sz="1900"/>
          </a:p>
          <a:p>
            <a:pPr indent="0" lvl="0" marL="0" rtl="0" algn="l">
              <a:lnSpc>
                <a:spcPct val="100000"/>
              </a:lnSpc>
              <a:spcBef>
                <a:spcPts val="360"/>
              </a:spcBef>
              <a:spcAft>
                <a:spcPts val="0"/>
              </a:spcAft>
              <a:buSzPts val="1800"/>
              <a:buNone/>
            </a:pPr>
            <a:r>
              <a:rPr lang="en-US" sz="1900"/>
              <a:t>This is an ideal situation. When two curves don’t overlap at all means model has an ideal measure of separability. It is perfectly able to distinguish between positive class and negative class.</a:t>
            </a:r>
            <a:endParaRPr sz="400">
              <a:solidFill>
                <a:srgbClr val="242424"/>
              </a:solidFill>
              <a:highlight>
                <a:srgbClr val="FFFFFF"/>
              </a:highlight>
              <a:latin typeface="Georgia"/>
              <a:ea typeface="Georgia"/>
              <a:cs typeface="Georgia"/>
              <a:sym typeface="Georgia"/>
            </a:endParaRPr>
          </a:p>
        </p:txBody>
      </p:sp>
      <p:sp>
        <p:nvSpPr>
          <p:cNvPr id="680" name="Google Shape;680;p43"/>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id="681" name="Google Shape;681;p43"/>
          <p:cNvPicPr preferRelativeResize="0"/>
          <p:nvPr/>
        </p:nvPicPr>
        <p:blipFill rotWithShape="1">
          <a:blip r:embed="rId3">
            <a:alphaModFix/>
          </a:blip>
          <a:srcRect b="0" l="0" r="0" t="0"/>
          <a:stretch/>
        </p:blipFill>
        <p:spPr>
          <a:xfrm>
            <a:off x="533400" y="2512575"/>
            <a:ext cx="8229600" cy="36135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44"/>
          <p:cNvSpPr txBox="1"/>
          <p:nvPr>
            <p:ph type="title"/>
          </p:nvPr>
        </p:nvSpPr>
        <p:spPr>
          <a:xfrm>
            <a:off x="457200" y="188913"/>
            <a:ext cx="8218500" cy="565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8" name="Google Shape;688;p44"/>
          <p:cNvSpPr txBox="1"/>
          <p:nvPr>
            <p:ph idx="1" type="body"/>
          </p:nvPr>
        </p:nvSpPr>
        <p:spPr>
          <a:xfrm>
            <a:off x="457200" y="1052513"/>
            <a:ext cx="8229600" cy="5073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rPr lang="en-US" sz="2100"/>
              <a:t>When two distributions overlap, we introduce type 1 and type 2 errors. Depending upon the threshold, we can minimize or maximize them. When AUC is 0.7, it means there is a 70% chance that the model will be able to distinguish between positive class and negative class.</a:t>
            </a:r>
            <a:endParaRPr sz="2100"/>
          </a:p>
        </p:txBody>
      </p:sp>
      <p:sp>
        <p:nvSpPr>
          <p:cNvPr id="689" name="Google Shape;689;p44"/>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id="690" name="Google Shape;690;p44"/>
          <p:cNvPicPr preferRelativeResize="0"/>
          <p:nvPr/>
        </p:nvPicPr>
        <p:blipFill rotWithShape="1">
          <a:blip r:embed="rId3">
            <a:alphaModFix/>
          </a:blip>
          <a:srcRect b="0" l="0" r="0" t="0"/>
          <a:stretch/>
        </p:blipFill>
        <p:spPr>
          <a:xfrm>
            <a:off x="533388" y="3163838"/>
            <a:ext cx="8258175" cy="29622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45"/>
          <p:cNvSpPr txBox="1"/>
          <p:nvPr>
            <p:ph type="title"/>
          </p:nvPr>
        </p:nvSpPr>
        <p:spPr>
          <a:xfrm>
            <a:off x="457200" y="188913"/>
            <a:ext cx="8218500" cy="565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7" name="Google Shape;697;p45"/>
          <p:cNvSpPr txBox="1"/>
          <p:nvPr>
            <p:ph idx="1" type="body"/>
          </p:nvPr>
        </p:nvSpPr>
        <p:spPr>
          <a:xfrm>
            <a:off x="457200" y="1052513"/>
            <a:ext cx="8229600" cy="5073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rPr lang="en-US" sz="2400"/>
              <a:t>When AUC is approximately 0, the model is actually reciprocating the classes. It means the model is predicting a negative class as a positive class and vice versa.</a:t>
            </a:r>
            <a:endParaRPr sz="2400"/>
          </a:p>
        </p:txBody>
      </p:sp>
      <p:sp>
        <p:nvSpPr>
          <p:cNvPr id="698" name="Google Shape;698;p45"/>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id="699" name="Google Shape;699;p45"/>
          <p:cNvPicPr preferRelativeResize="0"/>
          <p:nvPr/>
        </p:nvPicPr>
        <p:blipFill rotWithShape="1">
          <a:blip r:embed="rId3">
            <a:alphaModFix/>
          </a:blip>
          <a:srcRect b="0" l="0" r="0" t="0"/>
          <a:stretch/>
        </p:blipFill>
        <p:spPr>
          <a:xfrm>
            <a:off x="462750" y="2946800"/>
            <a:ext cx="8218501" cy="31793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46"/>
          <p:cNvSpPr txBox="1"/>
          <p:nvPr>
            <p:ph type="title"/>
          </p:nvPr>
        </p:nvSpPr>
        <p:spPr>
          <a:xfrm>
            <a:off x="457200" y="359375"/>
            <a:ext cx="8218500" cy="1069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3000">
                <a:solidFill>
                  <a:schemeClr val="accent6"/>
                </a:solidFill>
              </a:rPr>
              <a:t>When should we use the AUC-ROC evaluation metric?</a:t>
            </a:r>
            <a:endParaRPr sz="3000">
              <a:solidFill>
                <a:schemeClr val="accent6"/>
              </a:solidFill>
            </a:endParaRPr>
          </a:p>
        </p:txBody>
      </p:sp>
      <p:sp>
        <p:nvSpPr>
          <p:cNvPr id="706" name="Google Shape;706;p46"/>
          <p:cNvSpPr txBox="1"/>
          <p:nvPr>
            <p:ph idx="1" type="body"/>
          </p:nvPr>
        </p:nvSpPr>
        <p:spPr>
          <a:xfrm>
            <a:off x="457200" y="1428749"/>
            <a:ext cx="8229600" cy="4697400"/>
          </a:xfrm>
          <a:prstGeom prst="rect">
            <a:avLst/>
          </a:prstGeom>
          <a:noFill/>
          <a:ln>
            <a:noFill/>
          </a:ln>
        </p:spPr>
        <p:txBody>
          <a:bodyPr anchorCtr="0" anchor="t" bIns="45700" lIns="91425" spcFirstLastPara="1" rIns="91425" wrap="square" tIns="45700">
            <a:noAutofit/>
          </a:bodyPr>
          <a:lstStyle/>
          <a:p>
            <a:pPr indent="-393700" lvl="0" marL="457200" rtl="0" algn="l">
              <a:lnSpc>
                <a:spcPct val="100000"/>
              </a:lnSpc>
              <a:spcBef>
                <a:spcPts val="360"/>
              </a:spcBef>
              <a:spcAft>
                <a:spcPts val="0"/>
              </a:spcAft>
              <a:buSzPts val="2600"/>
              <a:buChar char="•"/>
            </a:pPr>
            <a:r>
              <a:rPr lang="en-US" sz="2600"/>
              <a:t>There are some areas where using ROC-AUC might not be ideal.</a:t>
            </a:r>
            <a:endParaRPr sz="2600"/>
          </a:p>
          <a:p>
            <a:pPr indent="-393700" lvl="0" marL="457200" rtl="0" algn="l">
              <a:lnSpc>
                <a:spcPct val="100000"/>
              </a:lnSpc>
              <a:spcBef>
                <a:spcPts val="0"/>
              </a:spcBef>
              <a:spcAft>
                <a:spcPts val="0"/>
              </a:spcAft>
              <a:buSzPts val="2600"/>
              <a:buChar char="•"/>
            </a:pPr>
            <a:r>
              <a:rPr lang="en-US" sz="2600"/>
              <a:t>In cases where the dataset is highly imbalanced, the ROC curve can give an overly optimistic assessment of the model’s performance.</a:t>
            </a:r>
            <a:endParaRPr sz="2600"/>
          </a:p>
          <a:p>
            <a:pPr indent="-393700" lvl="0" marL="457200" rtl="0" algn="l">
              <a:lnSpc>
                <a:spcPct val="100000"/>
              </a:lnSpc>
              <a:spcBef>
                <a:spcPts val="0"/>
              </a:spcBef>
              <a:spcAft>
                <a:spcPts val="0"/>
              </a:spcAft>
              <a:buSzPts val="2600"/>
              <a:buChar char="•"/>
            </a:pPr>
            <a:r>
              <a:rPr lang="en-US" sz="2600"/>
              <a:t>This optimism bias arises because the ROC curve’s false positive rate (FPR) can become very small when the number of actual negatives is large.</a:t>
            </a:r>
            <a:endParaRPr sz="2600"/>
          </a:p>
          <a:p>
            <a:pPr indent="-393700" lvl="0" marL="457200" rtl="0" algn="l">
              <a:lnSpc>
                <a:spcPct val="100000"/>
              </a:lnSpc>
              <a:spcBef>
                <a:spcPts val="0"/>
              </a:spcBef>
              <a:spcAft>
                <a:spcPts val="0"/>
              </a:spcAft>
              <a:buSzPts val="2600"/>
              <a:buChar char="•"/>
            </a:pPr>
            <a:r>
              <a:rPr lang="en-US" sz="2600"/>
              <a:t>ROC curves may be appropriate when the cost of False Positives and False Negatives is balanced and the dataset is not heavily imbalanced.</a:t>
            </a:r>
            <a:endParaRPr sz="2600"/>
          </a:p>
          <a:p>
            <a:pPr indent="0" lvl="0" marL="0" rtl="0" algn="l">
              <a:lnSpc>
                <a:spcPct val="100000"/>
              </a:lnSpc>
              <a:spcBef>
                <a:spcPts val="360"/>
              </a:spcBef>
              <a:spcAft>
                <a:spcPts val="0"/>
              </a:spcAft>
              <a:buSzPts val="1800"/>
              <a:buNone/>
            </a:pPr>
            <a:r>
              <a:t/>
            </a:r>
            <a:endParaRPr sz="2700"/>
          </a:p>
        </p:txBody>
      </p:sp>
      <p:sp>
        <p:nvSpPr>
          <p:cNvPr id="707" name="Google Shape;707;p46"/>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47"/>
          <p:cNvSpPr txBox="1"/>
          <p:nvPr>
            <p:ph type="title"/>
          </p:nvPr>
        </p:nvSpPr>
        <p:spPr>
          <a:xfrm>
            <a:off x="457200" y="188933"/>
            <a:ext cx="8218500" cy="9918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3500">
                <a:solidFill>
                  <a:schemeClr val="accent6"/>
                </a:solidFill>
              </a:rPr>
              <a:t>Task</a:t>
            </a:r>
            <a:endParaRPr sz="3500">
              <a:solidFill>
                <a:schemeClr val="accent6"/>
              </a:solidFill>
            </a:endParaRPr>
          </a:p>
        </p:txBody>
      </p:sp>
      <p:sp>
        <p:nvSpPr>
          <p:cNvPr id="714" name="Google Shape;714;p47"/>
          <p:cNvSpPr txBox="1"/>
          <p:nvPr>
            <p:ph idx="12" type="sldNum"/>
          </p:nvPr>
        </p:nvSpPr>
        <p:spPr>
          <a:xfrm>
            <a:off x="533400" y="6248400"/>
            <a:ext cx="2133600" cy="47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graphicFrame>
        <p:nvGraphicFramePr>
          <p:cNvPr id="715" name="Google Shape;715;p47"/>
          <p:cNvGraphicFramePr/>
          <p:nvPr/>
        </p:nvGraphicFramePr>
        <p:xfrm>
          <a:off x="844975" y="1621925"/>
          <a:ext cx="3000000" cy="3000000"/>
        </p:xfrm>
        <a:graphic>
          <a:graphicData uri="http://schemas.openxmlformats.org/drawingml/2006/table">
            <a:tbl>
              <a:tblPr>
                <a:noFill/>
                <a:tableStyleId>{8508465C-AE8C-49D3-A9BA-CB0D20574575}</a:tableStyleId>
              </a:tblPr>
              <a:tblGrid>
                <a:gridCol w="1338050"/>
                <a:gridCol w="570150"/>
                <a:gridCol w="626725"/>
                <a:gridCol w="626725"/>
                <a:gridCol w="626725"/>
                <a:gridCol w="626725"/>
                <a:gridCol w="686400"/>
                <a:gridCol w="626725"/>
                <a:gridCol w="686400"/>
                <a:gridCol w="616775"/>
              </a:tblGrid>
              <a:tr h="789750">
                <a:tc>
                  <a:txBody>
                    <a:bodyPr/>
                    <a:lstStyle/>
                    <a:p>
                      <a:pPr indent="0" lvl="0" marL="0" rtl="0" algn="l">
                        <a:lnSpc>
                          <a:spcPct val="115000"/>
                        </a:lnSpc>
                        <a:spcBef>
                          <a:spcPts val="1200"/>
                        </a:spcBef>
                        <a:spcAft>
                          <a:spcPts val="0"/>
                        </a:spcAft>
                        <a:buNone/>
                      </a:pPr>
                      <a:r>
                        <a:rPr b="1" lang="en-US" sz="1800">
                          <a:latin typeface="Times New Roman"/>
                          <a:ea typeface="Times New Roman"/>
                          <a:cs typeface="Times New Roman"/>
                          <a:sym typeface="Times New Roman"/>
                        </a:rPr>
                        <a:t>Class</a:t>
                      </a:r>
                      <a:endParaRPr b="1"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N</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N</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P</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P</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N</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P</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P</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N</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P</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89750">
                <a:tc>
                  <a:txBody>
                    <a:bodyPr/>
                    <a:lstStyle/>
                    <a:p>
                      <a:pPr indent="0" lvl="0" marL="0" rtl="0" algn="l">
                        <a:lnSpc>
                          <a:spcPct val="115000"/>
                        </a:lnSpc>
                        <a:spcBef>
                          <a:spcPts val="1200"/>
                        </a:spcBef>
                        <a:spcAft>
                          <a:spcPts val="0"/>
                        </a:spcAft>
                        <a:buNone/>
                      </a:pPr>
                      <a:r>
                        <a:rPr b="1" lang="en-US" sz="1800">
                          <a:latin typeface="Times New Roman"/>
                          <a:ea typeface="Times New Roman"/>
                          <a:cs typeface="Times New Roman"/>
                          <a:sym typeface="Times New Roman"/>
                        </a:rPr>
                        <a:t>Probability</a:t>
                      </a:r>
                      <a:endParaRPr b="1"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0.95</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0.71</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0.48</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0.78</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0.55</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0.90</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0.82</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0.93</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US" sz="1800">
                          <a:latin typeface="Times New Roman"/>
                          <a:ea typeface="Times New Roman"/>
                          <a:cs typeface="Times New Roman"/>
                          <a:sym typeface="Times New Roman"/>
                        </a:rPr>
                        <a:t>0.25</a:t>
                      </a:r>
                      <a:endParaRPr sz="18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716" name="Google Shape;716;p47"/>
          <p:cNvSpPr txBox="1"/>
          <p:nvPr/>
        </p:nvSpPr>
        <p:spPr>
          <a:xfrm>
            <a:off x="636900" y="3642638"/>
            <a:ext cx="8218500" cy="21456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1200"/>
              </a:spcBef>
              <a:spcAft>
                <a:spcPts val="1200"/>
              </a:spcAft>
              <a:buNone/>
            </a:pPr>
            <a:r>
              <a:rPr b="1" lang="en-US" sz="2300">
                <a:latin typeface="Times New Roman"/>
                <a:ea typeface="Times New Roman"/>
                <a:cs typeface="Times New Roman"/>
                <a:sym typeface="Times New Roman"/>
              </a:rPr>
              <a:t>Draw</a:t>
            </a:r>
            <a:r>
              <a:rPr lang="en-US" sz="2300">
                <a:latin typeface="Times New Roman"/>
                <a:ea typeface="Times New Roman"/>
                <a:cs typeface="Times New Roman"/>
                <a:sym typeface="Times New Roman"/>
              </a:rPr>
              <a:t> a Receiver Operating Characteristic (ROC) curve using the above data where minimum threshold is 40%.</a:t>
            </a:r>
            <a:endParaRPr sz="2300">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48"/>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7200"/>
              <a:buFont typeface="Arial"/>
              <a:buNone/>
            </a:pPr>
            <a:r>
              <a:t/>
            </a:r>
            <a:endParaRPr sz="7200">
              <a:solidFill>
                <a:schemeClr val="dk1"/>
              </a:solidFill>
            </a:endParaRPr>
          </a:p>
          <a:p>
            <a:pPr indent="0" lvl="0" marL="0" rtl="0" algn="ctr">
              <a:lnSpc>
                <a:spcPct val="100000"/>
              </a:lnSpc>
              <a:spcBef>
                <a:spcPts val="1440"/>
              </a:spcBef>
              <a:spcAft>
                <a:spcPts val="0"/>
              </a:spcAft>
              <a:buClr>
                <a:srgbClr val="024069"/>
              </a:buClr>
              <a:buSzPts val="7200"/>
              <a:buFont typeface="Arial"/>
              <a:buNone/>
            </a:pPr>
            <a:r>
              <a:rPr lang="en-US" sz="7200">
                <a:solidFill>
                  <a:schemeClr val="dk1"/>
                </a:solidFill>
              </a:rPr>
              <a:t>Thank You</a:t>
            </a:r>
            <a:endParaRPr>
              <a:solidFill>
                <a:schemeClr val="dk1"/>
              </a:solidFill>
            </a:endParaRPr>
          </a:p>
        </p:txBody>
      </p:sp>
      <p:grpSp>
        <p:nvGrpSpPr>
          <p:cNvPr id="722" name="Google Shape;722;p48"/>
          <p:cNvGrpSpPr/>
          <p:nvPr/>
        </p:nvGrpSpPr>
        <p:grpSpPr>
          <a:xfrm>
            <a:off x="609600" y="533400"/>
            <a:ext cx="303213" cy="303213"/>
            <a:chOff x="703" y="300"/>
            <a:chExt cx="181" cy="181"/>
          </a:xfrm>
        </p:grpSpPr>
        <p:sp>
          <p:nvSpPr>
            <p:cNvPr id="723" name="Google Shape;723;p48"/>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4" name="Google Shape;724;p48"/>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5" name="Google Shape;725;p48"/>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6" name="Google Shape;726;p48"/>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7" name="Google Shape;727;p48"/>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8" name="Google Shape;728;p48"/>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729" name="Google Shape;729;p48"/>
          <p:cNvGrpSpPr/>
          <p:nvPr/>
        </p:nvGrpSpPr>
        <p:grpSpPr>
          <a:xfrm>
            <a:off x="8494713" y="5792788"/>
            <a:ext cx="554037" cy="552450"/>
            <a:chOff x="5369" y="3667"/>
            <a:chExt cx="349" cy="348"/>
          </a:xfrm>
        </p:grpSpPr>
        <p:sp>
          <p:nvSpPr>
            <p:cNvPr id="730" name="Google Shape;730;p48"/>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1" name="Google Shape;731;p48"/>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2" name="Google Shape;732;p48"/>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3" name="Google Shape;733;p48"/>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4" name="Google Shape;734;p48"/>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5" name="Google Shape;735;p48"/>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736" name="Google Shape;736;p48"/>
          <p:cNvGrpSpPr/>
          <p:nvPr/>
        </p:nvGrpSpPr>
        <p:grpSpPr>
          <a:xfrm>
            <a:off x="8113713" y="6221413"/>
            <a:ext cx="554037" cy="552450"/>
            <a:chOff x="5129" y="3937"/>
            <a:chExt cx="349" cy="348"/>
          </a:xfrm>
        </p:grpSpPr>
        <p:sp>
          <p:nvSpPr>
            <p:cNvPr id="737" name="Google Shape;737;p48"/>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8" name="Google Shape;738;p48"/>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9" name="Google Shape;739;p48"/>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0" name="Google Shape;740;p48"/>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1" name="Google Shape;741;p48"/>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2" name="Google Shape;742;p48"/>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743" name="Google Shape;743;p48"/>
          <p:cNvGrpSpPr/>
          <p:nvPr/>
        </p:nvGrpSpPr>
        <p:grpSpPr>
          <a:xfrm>
            <a:off x="8089900" y="5821363"/>
            <a:ext cx="390525" cy="390525"/>
            <a:chOff x="5114" y="3685"/>
            <a:chExt cx="246" cy="246"/>
          </a:xfrm>
        </p:grpSpPr>
        <p:sp>
          <p:nvSpPr>
            <p:cNvPr id="744" name="Google Shape;744;p48"/>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5" name="Google Shape;745;p48"/>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6" name="Google Shape;746;p48"/>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7" name="Google Shape;747;p48"/>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8" name="Google Shape;748;p48"/>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9" name="Google Shape;749;p48"/>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750" name="Google Shape;750;p48"/>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500"/>
                                        <p:tgtEl>
                                          <p:spTgt spid="722"/>
                                        </p:tgtEl>
                                      </p:cBhvr>
                                    </p:animEffect>
                                  </p:childTnLst>
                                </p:cTn>
                              </p:par>
                              <p:par>
                                <p:cTn fill="hold" nodeType="withEffect" presetClass="emph" presetID="8" presetSubtype="0">
                                  <p:stCondLst>
                                    <p:cond delay="0"/>
                                  </p:stCondLst>
                                  <p:childTnLst>
                                    <p:animRot by="-21600000">
                                      <p:cBhvr>
                                        <p:cTn dur="500" fill="hold"/>
                                        <p:tgtEl>
                                          <p:spTgt spid="729"/>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736"/>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743"/>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722"/>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